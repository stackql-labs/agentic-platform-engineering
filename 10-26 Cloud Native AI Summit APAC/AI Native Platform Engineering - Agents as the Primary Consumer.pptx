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23"/>
  </p:notesMasterIdLst>
  <p:sldIdLst>
    <p:sldId id="256" r:id="rId2"/>
    <p:sldId id="274" r:id="rId3"/>
    <p:sldId id="275" r:id="rId4"/>
    <p:sldId id="276" r:id="rId5"/>
    <p:sldId id="283" r:id="rId6"/>
    <p:sldId id="278" r:id="rId7"/>
    <p:sldId id="279" r:id="rId8"/>
    <p:sldId id="280" r:id="rId9"/>
    <p:sldId id="281" r:id="rId10"/>
    <p:sldId id="284" r:id="rId11"/>
    <p:sldId id="285" r:id="rId12"/>
    <p:sldId id="286" r:id="rId13"/>
    <p:sldId id="288" r:id="rId14"/>
    <p:sldId id="289" r:id="rId15"/>
    <p:sldId id="290" r:id="rId16"/>
    <p:sldId id="291" r:id="rId17"/>
    <p:sldId id="292" r:id="rId18"/>
    <p:sldId id="293" r:id="rId19"/>
    <p:sldId id="277" r:id="rId20"/>
    <p:sldId id="271" r:id="rId21"/>
    <p:sldId id="272" r:id="rId22"/>
  </p:sldIdLst>
  <p:sldSz cx="20116800" cy="11315700"/>
  <p:notesSz cx="20116800" cy="11315700"/>
  <p:embeddedFontLst>
    <p:embeddedFont>
      <p:font typeface="Montserrat" panose="00000500000000000000" pitchFamily="2" charset="0"/>
      <p:regular r:id="rId24"/>
      <p:bold r:id="rId25"/>
      <p:italic r:id="rId26"/>
      <p:boldItalic r:id="rId27"/>
    </p:embeddedFont>
    <p:embeddedFont>
      <p:font typeface="Montserrat Medium" panose="00000600000000000000" pitchFamily="2" charset="0"/>
      <p:regular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E8CD05-E170-458A-A727-CE0F960871F3}">
  <a:tblStyle styleId="{1BE8CD05-E170-458A-A727-CE0F960871F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022" autoAdjust="0"/>
  </p:normalViewPr>
  <p:slideViewPr>
    <p:cSldViewPr snapToGrid="0">
      <p:cViewPr varScale="1">
        <p:scale>
          <a:sx n="51" d="100"/>
          <a:sy n="51" d="100"/>
        </p:scale>
        <p:origin x="162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353450" y="848675"/>
            <a:ext cx="13411850" cy="42433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2011675" y="5374950"/>
            <a:ext cx="16093425" cy="50920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g3da14ecaa6d_0_0: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 name="Google Shape;19;g3da14ecaa6d_0_0: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g3e8033a31ea_0_13: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Four assumptions, all reasonable in 2015. </a:t>
            </a:r>
            <a:endParaRPr/>
          </a:p>
          <a:p>
            <a:pPr marL="0" lvl="0" indent="0" algn="l" rtl="0">
              <a:spcBef>
                <a:spcPts val="0"/>
              </a:spcBef>
              <a:spcAft>
                <a:spcPts val="0"/>
              </a:spcAft>
              <a:buNone/>
            </a:pPr>
            <a:endParaRPr/>
          </a:p>
          <a:p>
            <a:pPr marL="0" lvl="0" indent="0" algn="l" rtl="0">
              <a:spcBef>
                <a:spcPts val="0"/>
              </a:spcBef>
              <a:spcAft>
                <a:spcPts val="0"/>
              </a:spcAft>
              <a:buNone/>
            </a:pPr>
            <a:r>
              <a:rPr lang="en-US"/>
              <a:t>Humans authored the changes. </a:t>
            </a:r>
            <a:endParaRPr/>
          </a:p>
          <a:p>
            <a:pPr marL="0" lvl="0" indent="0" algn="l" rtl="0">
              <a:spcBef>
                <a:spcPts val="0"/>
              </a:spcBef>
              <a:spcAft>
                <a:spcPts val="0"/>
              </a:spcAft>
              <a:buNone/>
            </a:pPr>
            <a:r>
              <a:rPr lang="en-US"/>
              <a:t>Changes happened at human timescales, which is to say minutes to days. </a:t>
            </a:r>
            <a:endParaRPr/>
          </a:p>
          <a:p>
            <a:pPr marL="0" lvl="0" indent="0" algn="l" rtl="0">
              <a:spcBef>
                <a:spcPts val="0"/>
              </a:spcBef>
              <a:spcAft>
                <a:spcPts val="0"/>
              </a:spcAft>
              <a:buNone/>
            </a:pPr>
            <a:r>
              <a:rPr lang="en-US"/>
              <a:t>One writer per environment, enforced by review and state locking. </a:t>
            </a:r>
            <a:endParaRPr/>
          </a:p>
          <a:p>
            <a:pPr marL="0" lvl="0" indent="0" algn="l" rtl="0">
              <a:spcBef>
                <a:spcPts val="0"/>
              </a:spcBef>
              <a:spcAft>
                <a:spcPts val="0"/>
              </a:spcAft>
              <a:buNone/>
            </a:pPr>
            <a:r>
              <a:rPr lang="en-US"/>
              <a:t>And drift was an exception, something you fixed and then went back to the steady state. </a:t>
            </a:r>
            <a:endParaRPr/>
          </a:p>
          <a:p>
            <a:pPr marL="0" lvl="0" indent="0" algn="l" rtl="0">
              <a:spcBef>
                <a:spcPts val="0"/>
              </a:spcBef>
              <a:spcAft>
                <a:spcPts val="0"/>
              </a:spcAft>
              <a:buNone/>
            </a:pPr>
            <a:endParaRPr/>
          </a:p>
          <a:p>
            <a:pPr marL="0" lvl="0" indent="0" algn="l" rtl="0">
              <a:spcBef>
                <a:spcPts val="0"/>
              </a:spcBef>
              <a:spcAft>
                <a:spcPts val="0"/>
              </a:spcAft>
              <a:buNone/>
            </a:pPr>
            <a:r>
              <a:rPr lang="en-US"/>
              <a:t>These assumptions held for a decade.</a:t>
            </a:r>
            <a:endParaRPr/>
          </a:p>
        </p:txBody>
      </p:sp>
      <p:sp>
        <p:nvSpPr>
          <p:cNvPr id="34" name="Google Shape;34;g3e8033a31ea_0_13: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g3e8033a31ea_0_92: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Every one of those assumptions inverts under agents. </a:t>
            </a:r>
            <a:endParaRPr/>
          </a:p>
          <a:p>
            <a:pPr marL="0" lvl="0" indent="0" algn="l" rtl="0">
              <a:spcBef>
                <a:spcPts val="0"/>
              </a:spcBef>
              <a:spcAft>
                <a:spcPts val="0"/>
              </a:spcAft>
              <a:buNone/>
            </a:pPr>
            <a:endParaRPr/>
          </a:p>
          <a:p>
            <a:pPr marL="0" lvl="0" indent="0" algn="l" rtl="0">
              <a:spcBef>
                <a:spcPts val="0"/>
              </a:spcBef>
              <a:spcAft>
                <a:spcPts val="0"/>
              </a:spcAft>
              <a:buNone/>
            </a:pPr>
            <a:r>
              <a:rPr lang="en-US"/>
              <a:t>Agents and humans both author changes. </a:t>
            </a:r>
            <a:endParaRPr/>
          </a:p>
          <a:p>
            <a:pPr marL="0" lvl="0" indent="0" algn="l" rtl="0">
              <a:spcBef>
                <a:spcPts val="0"/>
              </a:spcBef>
              <a:spcAft>
                <a:spcPts val="0"/>
              </a:spcAft>
              <a:buNone/>
            </a:pPr>
            <a:r>
              <a:rPr lang="en-US"/>
              <a:t>Changes happen at machine speed, dozens per minute. </a:t>
            </a:r>
            <a:endParaRPr/>
          </a:p>
          <a:p>
            <a:pPr marL="0" lvl="0" indent="0" algn="l" rtl="0">
              <a:spcBef>
                <a:spcPts val="0"/>
              </a:spcBef>
              <a:spcAft>
                <a:spcPts val="0"/>
              </a:spcAft>
              <a:buNone/>
            </a:pPr>
            <a:r>
              <a:rPr lang="en-US"/>
              <a:t>Multiple writers operate at the same time without coordinating. </a:t>
            </a:r>
            <a:endParaRPr/>
          </a:p>
          <a:p>
            <a:pPr marL="0" lvl="0" indent="0" algn="l" rtl="0">
              <a:spcBef>
                <a:spcPts val="0"/>
              </a:spcBef>
              <a:spcAft>
                <a:spcPts val="0"/>
              </a:spcAft>
              <a:buNone/>
            </a:pPr>
            <a:r>
              <a:rPr lang="en-US"/>
              <a:t>And drift is no longer the exception; it is the default state of the system. </a:t>
            </a:r>
            <a:endParaRPr/>
          </a:p>
          <a:p>
            <a:pPr marL="0" lvl="0" indent="0" algn="l" rtl="0">
              <a:spcBef>
                <a:spcPts val="0"/>
              </a:spcBef>
              <a:spcAft>
                <a:spcPts val="0"/>
              </a:spcAft>
              <a:buNone/>
            </a:pPr>
            <a:endParaRPr/>
          </a:p>
          <a:p>
            <a:pPr marL="0" lvl="0" indent="0" algn="l" rtl="0">
              <a:spcBef>
                <a:spcPts val="0"/>
              </a:spcBef>
              <a:spcAft>
                <a:spcPts val="0"/>
              </a:spcAft>
              <a:buNone/>
            </a:pPr>
            <a:r>
              <a:rPr lang="en-US"/>
              <a:t>The model we had is now broken.</a:t>
            </a:r>
            <a:endParaRPr/>
          </a:p>
        </p:txBody>
      </p:sp>
      <p:sp>
        <p:nvSpPr>
          <p:cNvPr id="51" name="Google Shape;51;g3e8033a31ea_0_92: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e8033a31ea_0_112: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Drift was a binary alarm. </a:t>
            </a:r>
            <a:endParaRPr/>
          </a:p>
          <a:p>
            <a:pPr marL="0" lvl="0" indent="0" algn="l" rtl="0">
              <a:spcBef>
                <a:spcPts val="0"/>
              </a:spcBef>
              <a:spcAft>
                <a:spcPts val="0"/>
              </a:spcAft>
              <a:buNone/>
            </a:pPr>
            <a:endParaRPr/>
          </a:p>
          <a:p>
            <a:pPr marL="0" lvl="0" indent="0" algn="l" rtl="0">
              <a:spcBef>
                <a:spcPts val="0"/>
              </a:spcBef>
              <a:spcAft>
                <a:spcPts val="0"/>
              </a:spcAft>
              <a:buNone/>
            </a:pPr>
            <a:r>
              <a:rPr lang="en-US"/>
              <a:t>It went off occasionally, someone reconciled it, and you went back to flat. </a:t>
            </a:r>
            <a:endParaRPr/>
          </a:p>
          <a:p>
            <a:pPr marL="0" lvl="0" indent="0" algn="l" rtl="0">
              <a:spcBef>
                <a:spcPts val="0"/>
              </a:spcBef>
              <a:spcAft>
                <a:spcPts val="0"/>
              </a:spcAft>
              <a:buNone/>
            </a:pPr>
            <a:endParaRPr/>
          </a:p>
          <a:p>
            <a:pPr marL="0" lvl="0" indent="0" algn="l" rtl="0">
              <a:spcBef>
                <a:spcPts val="0"/>
              </a:spcBef>
              <a:spcAft>
                <a:spcPts val="0"/>
              </a:spcAft>
              <a:buNone/>
            </a:pPr>
            <a:r>
              <a:rPr lang="en-US"/>
              <a:t>In 2026, drift is a continuous waveform. </a:t>
            </a:r>
            <a:endParaRPr/>
          </a:p>
          <a:p>
            <a:pPr marL="0" lvl="0" indent="0" algn="l" rtl="0">
              <a:spcBef>
                <a:spcPts val="0"/>
              </a:spcBef>
              <a:spcAft>
                <a:spcPts val="0"/>
              </a:spcAft>
              <a:buNone/>
            </a:pPr>
            <a:endParaRPr/>
          </a:p>
          <a:p>
            <a:pPr marL="0" lvl="0" indent="0" algn="l" rtl="0">
              <a:spcBef>
                <a:spcPts val="0"/>
              </a:spcBef>
              <a:spcAft>
                <a:spcPts val="0"/>
              </a:spcAft>
              <a:buNone/>
            </a:pPr>
            <a:r>
              <a:rPr lang="en-US"/>
              <a:t>It is the signal of what your system is actually doing. </a:t>
            </a:r>
            <a:endParaRPr/>
          </a:p>
          <a:p>
            <a:pPr marL="0" lvl="0" indent="0" algn="l" rtl="0">
              <a:spcBef>
                <a:spcPts val="0"/>
              </a:spcBef>
              <a:spcAft>
                <a:spcPts val="0"/>
              </a:spcAft>
              <a:buNone/>
            </a:pPr>
            <a:endParaRPr/>
          </a:p>
          <a:p>
            <a:pPr marL="0" lvl="0" indent="0" algn="l" rtl="0">
              <a:spcBef>
                <a:spcPts val="0"/>
              </a:spcBef>
              <a:spcAft>
                <a:spcPts val="0"/>
              </a:spcAft>
              <a:buNone/>
            </a:pPr>
            <a:r>
              <a:rPr lang="en-US"/>
              <a:t>Treating it as an error to suppress means missing the only telemetry you have.</a:t>
            </a:r>
            <a:endParaRPr/>
          </a:p>
          <a:p>
            <a:pPr marL="0" lvl="0" indent="0" algn="l" rtl="0">
              <a:spcBef>
                <a:spcPts val="0"/>
              </a:spcBef>
              <a:spcAft>
                <a:spcPts val="0"/>
              </a:spcAft>
              <a:buNone/>
            </a:pPr>
            <a:endParaRPr/>
          </a:p>
          <a:p>
            <a:pPr marL="0" lvl="0" indent="0" algn="l" rtl="0">
              <a:spcBef>
                <a:spcPts val="0"/>
              </a:spcBef>
              <a:spcAft>
                <a:spcPts val="0"/>
              </a:spcAft>
              <a:buNone/>
            </a:pPr>
            <a:r>
              <a:rPr lang="en-US"/>
              <a:t>decide, don't just detect</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2015 drift  -&gt;  log it, page someone</a:t>
            </a:r>
            <a:endParaRPr/>
          </a:p>
          <a:p>
            <a:pPr marL="0" lvl="0" indent="0" algn="l" rtl="0">
              <a:spcBef>
                <a:spcPts val="0"/>
              </a:spcBef>
              <a:spcAft>
                <a:spcPts val="0"/>
              </a:spcAft>
              <a:buClr>
                <a:schemeClr val="dk1"/>
              </a:buClr>
              <a:buSzPts val="1100"/>
              <a:buFont typeface="Arial"/>
              <a:buNone/>
            </a:pPr>
            <a:r>
              <a:rPr lang="en-US"/>
              <a:t>2026 drift  -&gt;  it's the default state, so the agent must decide:</a:t>
            </a:r>
            <a:endParaRPr/>
          </a:p>
          <a:p>
            <a:pPr marL="0" lvl="0" indent="0" algn="l" rtl="0">
              <a:spcBef>
                <a:spcPts val="0"/>
              </a:spcBef>
              <a:spcAft>
                <a:spcPts val="0"/>
              </a:spcAft>
              <a:buClr>
                <a:schemeClr val="dk1"/>
              </a:buClr>
              <a:buSzPts val="1100"/>
              <a:buFont typeface="Arial"/>
              <a:buNone/>
            </a:pPr>
            <a:r>
              <a:rPr lang="en-US"/>
              <a:t>                auto-remediate / escalate / accept</a:t>
            </a:r>
            <a:endParaRPr/>
          </a:p>
          <a:p>
            <a:pPr marL="0" lvl="0" indent="0" algn="l" rtl="0">
              <a:spcBef>
                <a:spcPts val="0"/>
              </a:spcBef>
              <a:spcAft>
                <a:spcPts val="0"/>
              </a:spcAft>
              <a:buNone/>
            </a:pPr>
            <a:endParaRPr/>
          </a:p>
        </p:txBody>
      </p:sp>
      <p:sp>
        <p:nvSpPr>
          <p:cNvPr id="68" name="Google Shape;68;g3e8033a31ea_0_112: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8328F3AF-4FF5-1A97-665A-C9DE8C57429D}"/>
            </a:ext>
          </a:extLst>
        </p:cNvPr>
        <p:cNvGrpSpPr/>
        <p:nvPr/>
      </p:nvGrpSpPr>
      <p:grpSpPr>
        <a:xfrm>
          <a:off x="0" y="0"/>
          <a:ext cx="0" cy="0"/>
          <a:chOff x="0" y="0"/>
          <a:chExt cx="0" cy="0"/>
        </a:xfrm>
      </p:grpSpPr>
      <p:sp>
        <p:nvSpPr>
          <p:cNvPr id="18" name="Google Shape;18;g3da14ecaa6d_0_0:notes">
            <a:extLst>
              <a:ext uri="{FF2B5EF4-FFF2-40B4-BE49-F238E27FC236}">
                <a16:creationId xmlns:a16="http://schemas.microsoft.com/office/drawing/2014/main" id="{3A242EDE-B4CC-1CE9-DA05-2904CBBBB83B}"/>
              </a:ext>
            </a:extLst>
          </p:cNvPr>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 name="Google Shape;19;g3da14ecaa6d_0_0:notes">
            <a:extLst>
              <a:ext uri="{FF2B5EF4-FFF2-40B4-BE49-F238E27FC236}">
                <a16:creationId xmlns:a16="http://schemas.microsoft.com/office/drawing/2014/main" id="{2941355D-F77A-A276-B5B6-E8F00E19359A}"/>
              </a:ext>
            </a:extLst>
          </p:cNvPr>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Four specific places the model breaks.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Single-writer state. </a:t>
            </a:r>
          </a:p>
          <a:p>
            <a:pPr marL="0" lvl="0" indent="0" algn="l" rtl="0">
              <a:spcBef>
                <a:spcPts val="0"/>
              </a:spcBef>
              <a:spcAft>
                <a:spcPts val="0"/>
              </a:spcAft>
              <a:buNone/>
            </a:pPr>
            <a:r>
              <a:rPr lang="en-US" dirty="0"/>
              <a:t>Plan and apply expecting a human. </a:t>
            </a:r>
          </a:p>
          <a:p>
            <a:pPr marL="0" lvl="0" indent="0" algn="l" rtl="0">
              <a:spcBef>
                <a:spcPts val="0"/>
              </a:spcBef>
              <a:spcAft>
                <a:spcPts val="0"/>
              </a:spcAft>
              <a:buNone/>
            </a:pPr>
            <a:r>
              <a:rPr lang="en-US" dirty="0"/>
              <a:t>Opinionated abstractions. </a:t>
            </a:r>
          </a:p>
          <a:p>
            <a:pPr marL="0" lvl="0" indent="0" algn="l" rtl="0">
              <a:spcBef>
                <a:spcPts val="0"/>
              </a:spcBef>
              <a:spcAft>
                <a:spcPts val="0"/>
              </a:spcAft>
              <a:buNone/>
            </a:pPr>
            <a:r>
              <a:rPr lang="en-US" dirty="0"/>
              <a:t>And the control plane / data plane split.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 me take each one briefly.</a:t>
            </a: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262847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e8033a31ea_0_150: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state file is a cache of what one tool did.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It is intent, not reality.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If a human, an agent, all touch the same resource, the state file is wrong within seconds.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fix is not better locking.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fix is </a:t>
            </a:r>
            <a:r>
              <a:rPr lang="en-US" dirty="0" err="1"/>
              <a:t>recognising</a:t>
            </a:r>
            <a:r>
              <a:rPr lang="en-US" dirty="0"/>
              <a:t> the state file is not the source of truth - the cloud is.</a:t>
            </a:r>
            <a:endParaRPr dirty="0"/>
          </a:p>
        </p:txBody>
      </p:sp>
      <p:sp>
        <p:nvSpPr>
          <p:cNvPr id="104" name="Google Shape;104;g3e8033a31ea_0_150: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e8033a31ea_0_173: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review cycle is doing the safety work. </a:t>
            </a:r>
            <a:endParaRPr/>
          </a:p>
          <a:p>
            <a:pPr marL="0" lvl="0" indent="0" algn="l" rtl="0">
              <a:spcBef>
                <a:spcPts val="0"/>
              </a:spcBef>
              <a:spcAft>
                <a:spcPts val="0"/>
              </a:spcAft>
              <a:buNone/>
            </a:pPr>
            <a:endParaRPr/>
          </a:p>
          <a:p>
            <a:pPr marL="0" lvl="0" indent="0" algn="l" rtl="0">
              <a:spcBef>
                <a:spcPts val="0"/>
              </a:spcBef>
              <a:spcAft>
                <a:spcPts val="0"/>
              </a:spcAft>
              <a:buNone/>
            </a:pPr>
            <a:r>
              <a:rPr lang="en-US"/>
              <a:t>A human looks at the plan, recognises something is off, and stops the apply. </a:t>
            </a:r>
            <a:endParaRPr/>
          </a:p>
          <a:p>
            <a:pPr marL="0" lvl="0" indent="0" algn="l" rtl="0">
              <a:spcBef>
                <a:spcPts val="0"/>
              </a:spcBef>
              <a:spcAft>
                <a:spcPts val="0"/>
              </a:spcAft>
              <a:buNone/>
            </a:pPr>
            <a:endParaRPr/>
          </a:p>
          <a:p>
            <a:pPr marL="0" lvl="0" indent="0" algn="l" rtl="0">
              <a:spcBef>
                <a:spcPts val="0"/>
              </a:spcBef>
              <a:spcAft>
                <a:spcPts val="0"/>
              </a:spcAft>
              <a:buNone/>
            </a:pPr>
            <a:r>
              <a:rPr lang="en-US"/>
              <a:t>Agents do not stop. They proceed.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So whatever safety we got from review has to move somewhere agents can use it, which means policy and assertion, not human inspection.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116" name="Google Shape;116;g3e8033a31ea_0_173: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e8033a31ea_0_188: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Each IaC tool implements its own DSL, </a:t>
            </a:r>
            <a:endParaRPr/>
          </a:p>
          <a:p>
            <a:pPr marL="0" lvl="0" indent="0" algn="l" rtl="0">
              <a:spcBef>
                <a:spcPts val="0"/>
              </a:spcBef>
              <a:spcAft>
                <a:spcPts val="0"/>
              </a:spcAft>
              <a:buNone/>
            </a:pPr>
            <a:endParaRPr/>
          </a:p>
          <a:p>
            <a:pPr marL="0" lvl="0" indent="0" algn="l" rtl="0">
              <a:spcBef>
                <a:spcPts val="0"/>
              </a:spcBef>
              <a:spcAft>
                <a:spcPts val="0"/>
              </a:spcAft>
              <a:buNone/>
            </a:pPr>
            <a:r>
              <a:rPr lang="en-US"/>
              <a:t>its own resource model,</a:t>
            </a:r>
            <a:endParaRPr/>
          </a:p>
          <a:p>
            <a:pPr marL="0" lvl="0" indent="0" algn="l" rtl="0">
              <a:spcBef>
                <a:spcPts val="0"/>
              </a:spcBef>
              <a:spcAft>
                <a:spcPts val="0"/>
              </a:spcAft>
              <a:buNone/>
            </a:pPr>
            <a:endParaRPr/>
          </a:p>
          <a:p>
            <a:pPr marL="0" lvl="0" indent="0" algn="l" rtl="0">
              <a:spcBef>
                <a:spcPts val="0"/>
              </a:spcBef>
              <a:spcAft>
                <a:spcPts val="0"/>
              </a:spcAft>
              <a:buNone/>
            </a:pPr>
            <a:r>
              <a:rPr lang="en-US"/>
              <a:t>its own ecosystem. </a:t>
            </a:r>
            <a:endParaRPr/>
          </a:p>
          <a:p>
            <a:pPr marL="0" lvl="0" indent="0" algn="l" rtl="0">
              <a:spcBef>
                <a:spcPts val="0"/>
              </a:spcBef>
              <a:spcAft>
                <a:spcPts val="0"/>
              </a:spcAft>
              <a:buNone/>
            </a:pPr>
            <a:endParaRPr/>
          </a:p>
          <a:p>
            <a:pPr marL="0" lvl="0" indent="0" algn="l" rtl="0">
              <a:spcBef>
                <a:spcPts val="0"/>
              </a:spcBef>
              <a:spcAft>
                <a:spcPts val="0"/>
              </a:spcAft>
              <a:buNone/>
            </a:pPr>
            <a:r>
              <a:rPr lang="en-US"/>
              <a:t>That is fine for humans, who learn one and stay there. </a:t>
            </a:r>
            <a:endParaRPr/>
          </a:p>
          <a:p>
            <a:pPr marL="0" lvl="0" indent="0" algn="l" rtl="0">
              <a:spcBef>
                <a:spcPts val="0"/>
              </a:spcBef>
              <a:spcAft>
                <a:spcPts val="0"/>
              </a:spcAft>
              <a:buNone/>
            </a:pPr>
            <a:endParaRPr/>
          </a:p>
          <a:p>
            <a:pPr marL="0" lvl="0" indent="0" algn="l" rtl="0">
              <a:spcBef>
                <a:spcPts val="0"/>
              </a:spcBef>
              <a:spcAft>
                <a:spcPts val="0"/>
              </a:spcAft>
              <a:buNone/>
            </a:pPr>
            <a:r>
              <a:rPr lang="en-US"/>
              <a:t>For an agent, every abstraction is a new surface to plan against and a new place to be wrong. </a:t>
            </a:r>
            <a:endParaRPr/>
          </a:p>
          <a:p>
            <a:pPr marL="0" lvl="0" indent="0" algn="l" rtl="0">
              <a:spcBef>
                <a:spcPts val="0"/>
              </a:spcBef>
              <a:spcAft>
                <a:spcPts val="0"/>
              </a:spcAft>
              <a:buNone/>
            </a:pPr>
            <a:endParaRPr/>
          </a:p>
          <a:p>
            <a:pPr marL="0" lvl="0" indent="0" algn="l" rtl="0">
              <a:spcBef>
                <a:spcPts val="0"/>
              </a:spcBef>
              <a:spcAft>
                <a:spcPts val="0"/>
              </a:spcAft>
              <a:buNone/>
            </a:pPr>
            <a:r>
              <a:rPr lang="en-US"/>
              <a:t>What helped humans does not always help agents.</a:t>
            </a:r>
            <a:endParaRPr/>
          </a:p>
        </p:txBody>
      </p:sp>
      <p:sp>
        <p:nvSpPr>
          <p:cNvPr id="128" name="Google Shape;128;g3e8033a31ea_0_188: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e8033a31ea_0_202: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IaC tools were built for the control plane. </a:t>
            </a:r>
            <a:endParaRPr/>
          </a:p>
          <a:p>
            <a:pPr marL="0" lvl="0" indent="0" algn="l" rtl="0">
              <a:spcBef>
                <a:spcPts val="0"/>
              </a:spcBef>
              <a:spcAft>
                <a:spcPts val="0"/>
              </a:spcAft>
              <a:buNone/>
            </a:pPr>
            <a:endParaRPr/>
          </a:p>
          <a:p>
            <a:pPr marL="0" lvl="0" indent="0" algn="l" rtl="0">
              <a:spcBef>
                <a:spcPts val="0"/>
              </a:spcBef>
              <a:spcAft>
                <a:spcPts val="0"/>
              </a:spcAft>
              <a:buNone/>
            </a:pPr>
            <a:r>
              <a:rPr lang="en-US"/>
              <a:t>Data plane operations - queries, grants, table-level access - lived in different tools. </a:t>
            </a:r>
            <a:endParaRPr/>
          </a:p>
          <a:p>
            <a:pPr marL="0" lvl="0" indent="0" algn="l" rtl="0">
              <a:spcBef>
                <a:spcPts val="0"/>
              </a:spcBef>
              <a:spcAft>
                <a:spcPts val="0"/>
              </a:spcAft>
              <a:buNone/>
            </a:pPr>
            <a:endParaRPr/>
          </a:p>
          <a:p>
            <a:pPr marL="0" lvl="0" indent="0" algn="l" rtl="0">
              <a:spcBef>
                <a:spcPts val="0"/>
              </a:spcBef>
              <a:spcAft>
                <a:spcPts val="0"/>
              </a:spcAft>
              <a:buNone/>
            </a:pPr>
            <a:r>
              <a:rPr lang="en-US"/>
              <a:t>Agents need to traverse both in a single decision. </a:t>
            </a:r>
            <a:endParaRPr/>
          </a:p>
          <a:p>
            <a:pPr marL="0" lvl="0" indent="0" algn="l" rtl="0">
              <a:spcBef>
                <a:spcPts val="0"/>
              </a:spcBef>
              <a:spcAft>
                <a:spcPts val="0"/>
              </a:spcAft>
              <a:buNone/>
            </a:pPr>
            <a:endParaRPr/>
          </a:p>
          <a:p>
            <a:pPr marL="0" lvl="0" indent="0" algn="l" rtl="0">
              <a:spcBef>
                <a:spcPts val="0"/>
              </a:spcBef>
              <a:spcAft>
                <a:spcPts val="0"/>
              </a:spcAft>
              <a:buNone/>
            </a:pPr>
            <a:r>
              <a:rPr lang="en-US"/>
              <a:t>The split is becoming a constraint, and the underlying APIs are already converging.</a:t>
            </a:r>
            <a:endParaRPr/>
          </a:p>
        </p:txBody>
      </p:sp>
      <p:sp>
        <p:nvSpPr>
          <p:cNvPr id="140" name="Google Shape;140;g3e8033a31ea_0_202: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1D4CF613-EE94-7F11-4CDF-D29FFB36491D}"/>
            </a:ext>
          </a:extLst>
        </p:cNvPr>
        <p:cNvGrpSpPr/>
        <p:nvPr/>
      </p:nvGrpSpPr>
      <p:grpSpPr>
        <a:xfrm>
          <a:off x="0" y="0"/>
          <a:ext cx="0" cy="0"/>
          <a:chOff x="0" y="0"/>
          <a:chExt cx="0" cy="0"/>
        </a:xfrm>
      </p:grpSpPr>
      <p:sp>
        <p:nvSpPr>
          <p:cNvPr id="18" name="Google Shape;18;g3da14ecaa6d_0_0:notes">
            <a:extLst>
              <a:ext uri="{FF2B5EF4-FFF2-40B4-BE49-F238E27FC236}">
                <a16:creationId xmlns:a16="http://schemas.microsoft.com/office/drawing/2014/main" id="{742A522E-EEF0-32CE-5BAC-719224DA3298}"/>
              </a:ext>
            </a:extLst>
          </p:cNvPr>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 name="Google Shape;19;g3da14ecaa6d_0_0:notes">
            <a:extLst>
              <a:ext uri="{FF2B5EF4-FFF2-40B4-BE49-F238E27FC236}">
                <a16:creationId xmlns:a16="http://schemas.microsoft.com/office/drawing/2014/main" id="{FDC8AB32-0506-B12D-A4FC-9EE11A724607}"/>
              </a:ext>
            </a:extLst>
          </p:cNvPr>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 the 2015 model breaks in 2026. The question is what replaces it.</a:t>
            </a:r>
          </a:p>
        </p:txBody>
      </p:sp>
    </p:spTree>
    <p:extLst>
      <p:ext uri="{BB962C8B-B14F-4D97-AF65-F5344CB8AC3E}">
        <p14:creationId xmlns:p14="http://schemas.microsoft.com/office/powerpoint/2010/main" val="2012849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e8033a31ea_0_246: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reframe is small but consequential.</a:t>
            </a:r>
            <a:endParaRPr/>
          </a:p>
        </p:txBody>
      </p:sp>
      <p:sp>
        <p:nvSpPr>
          <p:cNvPr id="162" name="Google Shape;162;g3e8033a31ea_0_246: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8033a31ea_0_214: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Infrastructure-as-Code:intent</a:t>
            </a:r>
            <a:r>
              <a:rPr lang="en-US" dirty="0"/>
              <a:t> lived in the code.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Infrastructure-as-Context: agents query it, the reality is data.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deliverable changes from a file you wrote to a </a:t>
            </a:r>
            <a:r>
              <a:rPr lang="en-US" dirty="0" err="1"/>
              <a:t>queryable</a:t>
            </a:r>
            <a:r>
              <a:rPr lang="en-US" dirty="0"/>
              <a:t> view agents reason about. Code does not disappear. It just stops being the contract.</a:t>
            </a:r>
            <a:endParaRPr dirty="0"/>
          </a:p>
        </p:txBody>
      </p:sp>
      <p:sp>
        <p:nvSpPr>
          <p:cNvPr id="171" name="Google Shape;171;g3e8033a31ea_0_214: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AB92FE52-D85A-5DD5-0AA0-DF96313CDAA6}"/>
            </a:ext>
          </a:extLst>
        </p:cNvPr>
        <p:cNvGrpSpPr/>
        <p:nvPr/>
      </p:nvGrpSpPr>
      <p:grpSpPr>
        <a:xfrm>
          <a:off x="0" y="0"/>
          <a:ext cx="0" cy="0"/>
          <a:chOff x="0" y="0"/>
          <a:chExt cx="0" cy="0"/>
        </a:xfrm>
      </p:grpSpPr>
      <p:sp>
        <p:nvSpPr>
          <p:cNvPr id="18" name="Google Shape;18;g3da14ecaa6d_0_0:notes">
            <a:extLst>
              <a:ext uri="{FF2B5EF4-FFF2-40B4-BE49-F238E27FC236}">
                <a16:creationId xmlns:a16="http://schemas.microsoft.com/office/drawing/2014/main" id="{6B97970F-D834-2E14-B167-8B1BBC096C68}"/>
              </a:ext>
            </a:extLst>
          </p:cNvPr>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 name="Google Shape;19;g3da14ecaa6d_0_0:notes">
            <a:extLst>
              <a:ext uri="{FF2B5EF4-FFF2-40B4-BE49-F238E27FC236}">
                <a16:creationId xmlns:a16="http://schemas.microsoft.com/office/drawing/2014/main" id="{1789DC93-9D8D-2E06-8B65-4E5BEA197A5E}"/>
              </a:ext>
            </a:extLst>
          </p:cNvPr>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Several patterns are holding up in the agent era.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None of these are new ideas in isolation.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Applied together, they become the contract. </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940193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e16f8d8aa5_0_47: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Inspect reality before acting. Not the state file. </a:t>
            </a:r>
            <a:endParaRPr/>
          </a:p>
          <a:p>
            <a:pPr marL="0" lvl="0" indent="0" algn="l" rtl="0">
              <a:spcBef>
                <a:spcPts val="0"/>
              </a:spcBef>
              <a:spcAft>
                <a:spcPts val="0"/>
              </a:spcAft>
              <a:buNone/>
            </a:pPr>
            <a:endParaRPr/>
          </a:p>
          <a:p>
            <a:pPr marL="0" lvl="0" indent="0" algn="l" rtl="0">
              <a:spcBef>
                <a:spcPts val="0"/>
              </a:spcBef>
              <a:spcAft>
                <a:spcPts val="0"/>
              </a:spcAft>
              <a:buNone/>
            </a:pPr>
            <a:r>
              <a:rPr lang="en-US"/>
              <a:t>The API. Every decision an agent makes should be grounded in what is actually there right now, not what some cache says was there ten minutes ago. </a:t>
            </a:r>
            <a:endParaRPr/>
          </a:p>
          <a:p>
            <a:pPr marL="0" lvl="0" indent="0" algn="l" rtl="0">
              <a:spcBef>
                <a:spcPts val="0"/>
              </a:spcBef>
              <a:spcAft>
                <a:spcPts val="0"/>
              </a:spcAft>
              <a:buNone/>
            </a:pPr>
            <a:endParaRPr/>
          </a:p>
          <a:p>
            <a:pPr marL="0" lvl="0" indent="0" algn="l" rtl="0">
              <a:spcBef>
                <a:spcPts val="0"/>
              </a:spcBef>
              <a:spcAft>
                <a:spcPts val="0"/>
              </a:spcAft>
              <a:buNone/>
            </a:pPr>
            <a:r>
              <a:rPr lang="en-US"/>
              <a:t>This is the cheapest pattern to adopt and the one that prevents the most damage.</a:t>
            </a:r>
            <a:endParaRPr/>
          </a:p>
        </p:txBody>
      </p:sp>
      <p:sp>
        <p:nvSpPr>
          <p:cNvPr id="224" name="Google Shape;224;g3e16f8d8aa5_0_47: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e16f8d8aa5_0_60: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Declare what should be, not how to get there. </a:t>
            </a:r>
            <a:endParaRPr/>
          </a:p>
          <a:p>
            <a:pPr marL="0" lvl="0" indent="0" algn="l" rtl="0">
              <a:spcBef>
                <a:spcPts val="0"/>
              </a:spcBef>
              <a:spcAft>
                <a:spcPts val="0"/>
              </a:spcAft>
              <a:buNone/>
            </a:pPr>
            <a:endParaRPr/>
          </a:p>
          <a:p>
            <a:pPr marL="0" lvl="0" indent="0" algn="l" rtl="0">
              <a:spcBef>
                <a:spcPts val="0"/>
              </a:spcBef>
              <a:spcAft>
                <a:spcPts val="0"/>
              </a:spcAft>
              <a:buNone/>
            </a:pPr>
            <a:r>
              <a:rPr lang="en-US"/>
              <a:t>Retries are safe because the engine handles the diff. </a:t>
            </a:r>
            <a:endParaRPr/>
          </a:p>
          <a:p>
            <a:pPr marL="0" lvl="0" indent="0" algn="l" rtl="0">
              <a:spcBef>
                <a:spcPts val="0"/>
              </a:spcBef>
              <a:spcAft>
                <a:spcPts val="0"/>
              </a:spcAft>
              <a:buNone/>
            </a:pPr>
            <a:endParaRPr/>
          </a:p>
          <a:p>
            <a:pPr marL="0" lvl="0" indent="0" algn="l" rtl="0">
              <a:spcBef>
                <a:spcPts val="0"/>
              </a:spcBef>
              <a:spcAft>
                <a:spcPts val="0"/>
              </a:spcAft>
              <a:buNone/>
            </a:pPr>
            <a:r>
              <a:rPr lang="en-US"/>
              <a:t>Agents retry, parallelise, and resume from partial failures by default. </a:t>
            </a:r>
            <a:endParaRPr/>
          </a:p>
          <a:p>
            <a:pPr marL="0" lvl="0" indent="0" algn="l" rtl="0">
              <a:spcBef>
                <a:spcPts val="0"/>
              </a:spcBef>
              <a:spcAft>
                <a:spcPts val="0"/>
              </a:spcAft>
              <a:buNone/>
            </a:pPr>
            <a:endParaRPr/>
          </a:p>
          <a:p>
            <a:pPr marL="0" lvl="0" indent="0" algn="l" rtl="0">
              <a:spcBef>
                <a:spcPts val="0"/>
              </a:spcBef>
              <a:spcAft>
                <a:spcPts val="0"/>
              </a:spcAft>
              <a:buNone/>
            </a:pPr>
            <a:r>
              <a:rPr lang="en-US"/>
              <a:t>If your interface assumes a single clean execution, agents will break it. </a:t>
            </a:r>
            <a:endParaRPr/>
          </a:p>
          <a:p>
            <a:pPr marL="0" lvl="0" indent="0" algn="l" rtl="0">
              <a:spcBef>
                <a:spcPts val="0"/>
              </a:spcBef>
              <a:spcAft>
                <a:spcPts val="0"/>
              </a:spcAft>
              <a:buNone/>
            </a:pPr>
            <a:endParaRPr/>
          </a:p>
          <a:p>
            <a:pPr marL="0" lvl="0" indent="0" algn="l" rtl="0">
              <a:spcBef>
                <a:spcPts val="0"/>
              </a:spcBef>
              <a:spcAft>
                <a:spcPts val="0"/>
              </a:spcAft>
              <a:buNone/>
            </a:pPr>
            <a:r>
              <a:rPr lang="en-US"/>
              <a:t>If your interface assumes assertions, they will not.</a:t>
            </a:r>
            <a:endParaRPr/>
          </a:p>
        </p:txBody>
      </p:sp>
      <p:sp>
        <p:nvSpPr>
          <p:cNvPr id="236" name="Google Shape;236;g3e16f8d8aa5_0_60: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e16f8d8aa5_0_72: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Three views, kept separate. </a:t>
            </a:r>
            <a:endParaRPr/>
          </a:p>
          <a:p>
            <a:pPr marL="0" lvl="0" indent="0" algn="l" rtl="0">
              <a:spcBef>
                <a:spcPts val="0"/>
              </a:spcBef>
              <a:spcAft>
                <a:spcPts val="0"/>
              </a:spcAft>
              <a:buNone/>
            </a:pPr>
            <a:endParaRPr/>
          </a:p>
          <a:p>
            <a:pPr marL="0" lvl="0" indent="0" algn="l" rtl="0">
              <a:spcBef>
                <a:spcPts val="0"/>
              </a:spcBef>
              <a:spcAft>
                <a:spcPts val="0"/>
              </a:spcAft>
              <a:buNone/>
            </a:pPr>
            <a:r>
              <a:rPr lang="en-US"/>
              <a:t>What is, observed now. </a:t>
            </a:r>
            <a:endParaRPr/>
          </a:p>
          <a:p>
            <a:pPr marL="0" lvl="0" indent="0" algn="l" rtl="0">
              <a:spcBef>
                <a:spcPts val="0"/>
              </a:spcBef>
              <a:spcAft>
                <a:spcPts val="0"/>
              </a:spcAft>
              <a:buNone/>
            </a:pPr>
            <a:r>
              <a:rPr lang="en-US"/>
              <a:t>What was, the trail of observations. </a:t>
            </a:r>
            <a:endParaRPr/>
          </a:p>
          <a:p>
            <a:pPr marL="0" lvl="0" indent="0" algn="l" rtl="0">
              <a:spcBef>
                <a:spcPts val="0"/>
              </a:spcBef>
              <a:spcAft>
                <a:spcPts val="0"/>
              </a:spcAft>
              <a:buNone/>
            </a:pPr>
            <a:r>
              <a:rPr lang="en-US"/>
              <a:t>What should be, the declared intent. </a:t>
            </a:r>
            <a:endParaRPr/>
          </a:p>
          <a:p>
            <a:pPr marL="0" lvl="0" indent="0" algn="l" rtl="0">
              <a:spcBef>
                <a:spcPts val="0"/>
              </a:spcBef>
              <a:spcAft>
                <a:spcPts val="0"/>
              </a:spcAft>
              <a:buNone/>
            </a:pPr>
            <a:endParaRPr/>
          </a:p>
          <a:p>
            <a:pPr marL="0" lvl="0" indent="0" algn="l" rtl="0">
              <a:spcBef>
                <a:spcPts val="0"/>
              </a:spcBef>
              <a:spcAft>
                <a:spcPts val="0"/>
              </a:spcAft>
              <a:buNone/>
            </a:pPr>
            <a:r>
              <a:rPr lang="en-US"/>
              <a:t>Most tools collapse these into one state file and lose the history. </a:t>
            </a:r>
            <a:endParaRPr/>
          </a:p>
          <a:p>
            <a:pPr marL="0" lvl="0" indent="0" algn="l" rtl="0">
              <a:spcBef>
                <a:spcPts val="0"/>
              </a:spcBef>
              <a:spcAft>
                <a:spcPts val="0"/>
              </a:spcAft>
              <a:buNone/>
            </a:pPr>
            <a:endParaRPr/>
          </a:p>
          <a:p>
            <a:pPr marL="0" lvl="0" indent="0" algn="l" rtl="0">
              <a:spcBef>
                <a:spcPts val="0"/>
              </a:spcBef>
              <a:spcAft>
                <a:spcPts val="0"/>
              </a:spcAft>
              <a:buNone/>
            </a:pPr>
            <a:r>
              <a:rPr lang="en-US"/>
              <a:t>Keep them separate and drift stops being an alarm and starts being diagnosable.</a:t>
            </a:r>
            <a:endParaRPr/>
          </a:p>
        </p:txBody>
      </p:sp>
      <p:sp>
        <p:nvSpPr>
          <p:cNvPr id="248" name="Google Shape;248;g3e16f8d8aa5_0_72: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e16f8d8aa5_0_84: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Every mutation, by any author, becomes an event.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audit log is not a separate compliance artefact bolted on after the fact. It is the substrate.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Replay, metrics, reconciliation all read from the same log.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Agents do not need a special audit story if they are event sources by default.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What happened and why give us “Intent provenance”</a:t>
            </a:r>
            <a:endParaRPr dirty="0"/>
          </a:p>
        </p:txBody>
      </p:sp>
      <p:sp>
        <p:nvSpPr>
          <p:cNvPr id="260" name="Google Shape;260;g3e16f8d8aa5_0_84: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e16f8d8aa5_0_96: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One query shape across providers. </a:t>
            </a:r>
            <a:endParaRPr/>
          </a:p>
          <a:p>
            <a:pPr marL="0" lvl="0" indent="0" algn="l" rtl="0">
              <a:spcBef>
                <a:spcPts val="0"/>
              </a:spcBef>
              <a:spcAft>
                <a:spcPts val="0"/>
              </a:spcAft>
              <a:buNone/>
            </a:pPr>
            <a:endParaRPr/>
          </a:p>
          <a:p>
            <a:pPr marL="0" lvl="0" indent="0" algn="l" rtl="0">
              <a:spcBef>
                <a:spcPts val="0"/>
              </a:spcBef>
              <a:spcAft>
                <a:spcPts val="0"/>
              </a:spcAft>
              <a:buNone/>
            </a:pPr>
            <a:r>
              <a:rPr lang="en-US"/>
              <a:t>Agents that have to learn a different SDK for every cloud spend most of their tokens on plumbing. </a:t>
            </a:r>
            <a:endParaRPr/>
          </a:p>
          <a:p>
            <a:pPr marL="0" lvl="0" indent="0" algn="l" rtl="0">
              <a:spcBef>
                <a:spcPts val="0"/>
              </a:spcBef>
              <a:spcAft>
                <a:spcPts val="0"/>
              </a:spcAft>
              <a:buNone/>
            </a:pPr>
            <a:endParaRPr/>
          </a:p>
          <a:p>
            <a:pPr marL="0" lvl="0" indent="0" algn="l" rtl="0">
              <a:spcBef>
                <a:spcPts val="0"/>
              </a:spcBef>
              <a:spcAft>
                <a:spcPts val="0"/>
              </a:spcAft>
              <a:buNone/>
            </a:pPr>
            <a:r>
              <a:rPr lang="en-US"/>
              <a:t>A single interface collapses that. </a:t>
            </a:r>
            <a:endParaRPr/>
          </a:p>
          <a:p>
            <a:pPr marL="0" lvl="0" indent="0" algn="l" rtl="0">
              <a:spcBef>
                <a:spcPts val="0"/>
              </a:spcBef>
              <a:spcAft>
                <a:spcPts val="0"/>
              </a:spcAft>
              <a:buNone/>
            </a:pPr>
            <a:endParaRPr/>
          </a:p>
          <a:p>
            <a:pPr marL="0" lvl="0" indent="0" algn="l" rtl="0">
              <a:spcBef>
                <a:spcPts val="0"/>
              </a:spcBef>
              <a:spcAft>
                <a:spcPts val="0"/>
              </a:spcAft>
              <a:buNone/>
            </a:pPr>
            <a:r>
              <a:rPr lang="en-US"/>
              <a:t>The provider-specific surface is still there underneath; it just stops being the agent's problem to model.</a:t>
            </a:r>
            <a:endParaRPr/>
          </a:p>
        </p:txBody>
      </p:sp>
      <p:sp>
        <p:nvSpPr>
          <p:cNvPr id="272" name="Google Shape;272;g3e16f8d8aa5_0_96: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eb099a68aa_0_11: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US"/>
              <a:t>Human review was the safety loop. Agents bypass it by design, so something has to replace it.</a:t>
            </a:r>
            <a:endParaRPr/>
          </a:p>
          <a:p>
            <a:pPr marL="457200" lvl="0" indent="-298450" algn="l" rtl="0">
              <a:lnSpc>
                <a:spcPct val="115000"/>
              </a:lnSpc>
              <a:spcBef>
                <a:spcPts val="0"/>
              </a:spcBef>
              <a:spcAft>
                <a:spcPts val="0"/>
              </a:spcAft>
              <a:buSzPts val="1100"/>
              <a:buChar char="●"/>
            </a:pPr>
            <a:r>
              <a:rPr lang="en-US"/>
              <a:t>Policy gates are that replacement - declarative rules the agent evaluates against its own intent before acting.</a:t>
            </a:r>
            <a:endParaRPr/>
          </a:p>
          <a:p>
            <a:pPr marL="457200" lvl="0" indent="-298450" algn="l" rtl="0">
              <a:lnSpc>
                <a:spcPct val="115000"/>
              </a:lnSpc>
              <a:spcBef>
                <a:spcPts val="0"/>
              </a:spcBef>
              <a:spcAft>
                <a:spcPts val="0"/>
              </a:spcAft>
              <a:buSzPts val="1100"/>
              <a:buChar char="●"/>
            </a:pPr>
            <a:r>
              <a:rPr lang="en-US"/>
              <a:t>Four constraint categories: spend, geography, change velocity, resource count. Together they bound what an agent can do by accident.</a:t>
            </a:r>
            <a:endParaRPr/>
          </a:p>
          <a:p>
            <a:pPr marL="457200" lvl="0" indent="-298450" algn="l" rtl="0">
              <a:lnSpc>
                <a:spcPct val="115000"/>
              </a:lnSpc>
              <a:spcBef>
                <a:spcPts val="0"/>
              </a:spcBef>
              <a:spcAft>
                <a:spcPts val="0"/>
              </a:spcAft>
              <a:buSzPts val="1100"/>
              <a:buChar char="●"/>
            </a:pPr>
            <a:r>
              <a:rPr lang="en-US"/>
              <a:t>Policy is not a compliance layer bolted on after the fact. In the agent era it is the safety loop.</a:t>
            </a:r>
            <a:endParaRPr/>
          </a:p>
        </p:txBody>
      </p:sp>
      <p:sp>
        <p:nvSpPr>
          <p:cNvPr id="284" name="Google Shape;284;g3eb099a68aa_0_11: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e16f8d8aa5_0_0: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e16f8d8aa5_0_0: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a14ecaa6d_0_48: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da14ecaa6d_0_48: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377666" y="427735"/>
            <a:ext cx="6797992" cy="171094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377666" y="2459482"/>
            <a:ext cx="6797992"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377666" y="9944862"/>
            <a:ext cx="1737264"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2568130" y="9944862"/>
            <a:ext cx="2417063"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38394" y="9944862"/>
            <a:ext cx="1737264" cy="534670"/>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77666" y="427735"/>
            <a:ext cx="6797992" cy="1710943"/>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77666" y="2459482"/>
            <a:ext cx="6797992"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1"/>
          <p:cNvSpPr txBox="1">
            <a:spLocks noGrp="1"/>
          </p:cNvSpPr>
          <p:nvPr>
            <p:ph type="ftr" idx="11"/>
          </p:nvPr>
        </p:nvSpPr>
        <p:spPr>
          <a:xfrm>
            <a:off x="2568130" y="9944862"/>
            <a:ext cx="2417063" cy="53467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9" name="Google Shape;9;p1"/>
          <p:cNvSpPr txBox="1">
            <a:spLocks noGrp="1"/>
          </p:cNvSpPr>
          <p:nvPr>
            <p:ph type="dt" idx="10"/>
          </p:nvPr>
        </p:nvSpPr>
        <p:spPr>
          <a:xfrm>
            <a:off x="377666" y="9944862"/>
            <a:ext cx="1737264" cy="53467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 name="Google Shape;10;p1"/>
          <p:cNvSpPr txBox="1">
            <a:spLocks noGrp="1"/>
          </p:cNvSpPr>
          <p:nvPr>
            <p:ph type="sldNum" idx="12"/>
          </p:nvPr>
        </p:nvSpPr>
        <p:spPr>
          <a:xfrm>
            <a:off x="5438394" y="9944862"/>
            <a:ext cx="1737264" cy="53467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defRPr>
            </a:lvl1pPr>
            <a:lvl2pPr marL="0" marR="0" lvl="1" indent="0" algn="r" rtl="0">
              <a:spcBef>
                <a:spcPts val="0"/>
              </a:spcBef>
              <a:buNone/>
              <a:defRPr sz="1800" b="0" i="0" u="none" strike="noStrike" cap="none">
                <a:solidFill>
                  <a:srgbClr val="888888"/>
                </a:solidFill>
              </a:defRPr>
            </a:lvl2pPr>
            <a:lvl3pPr marL="0" marR="0" lvl="2" indent="0" algn="r" rtl="0">
              <a:spcBef>
                <a:spcPts val="0"/>
              </a:spcBef>
              <a:buNone/>
              <a:defRPr sz="1800" b="0" i="0" u="none" strike="noStrike" cap="none">
                <a:solidFill>
                  <a:srgbClr val="888888"/>
                </a:solidFill>
              </a:defRPr>
            </a:lvl3pPr>
            <a:lvl4pPr marL="0" marR="0" lvl="3" indent="0" algn="r" rtl="0">
              <a:spcBef>
                <a:spcPts val="0"/>
              </a:spcBef>
              <a:buNone/>
              <a:defRPr sz="1800" b="0" i="0" u="none" strike="noStrike" cap="none">
                <a:solidFill>
                  <a:srgbClr val="888888"/>
                </a:solidFill>
              </a:defRPr>
            </a:lvl4pPr>
            <a:lvl5pPr marL="0" marR="0" lvl="4" indent="0" algn="r" rtl="0">
              <a:spcBef>
                <a:spcPts val="0"/>
              </a:spcBef>
              <a:buNone/>
              <a:defRPr sz="1800" b="0" i="0" u="none" strike="noStrike" cap="none">
                <a:solidFill>
                  <a:srgbClr val="888888"/>
                </a:solidFill>
              </a:defRPr>
            </a:lvl5pPr>
            <a:lvl6pPr marL="0" marR="0" lvl="5" indent="0" algn="r" rtl="0">
              <a:spcBef>
                <a:spcPts val="0"/>
              </a:spcBef>
              <a:buNone/>
              <a:defRPr sz="1800" b="0" i="0" u="none" strike="noStrike" cap="none">
                <a:solidFill>
                  <a:srgbClr val="888888"/>
                </a:solidFill>
              </a:defRPr>
            </a:lvl6pPr>
            <a:lvl7pPr marL="0" marR="0" lvl="6" indent="0" algn="r" rtl="0">
              <a:spcBef>
                <a:spcPts val="0"/>
              </a:spcBef>
              <a:buNone/>
              <a:defRPr sz="1800" b="0" i="0" u="none" strike="noStrike" cap="none">
                <a:solidFill>
                  <a:srgbClr val="888888"/>
                </a:solidFill>
              </a:defRPr>
            </a:lvl7pPr>
            <a:lvl8pPr marL="0" marR="0" lvl="7" indent="0" algn="r" rtl="0">
              <a:spcBef>
                <a:spcPts val="0"/>
              </a:spcBef>
              <a:buNone/>
              <a:defRPr sz="1800" b="0" i="0" u="none" strike="noStrike" cap="none">
                <a:solidFill>
                  <a:srgbClr val="888888"/>
                </a:solidFill>
              </a:defRPr>
            </a:lvl8pPr>
            <a:lvl9pPr marL="0" marR="0" lvl="8" indent="0" algn="r" rtl="0">
              <a:spcBef>
                <a:spcPts val="0"/>
              </a:spcBef>
              <a:buNone/>
              <a:defRPr sz="1800" b="0" i="0" u="none" strike="noStrike" cap="none">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0"/>
        <p:cNvGrpSpPr/>
        <p:nvPr/>
      </p:nvGrpSpPr>
      <p:grpSpPr>
        <a:xfrm>
          <a:off x="0" y="0"/>
          <a:ext cx="0" cy="0"/>
          <a:chOff x="0" y="0"/>
          <a:chExt cx="0" cy="0"/>
        </a:xfrm>
      </p:grpSpPr>
      <p:sp>
        <p:nvSpPr>
          <p:cNvPr id="21" name="Google Shape;21;p3"/>
          <p:cNvSpPr txBox="1"/>
          <p:nvPr/>
        </p:nvSpPr>
        <p:spPr>
          <a:xfrm>
            <a:off x="821079" y="6233448"/>
            <a:ext cx="8553000" cy="614912"/>
          </a:xfrm>
          <a:prstGeom prst="rect">
            <a:avLst/>
          </a:prstGeom>
          <a:noFill/>
          <a:ln>
            <a:noFill/>
          </a:ln>
        </p:spPr>
        <p:txBody>
          <a:bodyPr spcFirstLastPara="1" wrap="square" lIns="0" tIns="0" rIns="0" bIns="0" anchor="t" anchorCtr="0">
            <a:spAutoFit/>
          </a:bodyPr>
          <a:lstStyle/>
          <a:p>
            <a:pPr marL="0" marR="0" lvl="0" indent="0" algn="l" rtl="0">
              <a:lnSpc>
                <a:spcPct val="110700"/>
              </a:lnSpc>
              <a:spcBef>
                <a:spcPts val="0"/>
              </a:spcBef>
              <a:spcAft>
                <a:spcPts val="0"/>
              </a:spcAft>
              <a:buNone/>
            </a:pPr>
            <a:r>
              <a:rPr lang="en-US" sz="3600" b="1" dirty="0">
                <a:solidFill>
                  <a:srgbClr val="3FAC92"/>
                </a:solidFill>
                <a:latin typeface="Montserrat"/>
                <a:ea typeface="Montserrat"/>
                <a:cs typeface="Montserrat"/>
                <a:sym typeface="Montserrat"/>
              </a:rPr>
              <a:t>Presenter: Jeffrey Aven</a:t>
            </a:r>
            <a:endParaRPr sz="3600" dirty="0"/>
          </a:p>
        </p:txBody>
      </p:sp>
      <p:sp>
        <p:nvSpPr>
          <p:cNvPr id="22" name="Google Shape;22;p3"/>
          <p:cNvSpPr/>
          <p:nvPr/>
        </p:nvSpPr>
        <p:spPr>
          <a:xfrm>
            <a:off x="16407775" y="10448700"/>
            <a:ext cx="3444000" cy="450600"/>
          </a:xfrm>
          <a:prstGeom prst="rect">
            <a:avLst/>
          </a:prstGeom>
          <a:noFill/>
          <a:ln>
            <a:noFill/>
          </a:ln>
        </p:spPr>
        <p:txBody>
          <a:bodyPr spcFirstLastPara="1" wrap="square" lIns="0" tIns="0" rIns="0" bIns="0" anchor="ctr" anchorCtr="0">
            <a:noAutofit/>
          </a:bodyPr>
          <a:lstStyle/>
          <a:p>
            <a:pPr marL="0" lvl="0" indent="0" algn="ctr" rtl="0">
              <a:lnSpc>
                <a:spcPct val="110700"/>
              </a:lnSpc>
              <a:spcBef>
                <a:spcPts val="0"/>
              </a:spcBef>
              <a:spcAft>
                <a:spcPts val="0"/>
              </a:spcAft>
              <a:buNone/>
            </a:pPr>
            <a:r>
              <a:rPr lang="en-US" sz="3800" b="1">
                <a:solidFill>
                  <a:schemeClr val="lt1"/>
                </a:solidFill>
                <a:latin typeface="Montserrat"/>
                <a:ea typeface="Montserrat"/>
                <a:cs typeface="Montserrat"/>
                <a:sym typeface="Montserrat"/>
              </a:rPr>
              <a:t>STACKQL&gt;&gt;</a:t>
            </a:r>
            <a:endParaRPr sz="3800">
              <a:solidFill>
                <a:schemeClr val="lt1"/>
              </a:solidFill>
            </a:endParaRPr>
          </a:p>
        </p:txBody>
      </p:sp>
      <p:sp>
        <p:nvSpPr>
          <p:cNvPr id="23" name="Google Shape;23;p3"/>
          <p:cNvSpPr/>
          <p:nvPr/>
        </p:nvSpPr>
        <p:spPr>
          <a:xfrm>
            <a:off x="777513" y="4631653"/>
            <a:ext cx="19074262" cy="450600"/>
          </a:xfrm>
          <a:prstGeom prst="rect">
            <a:avLst/>
          </a:prstGeom>
          <a:noFill/>
          <a:ln>
            <a:noFill/>
          </a:ln>
        </p:spPr>
        <p:txBody>
          <a:bodyPr spcFirstLastPara="1" wrap="square" lIns="0" tIns="0" rIns="0" bIns="0" anchor="ctr" anchorCtr="0">
            <a:noAutofit/>
          </a:bodyPr>
          <a:lstStyle/>
          <a:p>
            <a:pPr lvl="0">
              <a:lnSpc>
                <a:spcPct val="110700"/>
              </a:lnSpc>
            </a:pPr>
            <a:r>
              <a:rPr lang="en-US" sz="7200" b="1" dirty="0">
                <a:solidFill>
                  <a:srgbClr val="FFFFFF"/>
                </a:solidFill>
                <a:latin typeface="Montserrat" panose="00000500000000000000" pitchFamily="2" charset="0"/>
                <a:ea typeface="Montserrat"/>
                <a:cs typeface="Montserrat"/>
                <a:sym typeface="Montserrat"/>
              </a:rPr>
              <a:t>AI NATIVE PLATFORM ENGINEERING
</a:t>
            </a:r>
            <a:r>
              <a:rPr lang="en-US" sz="7200" b="1" i="1" dirty="0">
                <a:solidFill>
                  <a:srgbClr val="FFFFFF"/>
                </a:solidFill>
                <a:latin typeface="Montserrat" panose="00000500000000000000" pitchFamily="2" charset="0"/>
                <a:ea typeface="Montserrat"/>
                <a:cs typeface="Montserrat"/>
                <a:sym typeface="Montserrat"/>
              </a:rPr>
              <a:t>AGENTS AS THE PRIMARY CONSUMERS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7" name="Google Shape;37;p5"/>
          <p:cNvSpPr txBox="1"/>
          <p:nvPr/>
        </p:nvSpPr>
        <p:spPr>
          <a:xfrm>
            <a:off x="1508747" y="1004700"/>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WHAT IaC WAS BUILT FOR</a:t>
            </a:r>
            <a:endParaRPr/>
          </a:p>
        </p:txBody>
      </p:sp>
      <p:sp>
        <p:nvSpPr>
          <p:cNvPr id="38" name="Google Shape;38;p5"/>
          <p:cNvSpPr txBox="1"/>
          <p:nvPr/>
        </p:nvSpPr>
        <p:spPr>
          <a:xfrm>
            <a:off x="2344630" y="3191288"/>
            <a:ext cx="79971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Humans author the changes.</a:t>
            </a:r>
            <a:endParaRPr sz="4200"/>
          </a:p>
        </p:txBody>
      </p:sp>
      <p:sp>
        <p:nvSpPr>
          <p:cNvPr id="39" name="Google Shape;39;p5"/>
          <p:cNvSpPr txBox="1"/>
          <p:nvPr/>
        </p:nvSpPr>
        <p:spPr>
          <a:xfrm>
            <a:off x="2344630" y="4493138"/>
            <a:ext cx="84690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Changes at human timescales.</a:t>
            </a:r>
            <a:endParaRPr sz="4200"/>
          </a:p>
        </p:txBody>
      </p:sp>
      <p:sp>
        <p:nvSpPr>
          <p:cNvPr id="40" name="Google Shape;40;p5"/>
          <p:cNvSpPr txBox="1"/>
          <p:nvPr/>
        </p:nvSpPr>
        <p:spPr>
          <a:xfrm>
            <a:off x="2344629" y="5794988"/>
            <a:ext cx="78024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One writer per environment.</a:t>
            </a:r>
            <a:endParaRPr sz="4200"/>
          </a:p>
        </p:txBody>
      </p:sp>
      <p:sp>
        <p:nvSpPr>
          <p:cNvPr id="41" name="Google Shape;41;p5"/>
          <p:cNvSpPr txBox="1"/>
          <p:nvPr/>
        </p:nvSpPr>
        <p:spPr>
          <a:xfrm>
            <a:off x="2344628" y="6107489"/>
            <a:ext cx="5680800" cy="646500"/>
          </a:xfrm>
          <a:prstGeom prst="rect">
            <a:avLst/>
          </a:prstGeom>
          <a:noFill/>
          <a:ln>
            <a:noFill/>
          </a:ln>
        </p:spPr>
        <p:txBody>
          <a:bodyPr spcFirstLastPara="1" wrap="square" lIns="0" tIns="0" rIns="0" bIns="0" anchor="t" anchorCtr="0">
            <a:spAutoFit/>
          </a:bodyPr>
          <a:lstStyle/>
          <a:p>
            <a:pPr marL="0" lvl="0" indent="0" algn="l" rtl="0">
              <a:lnSpc>
                <a:spcPct val="110920"/>
              </a:lnSpc>
              <a:spcBef>
                <a:spcPts val="7675"/>
              </a:spcBef>
              <a:spcAft>
                <a:spcPts val="0"/>
              </a:spcAft>
              <a:buNone/>
            </a:pPr>
            <a:r>
              <a:rPr lang="en-US" sz="4200" dirty="0">
                <a:solidFill>
                  <a:srgbClr val="0A4D81"/>
                </a:solidFill>
                <a:latin typeface="Montserrat Medium"/>
                <a:ea typeface="Montserrat Medium"/>
                <a:cs typeface="Montserrat Medium"/>
                <a:sym typeface="Montserrat Medium"/>
              </a:rPr>
              <a:t>Drift is an exception.</a:t>
            </a:r>
            <a:endParaRPr sz="4200" dirty="0">
              <a:solidFill>
                <a:srgbClr val="0A4D81"/>
              </a:solidFill>
              <a:latin typeface="Montserrat Medium"/>
              <a:ea typeface="Montserrat Medium"/>
              <a:cs typeface="Montserrat Medium"/>
              <a:sym typeface="Montserrat Medium"/>
            </a:endParaRPr>
          </a:p>
        </p:txBody>
      </p:sp>
      <p:cxnSp>
        <p:nvCxnSpPr>
          <p:cNvPr id="42" name="Google Shape;42;p5"/>
          <p:cNvCxnSpPr/>
          <p:nvPr/>
        </p:nvCxnSpPr>
        <p:spPr>
          <a:xfrm>
            <a:off x="1536700" y="1955800"/>
            <a:ext cx="10301400" cy="1500"/>
          </a:xfrm>
          <a:prstGeom prst="straightConnector1">
            <a:avLst/>
          </a:prstGeom>
          <a:noFill/>
          <a:ln w="28575" cap="flat" cmpd="sng">
            <a:solidFill>
              <a:schemeClr val="dk2"/>
            </a:solidFill>
            <a:prstDash val="solid"/>
            <a:round/>
            <a:headEnd type="none" w="med" len="med"/>
            <a:tailEnd type="none" w="med" len="med"/>
          </a:ln>
        </p:spPr>
      </p:cxnSp>
      <p:sp>
        <p:nvSpPr>
          <p:cNvPr id="43" name="Google Shape;43;p5"/>
          <p:cNvSpPr txBox="1"/>
          <p:nvPr/>
        </p:nvSpPr>
        <p:spPr>
          <a:xfrm>
            <a:off x="17238776" y="1037242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dirty="0">
                <a:solidFill>
                  <a:srgbClr val="0A4D81"/>
                </a:solidFill>
                <a:latin typeface="Montserrat"/>
                <a:ea typeface="Montserrat"/>
                <a:cs typeface="Montserrat"/>
                <a:sym typeface="Montserrat"/>
              </a:rPr>
              <a:t>STACKQL&gt;&gt;</a:t>
            </a:r>
            <a:endParaRPr sz="1800" dirty="0">
              <a:solidFill>
                <a:srgbClr val="0A4D81"/>
              </a:solidFill>
            </a:endParaRPr>
          </a:p>
        </p:txBody>
      </p:sp>
      <p:pic>
        <p:nvPicPr>
          <p:cNvPr id="44" name="Google Shape;44;p5" title="check_white.png"/>
          <p:cNvPicPr preferRelativeResize="0"/>
          <p:nvPr/>
        </p:nvPicPr>
        <p:blipFill rotWithShape="1">
          <a:blip r:embed="rId3">
            <a:alphaModFix/>
          </a:blip>
          <a:srcRect l="19873" t="6304" r="18830" b="6989"/>
          <a:stretch/>
        </p:blipFill>
        <p:spPr>
          <a:xfrm>
            <a:off x="1508762" y="3206200"/>
            <a:ext cx="616675" cy="616674"/>
          </a:xfrm>
          <a:prstGeom prst="rect">
            <a:avLst/>
          </a:prstGeom>
          <a:noFill/>
          <a:ln>
            <a:noFill/>
          </a:ln>
        </p:spPr>
      </p:pic>
      <p:pic>
        <p:nvPicPr>
          <p:cNvPr id="45" name="Google Shape;45;p5" title="check_white.png"/>
          <p:cNvPicPr preferRelativeResize="0"/>
          <p:nvPr/>
        </p:nvPicPr>
        <p:blipFill rotWithShape="1">
          <a:blip r:embed="rId3">
            <a:alphaModFix/>
          </a:blip>
          <a:srcRect l="19873" t="6304" r="18830" b="6989"/>
          <a:stretch/>
        </p:blipFill>
        <p:spPr>
          <a:xfrm>
            <a:off x="1508762" y="4508050"/>
            <a:ext cx="616675" cy="616674"/>
          </a:xfrm>
          <a:prstGeom prst="rect">
            <a:avLst/>
          </a:prstGeom>
          <a:noFill/>
          <a:ln>
            <a:noFill/>
          </a:ln>
        </p:spPr>
      </p:pic>
      <p:pic>
        <p:nvPicPr>
          <p:cNvPr id="46" name="Google Shape;46;p5" title="check_white.png"/>
          <p:cNvPicPr preferRelativeResize="0"/>
          <p:nvPr/>
        </p:nvPicPr>
        <p:blipFill rotWithShape="1">
          <a:blip r:embed="rId3">
            <a:alphaModFix/>
          </a:blip>
          <a:srcRect l="19873" t="6304" r="18830" b="6989"/>
          <a:stretch/>
        </p:blipFill>
        <p:spPr>
          <a:xfrm>
            <a:off x="1508762" y="5809900"/>
            <a:ext cx="616675" cy="616674"/>
          </a:xfrm>
          <a:prstGeom prst="rect">
            <a:avLst/>
          </a:prstGeom>
          <a:noFill/>
          <a:ln>
            <a:noFill/>
          </a:ln>
        </p:spPr>
      </p:pic>
      <p:pic>
        <p:nvPicPr>
          <p:cNvPr id="47" name="Google Shape;47;p5" title="check_white.png"/>
          <p:cNvPicPr preferRelativeResize="0"/>
          <p:nvPr/>
        </p:nvPicPr>
        <p:blipFill rotWithShape="1">
          <a:blip r:embed="rId3">
            <a:alphaModFix/>
          </a:blip>
          <a:srcRect l="19873" t="6304" r="18830" b="6989"/>
          <a:stretch/>
        </p:blipFill>
        <p:spPr>
          <a:xfrm>
            <a:off x="1508762" y="7111750"/>
            <a:ext cx="616675" cy="616674"/>
          </a:xfrm>
          <a:prstGeom prst="rect">
            <a:avLst/>
          </a:prstGeom>
          <a:noFill/>
          <a:ln>
            <a:noFill/>
          </a:ln>
        </p:spPr>
      </p:pic>
      <p:pic>
        <p:nvPicPr>
          <p:cNvPr id="48" name="Google Shape;48;p5" title="iac-flow.png"/>
          <p:cNvPicPr preferRelativeResize="0"/>
          <p:nvPr/>
        </p:nvPicPr>
        <p:blipFill>
          <a:blip r:embed="rId4">
            <a:alphaModFix/>
          </a:blip>
          <a:stretch>
            <a:fillRect/>
          </a:stretch>
        </p:blipFill>
        <p:spPr>
          <a:xfrm>
            <a:off x="11711184" y="824250"/>
            <a:ext cx="7386852" cy="892523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4" name="Google Shape;54;p6"/>
          <p:cNvSpPr txBox="1"/>
          <p:nvPr/>
        </p:nvSpPr>
        <p:spPr>
          <a:xfrm>
            <a:off x="9347800" y="987025"/>
            <a:ext cx="100932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AI CHANGES </a:t>
            </a:r>
            <a:r>
              <a:rPr lang="en-US" sz="5650" b="1">
                <a:solidFill>
                  <a:srgbClr val="FF0000"/>
                </a:solidFill>
                <a:latin typeface="Montserrat"/>
                <a:ea typeface="Montserrat"/>
                <a:cs typeface="Montserrat"/>
                <a:sym typeface="Montserrat"/>
              </a:rPr>
              <a:t>EVERYTHING</a:t>
            </a:r>
            <a:endParaRPr>
              <a:solidFill>
                <a:srgbClr val="FF0000"/>
              </a:solidFill>
            </a:endParaRPr>
          </a:p>
        </p:txBody>
      </p:sp>
      <p:sp>
        <p:nvSpPr>
          <p:cNvPr id="55" name="Google Shape;55;p6"/>
          <p:cNvSpPr txBox="1"/>
          <p:nvPr/>
        </p:nvSpPr>
        <p:spPr>
          <a:xfrm>
            <a:off x="7125343" y="3191300"/>
            <a:ext cx="114042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Agents </a:t>
            </a:r>
            <a:r>
              <a:rPr lang="en-US" sz="4200" i="1">
                <a:solidFill>
                  <a:srgbClr val="FF0000"/>
                </a:solidFill>
                <a:latin typeface="Montserrat Medium"/>
                <a:ea typeface="Montserrat Medium"/>
                <a:cs typeface="Montserrat Medium"/>
                <a:sym typeface="Montserrat Medium"/>
              </a:rPr>
              <a:t>AND </a:t>
            </a:r>
            <a:r>
              <a:rPr lang="en-US" sz="4200">
                <a:solidFill>
                  <a:srgbClr val="0A4D81"/>
                </a:solidFill>
                <a:latin typeface="Montserrat Medium"/>
                <a:ea typeface="Montserrat Medium"/>
                <a:cs typeface="Montserrat Medium"/>
                <a:sym typeface="Montserrat Medium"/>
              </a:rPr>
              <a:t>humans can author changes.</a:t>
            </a:r>
            <a:endParaRPr sz="4200"/>
          </a:p>
        </p:txBody>
      </p:sp>
      <p:sp>
        <p:nvSpPr>
          <p:cNvPr id="56" name="Google Shape;56;p6"/>
          <p:cNvSpPr txBox="1"/>
          <p:nvPr/>
        </p:nvSpPr>
        <p:spPr>
          <a:xfrm>
            <a:off x="10845343" y="4517838"/>
            <a:ext cx="7684200" cy="646500"/>
          </a:xfrm>
          <a:prstGeom prst="rect">
            <a:avLst/>
          </a:prstGeom>
          <a:noFill/>
          <a:ln>
            <a:noFill/>
          </a:ln>
        </p:spPr>
        <p:txBody>
          <a:bodyPr spcFirstLastPara="1" wrap="square" lIns="0" tIns="0" rIns="0" bIns="0" anchor="t" anchorCtr="0">
            <a:spAutoFit/>
          </a:bodyPr>
          <a:lstStyle/>
          <a:p>
            <a:pPr marL="0" marR="0" lvl="0" indent="0" algn="r"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Changes at machine speed.</a:t>
            </a:r>
            <a:endParaRPr sz="4200"/>
          </a:p>
        </p:txBody>
      </p:sp>
      <p:sp>
        <p:nvSpPr>
          <p:cNvPr id="57" name="Google Shape;57;p6"/>
          <p:cNvSpPr txBox="1"/>
          <p:nvPr/>
        </p:nvSpPr>
        <p:spPr>
          <a:xfrm>
            <a:off x="9176443" y="5844375"/>
            <a:ext cx="9353100" cy="646500"/>
          </a:xfrm>
          <a:prstGeom prst="rect">
            <a:avLst/>
          </a:prstGeom>
          <a:noFill/>
          <a:ln>
            <a:noFill/>
          </a:ln>
        </p:spPr>
        <p:txBody>
          <a:bodyPr spcFirstLastPara="1" wrap="square" lIns="0" tIns="0" rIns="0" bIns="0" anchor="t" anchorCtr="0">
            <a:spAutoFit/>
          </a:bodyPr>
          <a:lstStyle/>
          <a:p>
            <a:pPr marL="0" marR="0" lvl="0" indent="0" algn="r"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Multiple writers, at the same time.</a:t>
            </a:r>
            <a:endParaRPr sz="4200"/>
          </a:p>
        </p:txBody>
      </p:sp>
      <p:sp>
        <p:nvSpPr>
          <p:cNvPr id="58" name="Google Shape;58;p6"/>
          <p:cNvSpPr txBox="1"/>
          <p:nvPr/>
        </p:nvSpPr>
        <p:spPr>
          <a:xfrm>
            <a:off x="11803843" y="6127022"/>
            <a:ext cx="6725700" cy="646500"/>
          </a:xfrm>
          <a:prstGeom prst="rect">
            <a:avLst/>
          </a:prstGeom>
          <a:noFill/>
          <a:ln>
            <a:noFill/>
          </a:ln>
        </p:spPr>
        <p:txBody>
          <a:bodyPr spcFirstLastPara="1" wrap="square" lIns="0" tIns="0" rIns="0" bIns="0" anchor="t" anchorCtr="0">
            <a:spAutoFit/>
          </a:bodyPr>
          <a:lstStyle/>
          <a:p>
            <a:pPr marL="0" lvl="0" indent="0" algn="r" rtl="0">
              <a:lnSpc>
                <a:spcPct val="110920"/>
              </a:lnSpc>
              <a:spcBef>
                <a:spcPts val="7675"/>
              </a:spcBef>
              <a:spcAft>
                <a:spcPts val="0"/>
              </a:spcAft>
              <a:buNone/>
            </a:pPr>
            <a:r>
              <a:rPr lang="en-US" sz="4200" dirty="0">
                <a:solidFill>
                  <a:srgbClr val="0A4D81"/>
                </a:solidFill>
                <a:latin typeface="Montserrat Medium"/>
                <a:ea typeface="Montserrat Medium"/>
                <a:cs typeface="Montserrat Medium"/>
                <a:sym typeface="Montserrat Medium"/>
              </a:rPr>
              <a:t>Drift is the default state.</a:t>
            </a:r>
            <a:endParaRPr sz="4200" dirty="0">
              <a:solidFill>
                <a:srgbClr val="0A4D81"/>
              </a:solidFill>
              <a:latin typeface="Montserrat Medium"/>
              <a:ea typeface="Montserrat Medium"/>
              <a:cs typeface="Montserrat Medium"/>
              <a:sym typeface="Montserrat Medium"/>
            </a:endParaRPr>
          </a:p>
        </p:txBody>
      </p:sp>
      <p:cxnSp>
        <p:nvCxnSpPr>
          <p:cNvPr id="59" name="Google Shape;59;p6"/>
          <p:cNvCxnSpPr/>
          <p:nvPr/>
        </p:nvCxnSpPr>
        <p:spPr>
          <a:xfrm>
            <a:off x="9015671" y="1955800"/>
            <a:ext cx="10301400" cy="1500"/>
          </a:xfrm>
          <a:prstGeom prst="straightConnector1">
            <a:avLst/>
          </a:prstGeom>
          <a:noFill/>
          <a:ln w="28575" cap="flat" cmpd="sng">
            <a:solidFill>
              <a:schemeClr val="dk2"/>
            </a:solidFill>
            <a:prstDash val="solid"/>
            <a:round/>
            <a:headEnd type="none" w="med" len="med"/>
            <a:tailEnd type="none" w="med" len="med"/>
          </a:ln>
        </p:spPr>
      </p:cxnSp>
      <p:pic>
        <p:nvPicPr>
          <p:cNvPr id="61" name="Google Shape;61;p6" title="check_white.png"/>
          <p:cNvPicPr preferRelativeResize="0"/>
          <p:nvPr/>
        </p:nvPicPr>
        <p:blipFill rotWithShape="1">
          <a:blip r:embed="rId3">
            <a:alphaModFix/>
          </a:blip>
          <a:srcRect l="19873" t="6304" r="18830" b="6989"/>
          <a:stretch/>
        </p:blipFill>
        <p:spPr>
          <a:xfrm>
            <a:off x="18700412" y="3221125"/>
            <a:ext cx="616675" cy="616674"/>
          </a:xfrm>
          <a:prstGeom prst="rect">
            <a:avLst/>
          </a:prstGeom>
          <a:noFill/>
          <a:ln>
            <a:noFill/>
          </a:ln>
        </p:spPr>
      </p:pic>
      <p:pic>
        <p:nvPicPr>
          <p:cNvPr id="62" name="Google Shape;62;p6" title="check_white.png"/>
          <p:cNvPicPr preferRelativeResize="0"/>
          <p:nvPr/>
        </p:nvPicPr>
        <p:blipFill rotWithShape="1">
          <a:blip r:embed="rId3">
            <a:alphaModFix/>
          </a:blip>
          <a:srcRect l="19873" t="6304" r="18830" b="6989"/>
          <a:stretch/>
        </p:blipFill>
        <p:spPr>
          <a:xfrm>
            <a:off x="18700412" y="4522975"/>
            <a:ext cx="616675" cy="616674"/>
          </a:xfrm>
          <a:prstGeom prst="rect">
            <a:avLst/>
          </a:prstGeom>
          <a:noFill/>
          <a:ln>
            <a:noFill/>
          </a:ln>
        </p:spPr>
      </p:pic>
      <p:pic>
        <p:nvPicPr>
          <p:cNvPr id="63" name="Google Shape;63;p6" title="check_white.png"/>
          <p:cNvPicPr preferRelativeResize="0"/>
          <p:nvPr/>
        </p:nvPicPr>
        <p:blipFill rotWithShape="1">
          <a:blip r:embed="rId3">
            <a:alphaModFix/>
          </a:blip>
          <a:srcRect l="19873" t="6304" r="18830" b="6989"/>
          <a:stretch/>
        </p:blipFill>
        <p:spPr>
          <a:xfrm>
            <a:off x="18700412" y="5824825"/>
            <a:ext cx="616675" cy="616674"/>
          </a:xfrm>
          <a:prstGeom prst="rect">
            <a:avLst/>
          </a:prstGeom>
          <a:noFill/>
          <a:ln>
            <a:noFill/>
          </a:ln>
        </p:spPr>
      </p:pic>
      <p:pic>
        <p:nvPicPr>
          <p:cNvPr id="64" name="Google Shape;64;p6" title="check_white.png"/>
          <p:cNvPicPr preferRelativeResize="0"/>
          <p:nvPr/>
        </p:nvPicPr>
        <p:blipFill rotWithShape="1">
          <a:blip r:embed="rId3">
            <a:alphaModFix/>
          </a:blip>
          <a:srcRect l="19873" t="6304" r="18830" b="6989"/>
          <a:stretch/>
        </p:blipFill>
        <p:spPr>
          <a:xfrm>
            <a:off x="18700412" y="7126675"/>
            <a:ext cx="616675" cy="616674"/>
          </a:xfrm>
          <a:prstGeom prst="rect">
            <a:avLst/>
          </a:prstGeom>
          <a:noFill/>
          <a:ln>
            <a:noFill/>
          </a:ln>
        </p:spPr>
      </p:pic>
      <p:pic>
        <p:nvPicPr>
          <p:cNvPr id="65" name="Google Shape;65;p6" title="iac-and-agents.png"/>
          <p:cNvPicPr preferRelativeResize="0"/>
          <p:nvPr/>
        </p:nvPicPr>
        <p:blipFill>
          <a:blip r:embed="rId4">
            <a:alphaModFix/>
          </a:blip>
          <a:stretch>
            <a:fillRect/>
          </a:stretch>
        </p:blipFill>
        <p:spPr>
          <a:xfrm>
            <a:off x="141446" y="969351"/>
            <a:ext cx="10093199" cy="9851717"/>
          </a:xfrm>
          <a:prstGeom prst="rect">
            <a:avLst/>
          </a:prstGeom>
          <a:noFill/>
          <a:ln>
            <a:noFill/>
          </a:ln>
        </p:spPr>
      </p:pic>
      <p:sp>
        <p:nvSpPr>
          <p:cNvPr id="3" name="Google Shape;43;p5">
            <a:extLst>
              <a:ext uri="{FF2B5EF4-FFF2-40B4-BE49-F238E27FC236}">
                <a16:creationId xmlns:a16="http://schemas.microsoft.com/office/drawing/2014/main" id="{EE13E563-FCE5-DC15-2238-2B0ABFF680E8}"/>
              </a:ext>
            </a:extLst>
          </p:cNvPr>
          <p:cNvSpPr txBox="1"/>
          <p:nvPr/>
        </p:nvSpPr>
        <p:spPr>
          <a:xfrm>
            <a:off x="17238776" y="1037242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dirty="0">
                <a:solidFill>
                  <a:srgbClr val="0A4D81"/>
                </a:solidFill>
                <a:latin typeface="Montserrat"/>
                <a:ea typeface="Montserrat"/>
                <a:cs typeface="Montserrat"/>
                <a:sym typeface="Montserrat"/>
              </a:rPr>
              <a:t>STACKQL&gt;&gt;</a:t>
            </a:r>
            <a:endParaRPr sz="1800" dirty="0">
              <a:solidFill>
                <a:srgbClr val="0A4D8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7"/>
          <p:cNvSpPr txBox="1"/>
          <p:nvPr/>
        </p:nvSpPr>
        <p:spPr>
          <a:xfrm>
            <a:off x="1508750" y="1004700"/>
            <a:ext cx="132360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DRIFT ISN’T AN ERROR</a:t>
            </a:r>
            <a:endParaRPr/>
          </a:p>
        </p:txBody>
      </p:sp>
      <p:cxnSp>
        <p:nvCxnSpPr>
          <p:cNvPr id="71" name="Google Shape;71;p7"/>
          <p:cNvCxnSpPr/>
          <p:nvPr/>
        </p:nvCxnSpPr>
        <p:spPr>
          <a:xfrm>
            <a:off x="1587500" y="1964525"/>
            <a:ext cx="8478300" cy="25500"/>
          </a:xfrm>
          <a:prstGeom prst="straightConnector1">
            <a:avLst/>
          </a:prstGeom>
          <a:noFill/>
          <a:ln w="28575" cap="flat" cmpd="sng">
            <a:solidFill>
              <a:schemeClr val="dk2"/>
            </a:solidFill>
            <a:prstDash val="solid"/>
            <a:round/>
            <a:headEnd type="none" w="med" len="med"/>
            <a:tailEnd type="none" w="med" len="med"/>
          </a:ln>
        </p:spPr>
      </p:cxnSp>
      <p:sp>
        <p:nvSpPr>
          <p:cNvPr id="74" name="Google Shape;74;p7"/>
          <p:cNvSpPr txBox="1"/>
          <p:nvPr/>
        </p:nvSpPr>
        <p:spPr>
          <a:xfrm>
            <a:off x="1587500" y="2288675"/>
            <a:ext cx="132360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i="1">
                <a:solidFill>
                  <a:srgbClr val="3FAC92"/>
                </a:solidFill>
                <a:latin typeface="Montserrat"/>
                <a:ea typeface="Montserrat"/>
                <a:cs typeface="Montserrat"/>
                <a:sym typeface="Montserrat"/>
              </a:rPr>
              <a:t>IT’S A SIGNAL</a:t>
            </a:r>
            <a:endParaRPr i="1">
              <a:solidFill>
                <a:srgbClr val="3FAC92"/>
              </a:solidFill>
            </a:endParaRPr>
          </a:p>
        </p:txBody>
      </p:sp>
      <p:sp>
        <p:nvSpPr>
          <p:cNvPr id="79" name="Google Shape;79;p7"/>
          <p:cNvSpPr txBox="1"/>
          <p:nvPr/>
        </p:nvSpPr>
        <p:spPr>
          <a:xfrm>
            <a:off x="1072409" y="8389038"/>
            <a:ext cx="7217700" cy="646500"/>
          </a:xfrm>
          <a:prstGeom prst="rect">
            <a:avLst/>
          </a:prstGeom>
          <a:noFill/>
          <a:ln>
            <a:noFill/>
          </a:ln>
        </p:spPr>
        <p:txBody>
          <a:bodyPr spcFirstLastPara="1" wrap="square" lIns="0" tIns="0" rIns="0" bIns="0" anchor="t" anchorCtr="0">
            <a:spAutoFit/>
          </a:bodyPr>
          <a:lstStyle/>
          <a:p>
            <a:pPr marL="0" marR="0" lvl="0" indent="0" algn="ctr" rtl="0">
              <a:lnSpc>
                <a:spcPct val="108780"/>
              </a:lnSpc>
              <a:spcBef>
                <a:spcPts val="0"/>
              </a:spcBef>
              <a:spcAft>
                <a:spcPts val="0"/>
              </a:spcAft>
              <a:buNone/>
            </a:pPr>
            <a:r>
              <a:rPr lang="en-US" sz="4200" i="1" dirty="0">
                <a:solidFill>
                  <a:srgbClr val="0A4D81"/>
                </a:solidFill>
                <a:latin typeface="Montserrat Medium"/>
                <a:ea typeface="Montserrat Medium"/>
                <a:cs typeface="Montserrat Medium"/>
                <a:sym typeface="Montserrat Medium"/>
              </a:rPr>
              <a:t>log it, page someone</a:t>
            </a:r>
            <a:endParaRPr sz="4200" i="1" dirty="0"/>
          </a:p>
        </p:txBody>
      </p:sp>
      <p:sp>
        <p:nvSpPr>
          <p:cNvPr id="80" name="Google Shape;80;p7"/>
          <p:cNvSpPr txBox="1"/>
          <p:nvPr/>
        </p:nvSpPr>
        <p:spPr>
          <a:xfrm>
            <a:off x="9995462" y="8389038"/>
            <a:ext cx="7217700" cy="646500"/>
          </a:xfrm>
          <a:prstGeom prst="rect">
            <a:avLst/>
          </a:prstGeom>
          <a:noFill/>
          <a:ln>
            <a:noFill/>
          </a:ln>
        </p:spPr>
        <p:txBody>
          <a:bodyPr spcFirstLastPara="1" wrap="square" lIns="0" tIns="0" rIns="0" bIns="0" anchor="t" anchorCtr="0">
            <a:spAutoFit/>
          </a:bodyPr>
          <a:lstStyle/>
          <a:p>
            <a:pPr marL="0" marR="0" lvl="0" indent="0" algn="ctr" rtl="0">
              <a:lnSpc>
                <a:spcPct val="108780"/>
              </a:lnSpc>
              <a:spcBef>
                <a:spcPts val="0"/>
              </a:spcBef>
              <a:spcAft>
                <a:spcPts val="0"/>
              </a:spcAft>
              <a:buNone/>
            </a:pPr>
            <a:r>
              <a:rPr lang="en-US" sz="4200" i="1" dirty="0">
                <a:solidFill>
                  <a:srgbClr val="FF0000"/>
                </a:solidFill>
                <a:latin typeface="Montserrat Medium"/>
                <a:ea typeface="Montserrat Medium"/>
                <a:cs typeface="Montserrat Medium"/>
                <a:sym typeface="Montserrat Medium"/>
              </a:rPr>
              <a:t>let the agent decide</a:t>
            </a:r>
            <a:endParaRPr sz="4200" i="1" dirty="0">
              <a:solidFill>
                <a:srgbClr val="FF0000"/>
              </a:solidFill>
            </a:endParaRPr>
          </a:p>
        </p:txBody>
      </p:sp>
      <p:sp>
        <p:nvSpPr>
          <p:cNvPr id="11" name="TextBox 5">
            <a:extLst>
              <a:ext uri="{FF2B5EF4-FFF2-40B4-BE49-F238E27FC236}">
                <a16:creationId xmlns:a16="http://schemas.microsoft.com/office/drawing/2014/main" id="{2CD2D221-4F43-A84B-60E3-D2B9CE5B5A65}"/>
              </a:ext>
            </a:extLst>
          </p:cNvPr>
          <p:cNvSpPr txBox="1"/>
          <p:nvPr/>
        </p:nvSpPr>
        <p:spPr>
          <a:xfrm>
            <a:off x="1798515" y="4285026"/>
            <a:ext cx="7900000" cy="15000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9600" b="1">
                <a:solidFill>
                  <a:srgbClr val="0A4D81"/>
                </a:solidFill>
                <a:latin typeface="Montserrat"/>
                <a:ea typeface="Montserrat"/>
                <a:cs typeface="Montserrat"/>
                <a:sym typeface="Montserrat"/>
              </a:rPr>
              <a:t>2015</a:t>
            </a:r>
            <a:endParaRPr/>
          </a:p>
        </p:txBody>
      </p:sp>
      <p:sp>
        <p:nvSpPr>
          <p:cNvPr id="13" name="TextBox 6">
            <a:extLst>
              <a:ext uri="{FF2B5EF4-FFF2-40B4-BE49-F238E27FC236}">
                <a16:creationId xmlns:a16="http://schemas.microsoft.com/office/drawing/2014/main" id="{05216D36-18AB-256D-1B31-1CD226B284EA}"/>
              </a:ext>
            </a:extLst>
          </p:cNvPr>
          <p:cNvSpPr txBox="1"/>
          <p:nvPr/>
        </p:nvSpPr>
        <p:spPr>
          <a:xfrm>
            <a:off x="10811015" y="4285026"/>
            <a:ext cx="7900000" cy="15000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9600" b="1">
                <a:solidFill>
                  <a:srgbClr val="FF0000"/>
                </a:solidFill>
                <a:latin typeface="Montserrat"/>
                <a:ea typeface="Montserrat"/>
                <a:cs typeface="Montserrat"/>
                <a:sym typeface="Montserrat"/>
              </a:rPr>
              <a:t>2026</a:t>
            </a:r>
            <a:endParaRPr/>
          </a:p>
        </p:txBody>
      </p:sp>
      <p:sp>
        <p:nvSpPr>
          <p:cNvPr id="15" name="Freeform 7">
            <a:extLst>
              <a:ext uri="{FF2B5EF4-FFF2-40B4-BE49-F238E27FC236}">
                <a16:creationId xmlns:a16="http://schemas.microsoft.com/office/drawing/2014/main" id="{F3240712-6B8C-45E5-2EBC-FB4AC8B6F247}"/>
              </a:ext>
            </a:extLst>
          </p:cNvPr>
          <p:cNvSpPr/>
          <p:nvPr/>
        </p:nvSpPr>
        <p:spPr>
          <a:xfrm>
            <a:off x="1798515" y="5985026"/>
            <a:ext cx="7900000" cy="2000000"/>
          </a:xfrm>
          <a:custGeom>
            <a:avLst/>
            <a:gdLst/>
            <a:ahLst/>
            <a:cxnLst/>
            <a:rect l="l" t="t" r="r" b="b"/>
            <a:pathLst>
              <a:path w="10000" h="10000" fill="none" extrusionOk="0">
                <a:moveTo>
                  <a:pt x="0" y="7000"/>
                </a:moveTo>
                <a:lnTo>
                  <a:pt x="4100" y="7000"/>
                </a:lnTo>
                <a:lnTo>
                  <a:pt x="4400" y="900"/>
                </a:lnTo>
                <a:lnTo>
                  <a:pt x="4700" y="7000"/>
                </a:lnTo>
                <a:lnTo>
                  <a:pt x="10000" y="7000"/>
                </a:lnTo>
              </a:path>
            </a:pathLst>
          </a:custGeom>
          <a:noFill/>
          <a:ln w="57150" cap="rnd" cmpd="sng">
            <a:solidFill>
              <a:srgbClr val="0A4D81"/>
            </a:solidFill>
            <a:prstDash val="solid"/>
            <a:round/>
          </a:ln>
        </p:spPr>
        <p:txBody>
          <a:bodyPr/>
          <a:lstStyle/>
          <a:p>
            <a:endParaRPr lang="en-AU"/>
          </a:p>
        </p:txBody>
      </p:sp>
      <p:sp>
        <p:nvSpPr>
          <p:cNvPr id="17" name="Freeform 8">
            <a:extLst>
              <a:ext uri="{FF2B5EF4-FFF2-40B4-BE49-F238E27FC236}">
                <a16:creationId xmlns:a16="http://schemas.microsoft.com/office/drawing/2014/main" id="{5E0749DB-BB03-BE2C-619F-EEE64F82387A}"/>
              </a:ext>
            </a:extLst>
          </p:cNvPr>
          <p:cNvSpPr/>
          <p:nvPr/>
        </p:nvSpPr>
        <p:spPr>
          <a:xfrm>
            <a:off x="10811015" y="5985026"/>
            <a:ext cx="7900000" cy="2000000"/>
          </a:xfrm>
          <a:custGeom>
            <a:avLst/>
            <a:gdLst/>
            <a:ahLst/>
            <a:cxnLst/>
            <a:rect l="l" t="t" r="r" b="b"/>
            <a:pathLst>
              <a:path w="10000" h="10000" fill="none" extrusionOk="0">
                <a:moveTo>
                  <a:pt x="0" y="5925"/>
                </a:moveTo>
                <a:lnTo>
                  <a:pt x="100" y="7114"/>
                </a:lnTo>
                <a:lnTo>
                  <a:pt x="200" y="7018"/>
                </a:lnTo>
                <a:lnTo>
                  <a:pt x="300" y="6348"/>
                </a:lnTo>
                <a:lnTo>
                  <a:pt x="400" y="6310"/>
                </a:lnTo>
                <a:lnTo>
                  <a:pt x="500" y="6734"/>
                </a:lnTo>
                <a:lnTo>
                  <a:pt x="600" y="6673"/>
                </a:lnTo>
                <a:lnTo>
                  <a:pt x="700" y="6311"/>
                </a:lnTo>
                <a:lnTo>
                  <a:pt x="800" y="6740"/>
                </a:lnTo>
                <a:lnTo>
                  <a:pt x="900" y="7959"/>
                </a:lnTo>
                <a:lnTo>
                  <a:pt x="1000" y="8625"/>
                </a:lnTo>
                <a:lnTo>
                  <a:pt x="1100" y="8078"/>
                </a:lnTo>
                <a:lnTo>
                  <a:pt x="1200" y="7218"/>
                </a:lnTo>
                <a:lnTo>
                  <a:pt x="1300" y="6807"/>
                </a:lnTo>
                <a:lnTo>
                  <a:pt x="1400" y="6207"/>
                </a:lnTo>
                <a:lnTo>
                  <a:pt x="1500" y="4757"/>
                </a:lnTo>
                <a:lnTo>
                  <a:pt x="1600" y="3284"/>
                </a:lnTo>
                <a:lnTo>
                  <a:pt x="1700" y="2995"/>
                </a:lnTo>
                <a:lnTo>
                  <a:pt x="1800" y="3572"/>
                </a:lnTo>
                <a:lnTo>
                  <a:pt x="1900" y="3747"/>
                </a:lnTo>
                <a:lnTo>
                  <a:pt x="2000" y="3344"/>
                </a:lnTo>
                <a:lnTo>
                  <a:pt x="2100" y="3305"/>
                </a:lnTo>
                <a:lnTo>
                  <a:pt x="2200" y="3751"/>
                </a:lnTo>
                <a:lnTo>
                  <a:pt x="2300" y="3594"/>
                </a:lnTo>
                <a:lnTo>
                  <a:pt x="2400" y="2442"/>
                </a:lnTo>
                <a:lnTo>
                  <a:pt x="2500" y="1472"/>
                </a:lnTo>
                <a:lnTo>
                  <a:pt x="2600" y="1676"/>
                </a:lnTo>
                <a:lnTo>
                  <a:pt x="2700" y="2440"/>
                </a:lnTo>
                <a:lnTo>
                  <a:pt x="2800" y="2826"/>
                </a:lnTo>
                <a:lnTo>
                  <a:pt x="2900" y="3233"/>
                </a:lnTo>
                <a:lnTo>
                  <a:pt x="3000" y="4522"/>
                </a:lnTo>
                <a:lnTo>
                  <a:pt x="3100" y="6184"/>
                </a:lnTo>
                <a:lnTo>
                  <a:pt x="3200" y="6872"/>
                </a:lnTo>
                <a:lnTo>
                  <a:pt x="3300" y="6475"/>
                </a:lnTo>
                <a:lnTo>
                  <a:pt x="3400" y="6205"/>
                </a:lnTo>
                <a:lnTo>
                  <a:pt x="3500" y="6567"/>
                </a:lnTo>
                <a:lnTo>
                  <a:pt x="3600" y="6719"/>
                </a:lnTo>
                <a:lnTo>
                  <a:pt x="3700" y="6248"/>
                </a:lnTo>
                <a:lnTo>
                  <a:pt x="3800" y="6132"/>
                </a:lnTo>
                <a:lnTo>
                  <a:pt x="3900" y="7115"/>
                </a:lnTo>
                <a:lnTo>
                  <a:pt x="4000" y="8297"/>
                </a:lnTo>
                <a:lnTo>
                  <a:pt x="4100" y="8448"/>
                </a:lnTo>
                <a:lnTo>
                  <a:pt x="4200" y="7831"/>
                </a:lnTo>
                <a:lnTo>
                  <a:pt x="4300" y="7471"/>
                </a:lnTo>
                <a:lnTo>
                  <a:pt x="4400" y="7248"/>
                </a:lnTo>
                <a:lnTo>
                  <a:pt x="4500" y="6195"/>
                </a:lnTo>
                <a:lnTo>
                  <a:pt x="4600" y="4455"/>
                </a:lnTo>
                <a:lnTo>
                  <a:pt x="4700" y="3391"/>
                </a:lnTo>
                <a:lnTo>
                  <a:pt x="4800" y="3532"/>
                </a:lnTo>
                <a:lnTo>
                  <a:pt x="4900" y="3841"/>
                </a:lnTo>
                <a:lnTo>
                  <a:pt x="5000" y="3534"/>
                </a:lnTo>
                <a:lnTo>
                  <a:pt x="5100" y="3266"/>
                </a:lnTo>
                <a:lnTo>
                  <a:pt x="5200" y="3698"/>
                </a:lnTo>
                <a:lnTo>
                  <a:pt x="5300" y="4058"/>
                </a:lnTo>
                <a:lnTo>
                  <a:pt x="5400" y="3328"/>
                </a:lnTo>
                <a:lnTo>
                  <a:pt x="5500" y="2041"/>
                </a:lnTo>
                <a:lnTo>
                  <a:pt x="5600" y="1551"/>
                </a:lnTo>
                <a:lnTo>
                  <a:pt x="5700" y="1976"/>
                </a:lnTo>
                <a:lnTo>
                  <a:pt x="5800" y="2304"/>
                </a:lnTo>
                <a:lnTo>
                  <a:pt x="5900" y="2362"/>
                </a:lnTo>
                <a:lnTo>
                  <a:pt x="6000" y="3128"/>
                </a:lnTo>
                <a:lnTo>
                  <a:pt x="6100" y="4827"/>
                </a:lnTo>
                <a:lnTo>
                  <a:pt x="6200" y="6212"/>
                </a:lnTo>
                <a:lnTo>
                  <a:pt x="6300" y="6383"/>
                </a:lnTo>
                <a:lnTo>
                  <a:pt x="6400" y="6096"/>
                </a:lnTo>
                <a:lnTo>
                  <a:pt x="6500" y="6343"/>
                </a:lnTo>
                <a:lnTo>
                  <a:pt x="6600" y="6722"/>
                </a:lnTo>
                <a:lnTo>
                  <a:pt x="6700" y="6390"/>
                </a:lnTo>
                <a:lnTo>
                  <a:pt x="6800" y="5839"/>
                </a:lnTo>
                <a:lnTo>
                  <a:pt x="6900" y="6264"/>
                </a:lnTo>
                <a:lnTo>
                  <a:pt x="7000" y="7543"/>
                </a:lnTo>
                <a:lnTo>
                  <a:pt x="7100" y="8327"/>
                </a:lnTo>
                <a:lnTo>
                  <a:pt x="7200" y="8129"/>
                </a:lnTo>
                <a:lnTo>
                  <a:pt x="7300" y="7843"/>
                </a:lnTo>
                <a:lnTo>
                  <a:pt x="7400" y="7919"/>
                </a:lnTo>
                <a:lnTo>
                  <a:pt x="7500" y="7470"/>
                </a:lnTo>
                <a:lnTo>
                  <a:pt x="7600" y="5926"/>
                </a:lnTo>
                <a:lnTo>
                  <a:pt x="7700" y="4305"/>
                </a:lnTo>
                <a:lnTo>
                  <a:pt x="7800" y="3794"/>
                </a:lnTo>
                <a:lnTo>
                  <a:pt x="7900" y="3994"/>
                </a:lnTo>
                <a:lnTo>
                  <a:pt x="8000" y="3801"/>
                </a:lnTo>
                <a:lnTo>
                  <a:pt x="8100" y="3326"/>
                </a:lnTo>
                <a:lnTo>
                  <a:pt x="8200" y="3505"/>
                </a:lnTo>
                <a:lnTo>
                  <a:pt x="8300" y="4174"/>
                </a:lnTo>
                <a:lnTo>
                  <a:pt x="8400" y="4077"/>
                </a:lnTo>
                <a:lnTo>
                  <a:pt x="8500" y="2914"/>
                </a:lnTo>
                <a:lnTo>
                  <a:pt x="8600" y="1901"/>
                </a:lnTo>
                <a:lnTo>
                  <a:pt x="8700" y="1854"/>
                </a:lnTo>
                <a:lnTo>
                  <a:pt x="8800" y="2084"/>
                </a:lnTo>
                <a:lnTo>
                  <a:pt x="8900" y="1909"/>
                </a:lnTo>
                <a:lnTo>
                  <a:pt x="9000" y="2038"/>
                </a:lnTo>
                <a:lnTo>
                  <a:pt x="9100" y="3326"/>
                </a:lnTo>
                <a:lnTo>
                  <a:pt x="9200" y="5075"/>
                </a:lnTo>
                <a:lnTo>
                  <a:pt x="9300" y="5923"/>
                </a:lnTo>
                <a:lnTo>
                  <a:pt x="9400" y="5872"/>
                </a:lnTo>
                <a:lnTo>
                  <a:pt x="9500" y="6024"/>
                </a:lnTo>
                <a:lnTo>
                  <a:pt x="9600" y="6575"/>
                </a:lnTo>
                <a:lnTo>
                  <a:pt x="9700" y="6588"/>
                </a:lnTo>
                <a:lnTo>
                  <a:pt x="9800" y="5889"/>
                </a:lnTo>
                <a:lnTo>
                  <a:pt x="9900" y="5669"/>
                </a:lnTo>
                <a:lnTo>
                  <a:pt x="10000" y="6621"/>
                </a:lnTo>
              </a:path>
            </a:pathLst>
          </a:custGeom>
          <a:noFill/>
          <a:ln w="57150" cap="rnd" cmpd="sng">
            <a:solidFill>
              <a:srgbClr val="FF0000"/>
            </a:solidFill>
            <a:prstDash val="solid"/>
            <a:round/>
          </a:ln>
        </p:spPr>
        <p:txBody>
          <a:bodyPr/>
          <a:lstStyle/>
          <a:p>
            <a:endParaRPr lang="en-AU"/>
          </a:p>
        </p:txBody>
      </p:sp>
      <p:sp>
        <p:nvSpPr>
          <p:cNvPr id="19" name="Google Shape;43;p5">
            <a:extLst>
              <a:ext uri="{FF2B5EF4-FFF2-40B4-BE49-F238E27FC236}">
                <a16:creationId xmlns:a16="http://schemas.microsoft.com/office/drawing/2014/main" id="{E7D0A661-4652-AFAE-06D5-E9C16E364B8F}"/>
              </a:ext>
            </a:extLst>
          </p:cNvPr>
          <p:cNvSpPr txBox="1"/>
          <p:nvPr/>
        </p:nvSpPr>
        <p:spPr>
          <a:xfrm>
            <a:off x="17238776" y="1037242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dirty="0">
                <a:solidFill>
                  <a:srgbClr val="0A4D81"/>
                </a:solidFill>
                <a:latin typeface="Montserrat"/>
                <a:ea typeface="Montserrat"/>
                <a:cs typeface="Montserrat"/>
                <a:sym typeface="Montserrat"/>
              </a:rPr>
              <a:t>STACKQL&gt;&gt;</a:t>
            </a:r>
            <a:endParaRPr sz="1800" dirty="0">
              <a:solidFill>
                <a:srgbClr val="0A4D8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0">
          <a:extLst>
            <a:ext uri="{FF2B5EF4-FFF2-40B4-BE49-F238E27FC236}">
              <a16:creationId xmlns:a16="http://schemas.microsoft.com/office/drawing/2014/main" id="{C483721A-CBC4-F4C4-AE28-A06D701A01A9}"/>
            </a:ext>
          </a:extLst>
        </p:cNvPr>
        <p:cNvGrpSpPr/>
        <p:nvPr/>
      </p:nvGrpSpPr>
      <p:grpSpPr>
        <a:xfrm>
          <a:off x="0" y="0"/>
          <a:ext cx="0" cy="0"/>
          <a:chOff x="0" y="0"/>
          <a:chExt cx="0" cy="0"/>
        </a:xfrm>
      </p:grpSpPr>
      <p:sp>
        <p:nvSpPr>
          <p:cNvPr id="22" name="Google Shape;22;p3">
            <a:extLst>
              <a:ext uri="{FF2B5EF4-FFF2-40B4-BE49-F238E27FC236}">
                <a16:creationId xmlns:a16="http://schemas.microsoft.com/office/drawing/2014/main" id="{F863E6CD-8776-2DCB-F511-F35D4040DB5A}"/>
              </a:ext>
            </a:extLst>
          </p:cNvPr>
          <p:cNvSpPr/>
          <p:nvPr/>
        </p:nvSpPr>
        <p:spPr>
          <a:xfrm>
            <a:off x="16407775" y="10448700"/>
            <a:ext cx="3444000" cy="450600"/>
          </a:xfrm>
          <a:prstGeom prst="rect">
            <a:avLst/>
          </a:prstGeom>
          <a:noFill/>
          <a:ln>
            <a:noFill/>
          </a:ln>
        </p:spPr>
        <p:txBody>
          <a:bodyPr spcFirstLastPara="1" wrap="square" lIns="0" tIns="0" rIns="0" bIns="0" anchor="ctr" anchorCtr="0">
            <a:noAutofit/>
          </a:bodyPr>
          <a:lstStyle/>
          <a:p>
            <a:pPr marL="0" lvl="0" indent="0" algn="ctr" rtl="0">
              <a:lnSpc>
                <a:spcPct val="110700"/>
              </a:lnSpc>
              <a:spcBef>
                <a:spcPts val="0"/>
              </a:spcBef>
              <a:spcAft>
                <a:spcPts val="0"/>
              </a:spcAft>
              <a:buNone/>
            </a:pPr>
            <a:r>
              <a:rPr lang="en-US" sz="3800" b="1">
                <a:solidFill>
                  <a:schemeClr val="lt1"/>
                </a:solidFill>
                <a:latin typeface="Montserrat"/>
                <a:ea typeface="Montserrat"/>
                <a:cs typeface="Montserrat"/>
                <a:sym typeface="Montserrat"/>
              </a:rPr>
              <a:t>STACKQL&gt;&gt;</a:t>
            </a:r>
            <a:endParaRPr sz="3800">
              <a:solidFill>
                <a:schemeClr val="lt1"/>
              </a:solidFill>
            </a:endParaRPr>
          </a:p>
        </p:txBody>
      </p:sp>
      <p:sp>
        <p:nvSpPr>
          <p:cNvPr id="2" name="Google Shape;85;p8">
            <a:extLst>
              <a:ext uri="{FF2B5EF4-FFF2-40B4-BE49-F238E27FC236}">
                <a16:creationId xmlns:a16="http://schemas.microsoft.com/office/drawing/2014/main" id="{CCAA324A-2A6D-D8F3-1575-5EE513838572}"/>
              </a:ext>
            </a:extLst>
          </p:cNvPr>
          <p:cNvSpPr txBox="1"/>
          <p:nvPr/>
        </p:nvSpPr>
        <p:spPr>
          <a:xfrm>
            <a:off x="2074047" y="4922313"/>
            <a:ext cx="15280500" cy="5925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3850" b="1">
                <a:solidFill>
                  <a:srgbClr val="3FAC92"/>
                </a:solidFill>
                <a:latin typeface="Montserrat"/>
                <a:ea typeface="Montserrat"/>
                <a:cs typeface="Montserrat"/>
                <a:sym typeface="Montserrat"/>
              </a:rPr>
              <a:t>WHERE THE MODEL SHOWS IT’S AGE</a:t>
            </a:r>
            <a:endParaRPr sz="100"/>
          </a:p>
        </p:txBody>
      </p:sp>
      <p:sp>
        <p:nvSpPr>
          <p:cNvPr id="3" name="Google Shape;86;p8">
            <a:extLst>
              <a:ext uri="{FF2B5EF4-FFF2-40B4-BE49-F238E27FC236}">
                <a16:creationId xmlns:a16="http://schemas.microsoft.com/office/drawing/2014/main" id="{F9CC73D2-3FDB-5589-4685-D2B842D9ECC6}"/>
              </a:ext>
            </a:extLst>
          </p:cNvPr>
          <p:cNvSpPr/>
          <p:nvPr/>
        </p:nvSpPr>
        <p:spPr>
          <a:xfrm>
            <a:off x="2074050" y="1803444"/>
            <a:ext cx="14801700" cy="2465400"/>
          </a:xfrm>
          <a:prstGeom prst="rect">
            <a:avLst/>
          </a:prstGeom>
          <a:noFill/>
          <a:ln>
            <a:noFill/>
          </a:ln>
        </p:spPr>
        <p:txBody>
          <a:bodyPr spcFirstLastPara="1" wrap="square" lIns="0" tIns="0" rIns="0" bIns="0" anchor="ctr" anchorCtr="0">
            <a:noAutofit/>
          </a:bodyPr>
          <a:lstStyle/>
          <a:p>
            <a:pPr marL="0" lvl="0" indent="0" algn="l" rtl="0">
              <a:lnSpc>
                <a:spcPct val="110700"/>
              </a:lnSpc>
              <a:spcBef>
                <a:spcPts val="0"/>
              </a:spcBef>
              <a:spcAft>
                <a:spcPts val="0"/>
              </a:spcAft>
              <a:buNone/>
            </a:pPr>
            <a:r>
              <a:rPr lang="en-US" sz="7650" b="1" dirty="0">
                <a:solidFill>
                  <a:schemeClr val="lt1"/>
                </a:solidFill>
                <a:latin typeface="Montserrat"/>
                <a:ea typeface="Montserrat"/>
                <a:cs typeface="Montserrat"/>
                <a:sym typeface="Montserrat"/>
              </a:rPr>
              <a:t>WHERE THE MODEL STRAINS</a:t>
            </a:r>
            <a:endParaRPr sz="7650" b="1" dirty="0">
              <a:solidFill>
                <a:schemeClr val="lt1"/>
              </a:solidFill>
              <a:latin typeface="Montserrat"/>
              <a:ea typeface="Montserrat"/>
              <a:cs typeface="Montserrat"/>
              <a:sym typeface="Montserrat"/>
            </a:endParaRPr>
          </a:p>
        </p:txBody>
      </p:sp>
      <p:cxnSp>
        <p:nvCxnSpPr>
          <p:cNvPr id="4" name="Google Shape;87;p8">
            <a:extLst>
              <a:ext uri="{FF2B5EF4-FFF2-40B4-BE49-F238E27FC236}">
                <a16:creationId xmlns:a16="http://schemas.microsoft.com/office/drawing/2014/main" id="{C9466F12-774A-036C-030C-1A58128AC84C}"/>
              </a:ext>
            </a:extLst>
          </p:cNvPr>
          <p:cNvCxnSpPr/>
          <p:nvPr/>
        </p:nvCxnSpPr>
        <p:spPr>
          <a:xfrm>
            <a:off x="2074050" y="4466475"/>
            <a:ext cx="10301400" cy="1500"/>
          </a:xfrm>
          <a:prstGeom prst="straightConnector1">
            <a:avLst/>
          </a:prstGeom>
          <a:noFill/>
          <a:ln w="76200" cap="flat" cmpd="sng">
            <a:solidFill>
              <a:srgbClr val="3FAC92"/>
            </a:solidFill>
            <a:prstDash val="solid"/>
            <a:round/>
            <a:headEnd type="none" w="med" len="med"/>
            <a:tailEnd type="none" w="med" len="med"/>
          </a:ln>
        </p:spPr>
      </p:cxnSp>
      <p:grpSp>
        <p:nvGrpSpPr>
          <p:cNvPr id="5" name="Google Shape;90;p8">
            <a:extLst>
              <a:ext uri="{FF2B5EF4-FFF2-40B4-BE49-F238E27FC236}">
                <a16:creationId xmlns:a16="http://schemas.microsoft.com/office/drawing/2014/main" id="{14C3BE14-8AEA-15B4-085C-BFD6CC768E07}"/>
              </a:ext>
            </a:extLst>
          </p:cNvPr>
          <p:cNvGrpSpPr/>
          <p:nvPr/>
        </p:nvGrpSpPr>
        <p:grpSpPr>
          <a:xfrm>
            <a:off x="2157075" y="5969175"/>
            <a:ext cx="3689400" cy="665700"/>
            <a:chOff x="530425" y="6494050"/>
            <a:chExt cx="3689400" cy="665700"/>
          </a:xfrm>
        </p:grpSpPr>
        <p:sp>
          <p:nvSpPr>
            <p:cNvPr id="6" name="Google Shape;91;p8">
              <a:extLst>
                <a:ext uri="{FF2B5EF4-FFF2-40B4-BE49-F238E27FC236}">
                  <a16:creationId xmlns:a16="http://schemas.microsoft.com/office/drawing/2014/main" id="{EC61B803-2C6D-F448-C616-3AF7EE20D4C7}"/>
                </a:ext>
              </a:extLst>
            </p:cNvPr>
            <p:cNvSpPr/>
            <p:nvPr/>
          </p:nvSpPr>
          <p:spPr>
            <a:xfrm>
              <a:off x="530425" y="6494050"/>
              <a:ext cx="36894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7" name="Google Shape;92;p8">
              <a:extLst>
                <a:ext uri="{FF2B5EF4-FFF2-40B4-BE49-F238E27FC236}">
                  <a16:creationId xmlns:a16="http://schemas.microsoft.com/office/drawing/2014/main" id="{188F2A25-8971-D460-DEC3-AFE0EC079AE2}"/>
                </a:ext>
              </a:extLst>
            </p:cNvPr>
            <p:cNvSpPr txBox="1"/>
            <p:nvPr/>
          </p:nvSpPr>
          <p:spPr>
            <a:xfrm>
              <a:off x="707219" y="6596050"/>
              <a:ext cx="33594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01 - SINGLE WRITERS</a:t>
              </a:r>
              <a:endParaRPr sz="2400"/>
            </a:p>
          </p:txBody>
        </p:sp>
      </p:grpSp>
      <p:grpSp>
        <p:nvGrpSpPr>
          <p:cNvPr id="8" name="Google Shape;93;p8">
            <a:extLst>
              <a:ext uri="{FF2B5EF4-FFF2-40B4-BE49-F238E27FC236}">
                <a16:creationId xmlns:a16="http://schemas.microsoft.com/office/drawing/2014/main" id="{D0F5C771-49AC-B3E6-CD4A-1BA1721A8AD8}"/>
              </a:ext>
            </a:extLst>
          </p:cNvPr>
          <p:cNvGrpSpPr/>
          <p:nvPr/>
        </p:nvGrpSpPr>
        <p:grpSpPr>
          <a:xfrm>
            <a:off x="6200075" y="5969175"/>
            <a:ext cx="3689400" cy="665700"/>
            <a:chOff x="542225" y="7530475"/>
            <a:chExt cx="3689400" cy="665700"/>
          </a:xfrm>
        </p:grpSpPr>
        <p:sp>
          <p:nvSpPr>
            <p:cNvPr id="9" name="Google Shape;94;p8">
              <a:extLst>
                <a:ext uri="{FF2B5EF4-FFF2-40B4-BE49-F238E27FC236}">
                  <a16:creationId xmlns:a16="http://schemas.microsoft.com/office/drawing/2014/main" id="{31DED3D6-BD17-77A5-87CF-2AB6F2A8D2C5}"/>
                </a:ext>
              </a:extLst>
            </p:cNvPr>
            <p:cNvSpPr/>
            <p:nvPr/>
          </p:nvSpPr>
          <p:spPr>
            <a:xfrm>
              <a:off x="542225" y="7530475"/>
              <a:ext cx="36894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0" name="Google Shape;95;p8">
              <a:extLst>
                <a:ext uri="{FF2B5EF4-FFF2-40B4-BE49-F238E27FC236}">
                  <a16:creationId xmlns:a16="http://schemas.microsoft.com/office/drawing/2014/main" id="{FA200741-5125-310C-A795-A1854B5973D5}"/>
                </a:ext>
              </a:extLst>
            </p:cNvPr>
            <p:cNvSpPr txBox="1"/>
            <p:nvPr/>
          </p:nvSpPr>
          <p:spPr>
            <a:xfrm>
              <a:off x="595264" y="7632475"/>
              <a:ext cx="36009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02 - HUMAN CENTRIC</a:t>
              </a:r>
              <a:endParaRPr sz="2400"/>
            </a:p>
          </p:txBody>
        </p:sp>
      </p:grpSp>
      <p:grpSp>
        <p:nvGrpSpPr>
          <p:cNvPr id="11" name="Google Shape;96;p8">
            <a:extLst>
              <a:ext uri="{FF2B5EF4-FFF2-40B4-BE49-F238E27FC236}">
                <a16:creationId xmlns:a16="http://schemas.microsoft.com/office/drawing/2014/main" id="{727BE3F5-F3D7-CCCD-DDE8-669EBA7E4032}"/>
              </a:ext>
            </a:extLst>
          </p:cNvPr>
          <p:cNvGrpSpPr/>
          <p:nvPr/>
        </p:nvGrpSpPr>
        <p:grpSpPr>
          <a:xfrm>
            <a:off x="10243075" y="5969175"/>
            <a:ext cx="3689400" cy="665700"/>
            <a:chOff x="595275" y="8668900"/>
            <a:chExt cx="3689400" cy="665700"/>
          </a:xfrm>
        </p:grpSpPr>
        <p:sp>
          <p:nvSpPr>
            <p:cNvPr id="12" name="Google Shape;97;p8">
              <a:extLst>
                <a:ext uri="{FF2B5EF4-FFF2-40B4-BE49-F238E27FC236}">
                  <a16:creationId xmlns:a16="http://schemas.microsoft.com/office/drawing/2014/main" id="{BA27BE88-1CF4-3E89-5B40-07A6A1F54ADB}"/>
                </a:ext>
              </a:extLst>
            </p:cNvPr>
            <p:cNvSpPr/>
            <p:nvPr/>
          </p:nvSpPr>
          <p:spPr>
            <a:xfrm>
              <a:off x="595275" y="8668900"/>
              <a:ext cx="36894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 name="Google Shape;98;p8">
              <a:extLst>
                <a:ext uri="{FF2B5EF4-FFF2-40B4-BE49-F238E27FC236}">
                  <a16:creationId xmlns:a16="http://schemas.microsoft.com/office/drawing/2014/main" id="{E0C1E4D5-B5EF-EB79-B8C3-F1273ABA1DEA}"/>
                </a:ext>
              </a:extLst>
            </p:cNvPr>
            <p:cNvSpPr txBox="1"/>
            <p:nvPr/>
          </p:nvSpPr>
          <p:spPr>
            <a:xfrm>
              <a:off x="630633" y="8753219"/>
              <a:ext cx="36009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03 - OPINIONATED</a:t>
              </a:r>
              <a:endParaRPr sz="2400"/>
            </a:p>
          </p:txBody>
        </p:sp>
      </p:grpSp>
      <p:grpSp>
        <p:nvGrpSpPr>
          <p:cNvPr id="14" name="Google Shape;99;p8">
            <a:extLst>
              <a:ext uri="{FF2B5EF4-FFF2-40B4-BE49-F238E27FC236}">
                <a16:creationId xmlns:a16="http://schemas.microsoft.com/office/drawing/2014/main" id="{913559D6-A10A-9BA3-074D-011AEFC3A156}"/>
              </a:ext>
            </a:extLst>
          </p:cNvPr>
          <p:cNvGrpSpPr/>
          <p:nvPr/>
        </p:nvGrpSpPr>
        <p:grpSpPr>
          <a:xfrm>
            <a:off x="14286075" y="5969175"/>
            <a:ext cx="3689400" cy="665700"/>
            <a:chOff x="595275" y="8668900"/>
            <a:chExt cx="3689400" cy="665700"/>
          </a:xfrm>
        </p:grpSpPr>
        <p:sp>
          <p:nvSpPr>
            <p:cNvPr id="15" name="Google Shape;100;p8">
              <a:extLst>
                <a:ext uri="{FF2B5EF4-FFF2-40B4-BE49-F238E27FC236}">
                  <a16:creationId xmlns:a16="http://schemas.microsoft.com/office/drawing/2014/main" id="{5B817A84-65A0-4916-2D8D-918C1CB64488}"/>
                </a:ext>
              </a:extLst>
            </p:cNvPr>
            <p:cNvSpPr/>
            <p:nvPr/>
          </p:nvSpPr>
          <p:spPr>
            <a:xfrm>
              <a:off x="595275" y="8668900"/>
              <a:ext cx="36894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 name="Google Shape;101;p8">
              <a:extLst>
                <a:ext uri="{FF2B5EF4-FFF2-40B4-BE49-F238E27FC236}">
                  <a16:creationId xmlns:a16="http://schemas.microsoft.com/office/drawing/2014/main" id="{A5978758-A3DE-A9F5-0E04-5C76EA3F96DC}"/>
                </a:ext>
              </a:extLst>
            </p:cNvPr>
            <p:cNvSpPr txBox="1"/>
            <p:nvPr/>
          </p:nvSpPr>
          <p:spPr>
            <a:xfrm>
              <a:off x="630633" y="8753219"/>
              <a:ext cx="36009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04 - BOUNDED</a:t>
              </a:r>
              <a:endParaRPr sz="2400"/>
            </a:p>
          </p:txBody>
        </p:sp>
      </p:grpSp>
    </p:spTree>
    <p:extLst>
      <p:ext uri="{BB962C8B-B14F-4D97-AF65-F5344CB8AC3E}">
        <p14:creationId xmlns:p14="http://schemas.microsoft.com/office/powerpoint/2010/main" val="2929598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9"/>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01</a:t>
            </a:r>
            <a:endParaRPr>
              <a:solidFill>
                <a:srgbClr val="3FAC92"/>
              </a:solidFill>
            </a:endParaRPr>
          </a:p>
        </p:txBody>
      </p:sp>
      <p:sp>
        <p:nvSpPr>
          <p:cNvPr id="108" name="Google Shape;108;p9"/>
          <p:cNvSpPr txBox="1"/>
          <p:nvPr/>
        </p:nvSpPr>
        <p:spPr>
          <a:xfrm>
            <a:off x="705026" y="3350425"/>
            <a:ext cx="99147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State files cache what one tool did.</a:t>
            </a:r>
            <a:endParaRPr sz="4200"/>
          </a:p>
        </p:txBody>
      </p:sp>
      <p:sp>
        <p:nvSpPr>
          <p:cNvPr id="109" name="Google Shape;109;p9"/>
          <p:cNvSpPr txBox="1"/>
          <p:nvPr/>
        </p:nvSpPr>
        <p:spPr>
          <a:xfrm>
            <a:off x="705026" y="4139550"/>
            <a:ext cx="10332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They represent intent, not reality.</a:t>
            </a:r>
            <a:endParaRPr sz="4200"/>
          </a:p>
        </p:txBody>
      </p:sp>
      <p:sp>
        <p:nvSpPr>
          <p:cNvPr id="110" name="Google Shape;110;p9"/>
          <p:cNvSpPr txBox="1"/>
          <p:nvPr/>
        </p:nvSpPr>
        <p:spPr>
          <a:xfrm>
            <a:off x="759427" y="4928675"/>
            <a:ext cx="87705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Multiple actors, no shared truth.</a:t>
            </a:r>
            <a:endParaRPr sz="4200">
              <a:solidFill>
                <a:srgbClr val="0A4D81"/>
              </a:solidFill>
              <a:latin typeface="Montserrat Medium"/>
              <a:ea typeface="Montserrat Medium"/>
              <a:cs typeface="Montserrat Medium"/>
              <a:sym typeface="Montserrat Medium"/>
            </a:endParaRPr>
          </a:p>
        </p:txBody>
      </p:sp>
      <p:sp>
        <p:nvSpPr>
          <p:cNvPr id="111" name="Google Shape;111;p9"/>
          <p:cNvSpPr txBox="1"/>
          <p:nvPr/>
        </p:nvSpPr>
        <p:spPr>
          <a:xfrm>
            <a:off x="759418" y="10301700"/>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112" name="Google Shape;112;p9"/>
          <p:cNvSpPr txBox="1"/>
          <p:nvPr/>
        </p:nvSpPr>
        <p:spPr>
          <a:xfrm>
            <a:off x="759424" y="1705225"/>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SINGLE-WRITER STATE</a:t>
            </a:r>
            <a:endParaRPr/>
          </a:p>
        </p:txBody>
      </p:sp>
      <p:pic>
        <p:nvPicPr>
          <p:cNvPr id="113" name="Google Shape;113;p9" title="multiple-writers.png"/>
          <p:cNvPicPr preferRelativeResize="0"/>
          <p:nvPr/>
        </p:nvPicPr>
        <p:blipFill>
          <a:blip r:embed="rId3">
            <a:alphaModFix/>
          </a:blip>
          <a:stretch>
            <a:fillRect/>
          </a:stretch>
        </p:blipFill>
        <p:spPr>
          <a:xfrm>
            <a:off x="10619726" y="2416600"/>
            <a:ext cx="8774374" cy="726627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0"/>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02</a:t>
            </a:r>
            <a:endParaRPr>
              <a:solidFill>
                <a:srgbClr val="3FAC92"/>
              </a:solidFill>
            </a:endParaRPr>
          </a:p>
        </p:txBody>
      </p:sp>
      <p:sp>
        <p:nvSpPr>
          <p:cNvPr id="119" name="Google Shape;119;p10"/>
          <p:cNvSpPr txBox="1"/>
          <p:nvPr/>
        </p:nvSpPr>
        <p:spPr>
          <a:xfrm>
            <a:off x="705027" y="3350425"/>
            <a:ext cx="12891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The review cycle is the safety mechanism.</a:t>
            </a:r>
            <a:endParaRPr sz="4200"/>
          </a:p>
        </p:txBody>
      </p:sp>
      <p:sp>
        <p:nvSpPr>
          <p:cNvPr id="120" name="Google Shape;120;p10"/>
          <p:cNvSpPr txBox="1"/>
          <p:nvPr/>
        </p:nvSpPr>
        <p:spPr>
          <a:xfrm>
            <a:off x="705027" y="4139550"/>
            <a:ext cx="124719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Agents operate outside the loop.</a:t>
            </a:r>
            <a:endParaRPr sz="4200"/>
          </a:p>
        </p:txBody>
      </p:sp>
      <p:sp>
        <p:nvSpPr>
          <p:cNvPr id="121" name="Google Shape;121;p10"/>
          <p:cNvSpPr txBox="1"/>
          <p:nvPr/>
        </p:nvSpPr>
        <p:spPr>
          <a:xfrm>
            <a:off x="759427" y="4928675"/>
            <a:ext cx="152418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Safety can't depend on humans.</a:t>
            </a:r>
            <a:endParaRPr sz="4200"/>
          </a:p>
        </p:txBody>
      </p:sp>
      <p:sp>
        <p:nvSpPr>
          <p:cNvPr id="122" name="Google Shape;122;p10"/>
          <p:cNvSpPr txBox="1"/>
          <p:nvPr/>
        </p:nvSpPr>
        <p:spPr>
          <a:xfrm>
            <a:off x="759427" y="1705225"/>
            <a:ext cx="152418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PLAN AND APPLY EXPECTS A HUMAN</a:t>
            </a:r>
            <a:endParaRPr/>
          </a:p>
        </p:txBody>
      </p:sp>
      <p:pic>
        <p:nvPicPr>
          <p:cNvPr id="123" name="Google Shape;123;p10" title="human-iac-plan.png"/>
          <p:cNvPicPr preferRelativeResize="0"/>
          <p:nvPr/>
        </p:nvPicPr>
        <p:blipFill>
          <a:blip r:embed="rId3">
            <a:alphaModFix/>
          </a:blip>
          <a:stretch>
            <a:fillRect/>
          </a:stretch>
        </p:blipFill>
        <p:spPr>
          <a:xfrm>
            <a:off x="12599675" y="3350425"/>
            <a:ext cx="6970798" cy="5435725"/>
          </a:xfrm>
          <a:prstGeom prst="rect">
            <a:avLst/>
          </a:prstGeom>
          <a:noFill/>
          <a:ln>
            <a:noFill/>
          </a:ln>
        </p:spPr>
      </p:pic>
      <p:sp>
        <p:nvSpPr>
          <p:cNvPr id="125" name="Google Shape;125;p10"/>
          <p:cNvSpPr txBox="1"/>
          <p:nvPr/>
        </p:nvSpPr>
        <p:spPr>
          <a:xfrm>
            <a:off x="759418" y="10301700"/>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11" title="mermaid-diagram-2026-05-13-122018.png"/>
          <p:cNvPicPr preferRelativeResize="0"/>
          <p:nvPr/>
        </p:nvPicPr>
        <p:blipFill>
          <a:blip r:embed="rId3">
            <a:alphaModFix/>
          </a:blip>
          <a:stretch>
            <a:fillRect/>
          </a:stretch>
        </p:blipFill>
        <p:spPr>
          <a:xfrm>
            <a:off x="11658475" y="5327689"/>
            <a:ext cx="8003139" cy="5435725"/>
          </a:xfrm>
          <a:prstGeom prst="rect">
            <a:avLst/>
          </a:prstGeom>
          <a:noFill/>
          <a:ln>
            <a:noFill/>
          </a:ln>
        </p:spPr>
      </p:pic>
      <p:sp>
        <p:nvSpPr>
          <p:cNvPr id="131" name="Google Shape;131;p11"/>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03</a:t>
            </a:r>
            <a:endParaRPr>
              <a:solidFill>
                <a:srgbClr val="3FAC92"/>
              </a:solidFill>
            </a:endParaRPr>
          </a:p>
        </p:txBody>
      </p:sp>
      <p:sp>
        <p:nvSpPr>
          <p:cNvPr id="132" name="Google Shape;132;p11"/>
          <p:cNvSpPr txBox="1"/>
          <p:nvPr/>
        </p:nvSpPr>
        <p:spPr>
          <a:xfrm>
            <a:off x="705027" y="3350425"/>
            <a:ext cx="12891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Multiple services, multiple ecosystems.</a:t>
            </a:r>
            <a:endParaRPr sz="4200"/>
          </a:p>
        </p:txBody>
      </p:sp>
      <p:sp>
        <p:nvSpPr>
          <p:cNvPr id="133" name="Google Shape;133;p11"/>
          <p:cNvSpPr txBox="1"/>
          <p:nvPr/>
        </p:nvSpPr>
        <p:spPr>
          <a:xfrm>
            <a:off x="705027" y="4139550"/>
            <a:ext cx="124719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Each abstraction is a new surface.</a:t>
            </a:r>
            <a:endParaRPr sz="4200"/>
          </a:p>
        </p:txBody>
      </p:sp>
      <p:sp>
        <p:nvSpPr>
          <p:cNvPr id="134" name="Google Shape;134;p11"/>
          <p:cNvSpPr txBox="1"/>
          <p:nvPr/>
        </p:nvSpPr>
        <p:spPr>
          <a:xfrm>
            <a:off x="759427" y="4928675"/>
            <a:ext cx="152418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What helps humans doesn’t always help agents.</a:t>
            </a:r>
            <a:endParaRPr sz="4200"/>
          </a:p>
        </p:txBody>
      </p:sp>
      <p:sp>
        <p:nvSpPr>
          <p:cNvPr id="135" name="Google Shape;135;p11"/>
          <p:cNvSpPr txBox="1"/>
          <p:nvPr/>
        </p:nvSpPr>
        <p:spPr>
          <a:xfrm>
            <a:off x="759427" y="1705225"/>
            <a:ext cx="152418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OPINIONATED ABSTRACTIONS</a:t>
            </a:r>
            <a:endParaRPr/>
          </a:p>
        </p:txBody>
      </p:sp>
      <p:sp>
        <p:nvSpPr>
          <p:cNvPr id="137" name="Google Shape;137;p11"/>
          <p:cNvSpPr txBox="1"/>
          <p:nvPr/>
        </p:nvSpPr>
        <p:spPr>
          <a:xfrm>
            <a:off x="759418" y="10301700"/>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04</a:t>
            </a:r>
            <a:endParaRPr>
              <a:solidFill>
                <a:srgbClr val="3FAC92"/>
              </a:solidFill>
            </a:endParaRPr>
          </a:p>
        </p:txBody>
      </p:sp>
      <p:sp>
        <p:nvSpPr>
          <p:cNvPr id="143" name="Google Shape;143;p12"/>
          <p:cNvSpPr txBox="1"/>
          <p:nvPr/>
        </p:nvSpPr>
        <p:spPr>
          <a:xfrm>
            <a:off x="705025" y="3350425"/>
            <a:ext cx="147657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The control/data split becomes a constraint.</a:t>
            </a:r>
            <a:endParaRPr sz="4200"/>
          </a:p>
        </p:txBody>
      </p:sp>
      <p:sp>
        <p:nvSpPr>
          <p:cNvPr id="144" name="Google Shape;144;p12"/>
          <p:cNvSpPr txBox="1"/>
          <p:nvPr/>
        </p:nvSpPr>
        <p:spPr>
          <a:xfrm>
            <a:off x="705027" y="4139550"/>
            <a:ext cx="124719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Agents need to traverse both.</a:t>
            </a:r>
            <a:endParaRPr sz="4200"/>
          </a:p>
        </p:txBody>
      </p:sp>
      <p:sp>
        <p:nvSpPr>
          <p:cNvPr id="145" name="Google Shape;145;p12"/>
          <p:cNvSpPr txBox="1"/>
          <p:nvPr/>
        </p:nvSpPr>
        <p:spPr>
          <a:xfrm>
            <a:off x="759425" y="4928675"/>
            <a:ext cx="146052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i="1">
                <a:solidFill>
                  <a:srgbClr val="FF0000"/>
                </a:solidFill>
                <a:latin typeface="Montserrat Medium"/>
                <a:ea typeface="Montserrat Medium"/>
                <a:cs typeface="Montserrat Medium"/>
                <a:sym typeface="Montserrat Medium"/>
              </a:rPr>
              <a:t>The control plane and data plane are converging.</a:t>
            </a:r>
            <a:endParaRPr sz="4200" i="1">
              <a:solidFill>
                <a:srgbClr val="FF0000"/>
              </a:solidFill>
            </a:endParaRPr>
          </a:p>
        </p:txBody>
      </p:sp>
      <p:sp>
        <p:nvSpPr>
          <p:cNvPr id="146" name="Google Shape;146;p12"/>
          <p:cNvSpPr txBox="1"/>
          <p:nvPr/>
        </p:nvSpPr>
        <p:spPr>
          <a:xfrm>
            <a:off x="759427" y="1705225"/>
            <a:ext cx="152418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PLANE-BOUNDED</a:t>
            </a:r>
            <a:endParaRPr/>
          </a:p>
        </p:txBody>
      </p:sp>
      <p:sp>
        <p:nvSpPr>
          <p:cNvPr id="148" name="Google Shape;148;p12"/>
          <p:cNvSpPr txBox="1"/>
          <p:nvPr/>
        </p:nvSpPr>
        <p:spPr>
          <a:xfrm>
            <a:off x="759418" y="10301700"/>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pic>
        <p:nvPicPr>
          <p:cNvPr id="149" name="Google Shape;149;p12" title="plane-bounded.png"/>
          <p:cNvPicPr preferRelativeResize="0"/>
          <p:nvPr/>
        </p:nvPicPr>
        <p:blipFill>
          <a:blip r:embed="rId3">
            <a:alphaModFix/>
          </a:blip>
          <a:stretch>
            <a:fillRect/>
          </a:stretch>
        </p:blipFill>
        <p:spPr>
          <a:xfrm>
            <a:off x="2394000" y="7090449"/>
            <a:ext cx="16873574" cy="1944425"/>
          </a:xfrm>
          <a:prstGeom prst="rect">
            <a:avLst/>
          </a:prstGeom>
          <a:noFill/>
          <a:ln>
            <a:noFill/>
          </a:ln>
        </p:spPr>
      </p:pic>
      <p:pic>
        <p:nvPicPr>
          <p:cNvPr id="150" name="Google Shape;150;p12" title="barriers.png"/>
          <p:cNvPicPr preferRelativeResize="0"/>
          <p:nvPr/>
        </p:nvPicPr>
        <p:blipFill>
          <a:blip r:embed="rId4">
            <a:alphaModFix/>
          </a:blip>
          <a:stretch>
            <a:fillRect/>
          </a:stretch>
        </p:blipFill>
        <p:spPr>
          <a:xfrm>
            <a:off x="8957447" y="7267259"/>
            <a:ext cx="1630627" cy="17015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0">
          <a:extLst>
            <a:ext uri="{FF2B5EF4-FFF2-40B4-BE49-F238E27FC236}">
              <a16:creationId xmlns:a16="http://schemas.microsoft.com/office/drawing/2014/main" id="{64BB8670-A9B7-C140-CC3B-36B6F7DF0386}"/>
            </a:ext>
          </a:extLst>
        </p:cNvPr>
        <p:cNvGrpSpPr/>
        <p:nvPr/>
      </p:nvGrpSpPr>
      <p:grpSpPr>
        <a:xfrm>
          <a:off x="0" y="0"/>
          <a:ext cx="0" cy="0"/>
          <a:chOff x="0" y="0"/>
          <a:chExt cx="0" cy="0"/>
        </a:xfrm>
      </p:grpSpPr>
      <p:sp>
        <p:nvSpPr>
          <p:cNvPr id="22" name="Google Shape;22;p3">
            <a:extLst>
              <a:ext uri="{FF2B5EF4-FFF2-40B4-BE49-F238E27FC236}">
                <a16:creationId xmlns:a16="http://schemas.microsoft.com/office/drawing/2014/main" id="{2ABF55F2-655C-A4C3-996A-40D4884EFAB7}"/>
              </a:ext>
            </a:extLst>
          </p:cNvPr>
          <p:cNvSpPr/>
          <p:nvPr/>
        </p:nvSpPr>
        <p:spPr>
          <a:xfrm>
            <a:off x="16407775" y="10448700"/>
            <a:ext cx="3444000" cy="450600"/>
          </a:xfrm>
          <a:prstGeom prst="rect">
            <a:avLst/>
          </a:prstGeom>
          <a:noFill/>
          <a:ln>
            <a:noFill/>
          </a:ln>
        </p:spPr>
        <p:txBody>
          <a:bodyPr spcFirstLastPara="1" wrap="square" lIns="0" tIns="0" rIns="0" bIns="0" anchor="ctr" anchorCtr="0">
            <a:noAutofit/>
          </a:bodyPr>
          <a:lstStyle/>
          <a:p>
            <a:pPr marL="0" lvl="0" indent="0" algn="ctr" rtl="0">
              <a:lnSpc>
                <a:spcPct val="110700"/>
              </a:lnSpc>
              <a:spcBef>
                <a:spcPts val="0"/>
              </a:spcBef>
              <a:spcAft>
                <a:spcPts val="0"/>
              </a:spcAft>
              <a:buNone/>
            </a:pPr>
            <a:r>
              <a:rPr lang="en-US" sz="3800" b="1">
                <a:solidFill>
                  <a:schemeClr val="lt1"/>
                </a:solidFill>
                <a:latin typeface="Montserrat"/>
                <a:ea typeface="Montserrat"/>
                <a:cs typeface="Montserrat"/>
                <a:sym typeface="Montserrat"/>
              </a:rPr>
              <a:t>STACKQL&gt;&gt;</a:t>
            </a:r>
            <a:endParaRPr sz="3800">
              <a:solidFill>
                <a:schemeClr val="lt1"/>
              </a:solidFill>
            </a:endParaRPr>
          </a:p>
        </p:txBody>
      </p:sp>
      <p:sp>
        <p:nvSpPr>
          <p:cNvPr id="17" name="Google Shape;155;p13">
            <a:extLst>
              <a:ext uri="{FF2B5EF4-FFF2-40B4-BE49-F238E27FC236}">
                <a16:creationId xmlns:a16="http://schemas.microsoft.com/office/drawing/2014/main" id="{B78E1C3E-4958-5B40-1863-C66B5090DFD7}"/>
              </a:ext>
            </a:extLst>
          </p:cNvPr>
          <p:cNvSpPr/>
          <p:nvPr/>
        </p:nvSpPr>
        <p:spPr>
          <a:xfrm>
            <a:off x="2074050" y="1803444"/>
            <a:ext cx="14801700" cy="2465400"/>
          </a:xfrm>
          <a:prstGeom prst="rect">
            <a:avLst/>
          </a:prstGeom>
          <a:noFill/>
          <a:ln>
            <a:noFill/>
          </a:ln>
        </p:spPr>
        <p:txBody>
          <a:bodyPr spcFirstLastPara="1" wrap="square" lIns="0" tIns="0" rIns="0" bIns="0" anchor="ctr" anchorCtr="0">
            <a:noAutofit/>
          </a:bodyPr>
          <a:lstStyle/>
          <a:p>
            <a:pPr marL="0" lvl="0" indent="0" algn="l" rtl="0">
              <a:lnSpc>
                <a:spcPct val="110700"/>
              </a:lnSpc>
              <a:spcBef>
                <a:spcPts val="0"/>
              </a:spcBef>
              <a:spcAft>
                <a:spcPts val="0"/>
              </a:spcAft>
              <a:buNone/>
            </a:pPr>
            <a:r>
              <a:rPr lang="en-US" sz="7650" b="1">
                <a:solidFill>
                  <a:schemeClr val="lt1"/>
                </a:solidFill>
                <a:latin typeface="Montserrat"/>
                <a:ea typeface="Montserrat"/>
                <a:cs typeface="Montserrat"/>
                <a:sym typeface="Montserrat"/>
              </a:rPr>
              <a:t>SO, WHERE TO FROM HERE?</a:t>
            </a:r>
            <a:endParaRPr sz="7650" b="1">
              <a:solidFill>
                <a:schemeClr val="lt1"/>
              </a:solidFill>
              <a:latin typeface="Montserrat"/>
              <a:ea typeface="Montserrat"/>
              <a:cs typeface="Montserrat"/>
              <a:sym typeface="Montserrat"/>
            </a:endParaRPr>
          </a:p>
        </p:txBody>
      </p:sp>
      <p:cxnSp>
        <p:nvCxnSpPr>
          <p:cNvPr id="18" name="Google Shape;156;p13">
            <a:extLst>
              <a:ext uri="{FF2B5EF4-FFF2-40B4-BE49-F238E27FC236}">
                <a16:creationId xmlns:a16="http://schemas.microsoft.com/office/drawing/2014/main" id="{64788A24-87EA-F3A2-C8CA-76064EE5D560}"/>
              </a:ext>
            </a:extLst>
          </p:cNvPr>
          <p:cNvCxnSpPr/>
          <p:nvPr/>
        </p:nvCxnSpPr>
        <p:spPr>
          <a:xfrm rot="10800000" flipH="1">
            <a:off x="2074050" y="3733543"/>
            <a:ext cx="14800800" cy="18300"/>
          </a:xfrm>
          <a:prstGeom prst="straightConnector1">
            <a:avLst/>
          </a:prstGeom>
          <a:noFill/>
          <a:ln w="76200" cap="flat" cmpd="sng">
            <a:solidFill>
              <a:srgbClr val="3FAC92"/>
            </a:solidFill>
            <a:prstDash val="solid"/>
            <a:round/>
            <a:headEnd type="none" w="med" len="med"/>
            <a:tailEnd type="none" w="med" len="med"/>
          </a:ln>
        </p:spPr>
      </p:cxnSp>
      <p:sp>
        <p:nvSpPr>
          <p:cNvPr id="19" name="Google Shape;159;p13">
            <a:extLst>
              <a:ext uri="{FF2B5EF4-FFF2-40B4-BE49-F238E27FC236}">
                <a16:creationId xmlns:a16="http://schemas.microsoft.com/office/drawing/2014/main" id="{AA4B4980-B12D-8815-43D9-39E4957CD353}"/>
              </a:ext>
            </a:extLst>
          </p:cNvPr>
          <p:cNvSpPr txBox="1"/>
          <p:nvPr/>
        </p:nvSpPr>
        <p:spPr>
          <a:xfrm>
            <a:off x="2074047" y="4197410"/>
            <a:ext cx="15280500" cy="5925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3850" b="1">
                <a:solidFill>
                  <a:srgbClr val="3FAC92"/>
                </a:solidFill>
                <a:latin typeface="Montserrat"/>
                <a:ea typeface="Montserrat"/>
                <a:cs typeface="Montserrat"/>
                <a:sym typeface="Montserrat"/>
              </a:rPr>
              <a:t>THE MODEL FROM 2015, BREAKS IN 2026… </a:t>
            </a:r>
            <a:endParaRPr sz="100"/>
          </a:p>
        </p:txBody>
      </p:sp>
    </p:spTree>
    <p:extLst>
      <p:ext uri="{BB962C8B-B14F-4D97-AF65-F5344CB8AC3E}">
        <p14:creationId xmlns:p14="http://schemas.microsoft.com/office/powerpoint/2010/main" val="1453888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14" title="infra-as-context.png"/>
          <p:cNvPicPr preferRelativeResize="0"/>
          <p:nvPr/>
        </p:nvPicPr>
        <p:blipFill>
          <a:blip r:embed="rId3">
            <a:alphaModFix/>
          </a:blip>
          <a:stretch>
            <a:fillRect/>
          </a:stretch>
        </p:blipFill>
        <p:spPr>
          <a:xfrm>
            <a:off x="1587499" y="1183600"/>
            <a:ext cx="16740324" cy="9416450"/>
          </a:xfrm>
          <a:prstGeom prst="rect">
            <a:avLst/>
          </a:prstGeom>
          <a:noFill/>
          <a:ln>
            <a:noFill/>
          </a:ln>
        </p:spPr>
      </p:pic>
      <p:sp>
        <p:nvSpPr>
          <p:cNvPr id="165" name="Google Shape;165;p14"/>
          <p:cNvSpPr txBox="1"/>
          <p:nvPr/>
        </p:nvSpPr>
        <p:spPr>
          <a:xfrm>
            <a:off x="1508750" y="1004700"/>
            <a:ext cx="86721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IaC IN THE AGENT ERA</a:t>
            </a:r>
            <a:endParaRPr/>
          </a:p>
        </p:txBody>
      </p:sp>
      <p:cxnSp>
        <p:nvCxnSpPr>
          <p:cNvPr id="166" name="Google Shape;166;p14"/>
          <p:cNvCxnSpPr/>
          <p:nvPr/>
        </p:nvCxnSpPr>
        <p:spPr>
          <a:xfrm rot="10800000" flipH="1">
            <a:off x="1587500" y="1957325"/>
            <a:ext cx="8461800" cy="7200"/>
          </a:xfrm>
          <a:prstGeom prst="straightConnector1">
            <a:avLst/>
          </a:prstGeom>
          <a:noFill/>
          <a:ln w="28575" cap="flat" cmpd="sng">
            <a:solidFill>
              <a:schemeClr val="dk2"/>
            </a:solidFill>
            <a:prstDash val="solid"/>
            <a:round/>
            <a:headEnd type="none" w="med" len="med"/>
            <a:tailEnd type="none" w="med" len="med"/>
          </a:ln>
        </p:spPr>
      </p:cxnSp>
      <p:sp>
        <p:nvSpPr>
          <p:cNvPr id="3" name="Google Shape;43;p5">
            <a:extLst>
              <a:ext uri="{FF2B5EF4-FFF2-40B4-BE49-F238E27FC236}">
                <a16:creationId xmlns:a16="http://schemas.microsoft.com/office/drawing/2014/main" id="{8A50D11B-4214-F594-5697-0097A97822B2}"/>
              </a:ext>
            </a:extLst>
          </p:cNvPr>
          <p:cNvSpPr txBox="1"/>
          <p:nvPr/>
        </p:nvSpPr>
        <p:spPr>
          <a:xfrm>
            <a:off x="17238776" y="1037242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dirty="0">
                <a:solidFill>
                  <a:srgbClr val="0A4D81"/>
                </a:solidFill>
                <a:latin typeface="Montserrat"/>
                <a:ea typeface="Montserrat"/>
                <a:cs typeface="Montserrat"/>
                <a:sym typeface="Montserrat"/>
              </a:rPr>
              <a:t>STACKQL&gt;&gt;</a:t>
            </a:r>
            <a:endParaRPr sz="1800" dirty="0">
              <a:solidFill>
                <a:srgbClr val="0A4D8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4" name="Google Shape;174;p15"/>
          <p:cNvSpPr/>
          <p:nvPr/>
        </p:nvSpPr>
        <p:spPr>
          <a:xfrm>
            <a:off x="10276883" y="4780402"/>
            <a:ext cx="5894400" cy="3622800"/>
          </a:xfrm>
          <a:prstGeom prst="snip1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75" name="Google Shape;175;p15"/>
          <p:cNvSpPr/>
          <p:nvPr/>
        </p:nvSpPr>
        <p:spPr>
          <a:xfrm>
            <a:off x="2380300" y="4733127"/>
            <a:ext cx="5894400" cy="3622800"/>
          </a:xfrm>
          <a:prstGeom prst="snip1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76" name="Google Shape;176;p15"/>
          <p:cNvSpPr txBox="1"/>
          <p:nvPr/>
        </p:nvSpPr>
        <p:spPr>
          <a:xfrm>
            <a:off x="1508750" y="1004700"/>
            <a:ext cx="132360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THE NEW CONTRACT</a:t>
            </a:r>
            <a:endParaRPr/>
          </a:p>
        </p:txBody>
      </p:sp>
      <p:cxnSp>
        <p:nvCxnSpPr>
          <p:cNvPr id="177" name="Google Shape;177;p15"/>
          <p:cNvCxnSpPr/>
          <p:nvPr/>
        </p:nvCxnSpPr>
        <p:spPr>
          <a:xfrm>
            <a:off x="1587500" y="1964525"/>
            <a:ext cx="12009000" cy="68700"/>
          </a:xfrm>
          <a:prstGeom prst="straightConnector1">
            <a:avLst/>
          </a:prstGeom>
          <a:noFill/>
          <a:ln w="28575" cap="flat" cmpd="sng">
            <a:solidFill>
              <a:schemeClr val="dk2"/>
            </a:solidFill>
            <a:prstDash val="solid"/>
            <a:round/>
            <a:headEnd type="none" w="med" len="med"/>
            <a:tailEnd type="none" w="med" len="med"/>
          </a:ln>
        </p:spPr>
      </p:cxnSp>
      <p:sp>
        <p:nvSpPr>
          <p:cNvPr id="180" name="Google Shape;180;p15"/>
          <p:cNvSpPr txBox="1"/>
          <p:nvPr/>
        </p:nvSpPr>
        <p:spPr>
          <a:xfrm>
            <a:off x="2714675" y="6260127"/>
            <a:ext cx="4907400" cy="384900"/>
          </a:xfrm>
          <a:prstGeom prst="rect">
            <a:avLst/>
          </a:prstGeom>
          <a:noFill/>
          <a:ln>
            <a:noFill/>
          </a:ln>
        </p:spPr>
        <p:txBody>
          <a:bodyPr spcFirstLastPara="1" wrap="square" lIns="0" tIns="0" rIns="0" bIns="0" anchor="t" anchorCtr="0">
            <a:spAutoFit/>
          </a:bodyPr>
          <a:lstStyle/>
          <a:p>
            <a:pPr marL="0" marR="0" lvl="0" indent="0" algn="ctr" rtl="0">
              <a:lnSpc>
                <a:spcPct val="110950"/>
              </a:lnSpc>
              <a:spcBef>
                <a:spcPts val="0"/>
              </a:spcBef>
              <a:spcAft>
                <a:spcPts val="0"/>
              </a:spcAft>
              <a:buNone/>
            </a:pPr>
            <a:r>
              <a:rPr lang="en-US" sz="2500" b="1" dirty="0">
                <a:solidFill>
                  <a:srgbClr val="FFFFFF"/>
                </a:solidFill>
                <a:latin typeface="Montserrat"/>
                <a:ea typeface="Montserrat"/>
                <a:cs typeface="Montserrat"/>
                <a:sym typeface="Montserrat"/>
              </a:rPr>
              <a:t>Infrastructure-as-Code</a:t>
            </a:r>
            <a:endParaRPr sz="2500" dirty="0"/>
          </a:p>
        </p:txBody>
      </p:sp>
      <p:sp>
        <p:nvSpPr>
          <p:cNvPr id="181" name="Google Shape;181;p15"/>
          <p:cNvSpPr txBox="1"/>
          <p:nvPr/>
        </p:nvSpPr>
        <p:spPr>
          <a:xfrm>
            <a:off x="3308663" y="8181108"/>
            <a:ext cx="3719400" cy="1132500"/>
          </a:xfrm>
          <a:prstGeom prst="rect">
            <a:avLst/>
          </a:prstGeom>
          <a:noFill/>
          <a:ln>
            <a:noFill/>
          </a:ln>
        </p:spPr>
        <p:txBody>
          <a:bodyPr spcFirstLastPara="1" wrap="square" lIns="0" tIns="0" rIns="0" bIns="0" anchor="ctr" anchorCtr="0">
            <a:noAutofit/>
          </a:bodyPr>
          <a:lstStyle/>
          <a:p>
            <a:pPr marL="116302" marR="0" lvl="0" indent="0" algn="ctr" rtl="0">
              <a:lnSpc>
                <a:spcPct val="99000"/>
              </a:lnSpc>
              <a:spcBef>
                <a:spcPts val="0"/>
              </a:spcBef>
              <a:spcAft>
                <a:spcPts val="0"/>
              </a:spcAft>
              <a:buNone/>
            </a:pPr>
            <a:r>
              <a:rPr lang="en-US" sz="3200" b="1">
                <a:solidFill>
                  <a:schemeClr val="accent1"/>
                </a:solidFill>
                <a:latin typeface="Montserrat"/>
                <a:ea typeface="Montserrat"/>
                <a:cs typeface="Montserrat"/>
                <a:sym typeface="Montserrat"/>
              </a:rPr>
              <a:t>Code = Intent</a:t>
            </a:r>
            <a:endParaRPr sz="3200" b="1">
              <a:solidFill>
                <a:schemeClr val="accent1"/>
              </a:solidFill>
              <a:latin typeface="Montserrat"/>
              <a:ea typeface="Montserrat"/>
              <a:cs typeface="Montserrat"/>
              <a:sym typeface="Montserrat"/>
            </a:endParaRPr>
          </a:p>
        </p:txBody>
      </p:sp>
      <p:sp>
        <p:nvSpPr>
          <p:cNvPr id="182" name="Google Shape;182;p15"/>
          <p:cNvSpPr txBox="1"/>
          <p:nvPr/>
        </p:nvSpPr>
        <p:spPr>
          <a:xfrm>
            <a:off x="1587500" y="2288675"/>
            <a:ext cx="18108900" cy="7464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4850" b="1" i="1">
                <a:solidFill>
                  <a:srgbClr val="3FAC92"/>
                </a:solidFill>
                <a:latin typeface="Montserrat"/>
                <a:ea typeface="Montserrat"/>
                <a:cs typeface="Montserrat"/>
                <a:sym typeface="Montserrat"/>
              </a:rPr>
              <a:t>What agents need to query, reason about, and act on.</a:t>
            </a:r>
            <a:endParaRPr sz="600" i="1">
              <a:solidFill>
                <a:srgbClr val="3FAC92"/>
              </a:solidFill>
            </a:endParaRPr>
          </a:p>
        </p:txBody>
      </p:sp>
      <p:sp>
        <p:nvSpPr>
          <p:cNvPr id="183" name="Google Shape;183;p15"/>
          <p:cNvSpPr txBox="1"/>
          <p:nvPr/>
        </p:nvSpPr>
        <p:spPr>
          <a:xfrm>
            <a:off x="10770375" y="6260127"/>
            <a:ext cx="4907400" cy="384900"/>
          </a:xfrm>
          <a:prstGeom prst="rect">
            <a:avLst/>
          </a:prstGeom>
          <a:noFill/>
          <a:ln>
            <a:noFill/>
          </a:ln>
        </p:spPr>
        <p:txBody>
          <a:bodyPr spcFirstLastPara="1" wrap="square" lIns="0" tIns="0" rIns="0" bIns="0" anchor="t" anchorCtr="0">
            <a:spAutoFit/>
          </a:bodyPr>
          <a:lstStyle/>
          <a:p>
            <a:pPr marL="0" marR="0" lvl="0" indent="0" algn="ctr" rtl="0">
              <a:lnSpc>
                <a:spcPct val="110950"/>
              </a:lnSpc>
              <a:spcBef>
                <a:spcPts val="0"/>
              </a:spcBef>
              <a:spcAft>
                <a:spcPts val="0"/>
              </a:spcAft>
              <a:buNone/>
            </a:pPr>
            <a:r>
              <a:rPr lang="en-US" sz="2500" b="1">
                <a:solidFill>
                  <a:srgbClr val="FFFFFF"/>
                </a:solidFill>
                <a:latin typeface="Montserrat"/>
                <a:ea typeface="Montserrat"/>
                <a:cs typeface="Montserrat"/>
                <a:sym typeface="Montserrat"/>
              </a:rPr>
              <a:t>Infrastructure-as-Context</a:t>
            </a:r>
            <a:endParaRPr sz="2500"/>
          </a:p>
        </p:txBody>
      </p:sp>
      <p:sp>
        <p:nvSpPr>
          <p:cNvPr id="184" name="Google Shape;184;p15"/>
          <p:cNvSpPr txBox="1"/>
          <p:nvPr/>
        </p:nvSpPr>
        <p:spPr>
          <a:xfrm>
            <a:off x="10898625" y="8181092"/>
            <a:ext cx="4650900" cy="1132500"/>
          </a:xfrm>
          <a:prstGeom prst="rect">
            <a:avLst/>
          </a:prstGeom>
          <a:noFill/>
          <a:ln>
            <a:noFill/>
          </a:ln>
        </p:spPr>
        <p:txBody>
          <a:bodyPr spcFirstLastPara="1" wrap="square" lIns="0" tIns="0" rIns="0" bIns="0" anchor="ctr" anchorCtr="0">
            <a:noAutofit/>
          </a:bodyPr>
          <a:lstStyle/>
          <a:p>
            <a:pPr marL="116302" marR="0" lvl="0" indent="0" algn="ctr" rtl="0">
              <a:lnSpc>
                <a:spcPct val="99000"/>
              </a:lnSpc>
              <a:spcBef>
                <a:spcPts val="0"/>
              </a:spcBef>
              <a:spcAft>
                <a:spcPts val="0"/>
              </a:spcAft>
              <a:buNone/>
            </a:pPr>
            <a:r>
              <a:rPr lang="en-US" sz="3200" b="1">
                <a:solidFill>
                  <a:schemeClr val="dk2"/>
                </a:solidFill>
                <a:latin typeface="Montserrat"/>
                <a:ea typeface="Montserrat"/>
                <a:cs typeface="Montserrat"/>
                <a:sym typeface="Montserrat"/>
              </a:rPr>
              <a:t>Reality = </a:t>
            </a:r>
            <a:r>
              <a:rPr lang="en-US" sz="3200" b="1">
                <a:solidFill>
                  <a:srgbClr val="FF0000"/>
                </a:solidFill>
                <a:latin typeface="Montserrat"/>
                <a:ea typeface="Montserrat"/>
                <a:cs typeface="Montserrat"/>
                <a:sym typeface="Montserrat"/>
              </a:rPr>
              <a:t>Data</a:t>
            </a:r>
            <a:endParaRPr sz="3200" b="1">
              <a:solidFill>
                <a:srgbClr val="FF0000"/>
              </a:solidFill>
              <a:latin typeface="Montserrat"/>
              <a:ea typeface="Montserrat"/>
              <a:cs typeface="Montserrat"/>
              <a:sym typeface="Montserrat"/>
            </a:endParaRPr>
          </a:p>
        </p:txBody>
      </p:sp>
      <p:sp>
        <p:nvSpPr>
          <p:cNvPr id="185" name="Google Shape;185;p15"/>
          <p:cNvSpPr txBox="1"/>
          <p:nvPr/>
        </p:nvSpPr>
        <p:spPr>
          <a:xfrm>
            <a:off x="11108333" y="7042652"/>
            <a:ext cx="2694600" cy="4977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11842"/>
              </a:lnSpc>
              <a:spcBef>
                <a:spcPts val="0"/>
              </a:spcBef>
              <a:spcAft>
                <a:spcPts val="0"/>
              </a:spcAft>
              <a:buNone/>
            </a:pPr>
            <a:r>
              <a:rPr lang="en-US" sz="1700" b="1">
                <a:solidFill>
                  <a:srgbClr val="0A4D81"/>
                </a:solidFill>
                <a:latin typeface="Montserrat"/>
                <a:ea typeface="Montserrat"/>
                <a:cs typeface="Montserrat"/>
                <a:sym typeface="Montserrat"/>
              </a:rPr>
              <a:t>AGENTS QUERY IT</a:t>
            </a:r>
            <a:endParaRPr sz="1700"/>
          </a:p>
        </p:txBody>
      </p:sp>
      <p:sp>
        <p:nvSpPr>
          <p:cNvPr id="186" name="Google Shape;186;p15"/>
          <p:cNvSpPr txBox="1"/>
          <p:nvPr/>
        </p:nvSpPr>
        <p:spPr>
          <a:xfrm>
            <a:off x="14558433" y="7042652"/>
            <a:ext cx="841500" cy="497700"/>
          </a:xfrm>
          <a:prstGeom prst="rect">
            <a:avLst/>
          </a:prstGeom>
          <a:solidFill>
            <a:schemeClr val="dk2"/>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1842"/>
              </a:lnSpc>
              <a:spcBef>
                <a:spcPts val="0"/>
              </a:spcBef>
              <a:spcAft>
                <a:spcPts val="0"/>
              </a:spcAft>
              <a:buNone/>
            </a:pPr>
            <a:r>
              <a:rPr lang="en-US" sz="1700" b="1">
                <a:solidFill>
                  <a:schemeClr val="lt1"/>
                </a:solidFill>
                <a:latin typeface="Montserrat"/>
                <a:ea typeface="Montserrat"/>
                <a:cs typeface="Montserrat"/>
                <a:sym typeface="Montserrat"/>
              </a:rPr>
              <a:t>2026</a:t>
            </a:r>
            <a:endParaRPr sz="1700">
              <a:solidFill>
                <a:schemeClr val="lt1"/>
              </a:solidFill>
            </a:endParaRPr>
          </a:p>
        </p:txBody>
      </p:sp>
      <p:sp>
        <p:nvSpPr>
          <p:cNvPr id="187" name="Google Shape;187;p15"/>
          <p:cNvSpPr txBox="1"/>
          <p:nvPr/>
        </p:nvSpPr>
        <p:spPr>
          <a:xfrm>
            <a:off x="6200300" y="7042652"/>
            <a:ext cx="841500" cy="497700"/>
          </a:xfrm>
          <a:prstGeom prst="rect">
            <a:avLst/>
          </a:prstGeom>
          <a:solidFill>
            <a:schemeClr val="dk2"/>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1842"/>
              </a:lnSpc>
              <a:spcBef>
                <a:spcPts val="0"/>
              </a:spcBef>
              <a:spcAft>
                <a:spcPts val="0"/>
              </a:spcAft>
              <a:buNone/>
            </a:pPr>
            <a:r>
              <a:rPr lang="en-US" sz="1700" b="1">
                <a:solidFill>
                  <a:schemeClr val="lt1"/>
                </a:solidFill>
                <a:latin typeface="Montserrat"/>
                <a:ea typeface="Montserrat"/>
                <a:cs typeface="Montserrat"/>
                <a:sym typeface="Montserrat"/>
              </a:rPr>
              <a:t>2015</a:t>
            </a:r>
            <a:endParaRPr sz="1700">
              <a:solidFill>
                <a:schemeClr val="lt1"/>
              </a:solidFill>
            </a:endParaRPr>
          </a:p>
        </p:txBody>
      </p:sp>
      <p:sp>
        <p:nvSpPr>
          <p:cNvPr id="188" name="Google Shape;188;p15"/>
          <p:cNvSpPr txBox="1"/>
          <p:nvPr/>
        </p:nvSpPr>
        <p:spPr>
          <a:xfrm>
            <a:off x="3237275" y="7042652"/>
            <a:ext cx="2694600" cy="4977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11842"/>
              </a:lnSpc>
              <a:spcBef>
                <a:spcPts val="0"/>
              </a:spcBef>
              <a:spcAft>
                <a:spcPts val="0"/>
              </a:spcAft>
              <a:buNone/>
            </a:pPr>
            <a:r>
              <a:rPr lang="en-US" sz="1700" b="1">
                <a:solidFill>
                  <a:srgbClr val="0A4D81"/>
                </a:solidFill>
                <a:latin typeface="Montserrat"/>
                <a:ea typeface="Montserrat"/>
                <a:cs typeface="Montserrat"/>
                <a:sym typeface="Montserrat"/>
              </a:rPr>
              <a:t>YOU WROTE IT</a:t>
            </a:r>
            <a:endParaRPr sz="1700"/>
          </a:p>
        </p:txBody>
      </p:sp>
      <p:pic>
        <p:nvPicPr>
          <p:cNvPr id="189" name="Google Shape;189;p15" title="noun-code-4213617-3FAC92.png"/>
          <p:cNvPicPr preferRelativeResize="0"/>
          <p:nvPr/>
        </p:nvPicPr>
        <p:blipFill>
          <a:blip r:embed="rId3">
            <a:alphaModFix/>
          </a:blip>
          <a:stretch>
            <a:fillRect/>
          </a:stretch>
        </p:blipFill>
        <p:spPr>
          <a:xfrm>
            <a:off x="4404867" y="4733115"/>
            <a:ext cx="1527000" cy="1527000"/>
          </a:xfrm>
          <a:prstGeom prst="rect">
            <a:avLst/>
          </a:prstGeom>
          <a:noFill/>
          <a:ln>
            <a:noFill/>
          </a:ln>
        </p:spPr>
      </p:pic>
      <p:pic>
        <p:nvPicPr>
          <p:cNvPr id="190" name="Google Shape;190;p15" title="noun-database-7392498-3FAC92.png"/>
          <p:cNvPicPr preferRelativeResize="0"/>
          <p:nvPr/>
        </p:nvPicPr>
        <p:blipFill>
          <a:blip r:embed="rId4">
            <a:alphaModFix/>
          </a:blip>
          <a:stretch>
            <a:fillRect/>
          </a:stretch>
        </p:blipFill>
        <p:spPr>
          <a:xfrm>
            <a:off x="12732546" y="5040465"/>
            <a:ext cx="983037" cy="983037"/>
          </a:xfrm>
          <a:prstGeom prst="rect">
            <a:avLst/>
          </a:prstGeom>
          <a:noFill/>
          <a:ln>
            <a:noFill/>
          </a:ln>
        </p:spPr>
      </p:pic>
      <p:sp>
        <p:nvSpPr>
          <p:cNvPr id="3" name="Google Shape;43;p5">
            <a:extLst>
              <a:ext uri="{FF2B5EF4-FFF2-40B4-BE49-F238E27FC236}">
                <a16:creationId xmlns:a16="http://schemas.microsoft.com/office/drawing/2014/main" id="{7DC51F3B-E809-49EA-7E84-F99350F08632}"/>
              </a:ext>
            </a:extLst>
          </p:cNvPr>
          <p:cNvSpPr txBox="1"/>
          <p:nvPr/>
        </p:nvSpPr>
        <p:spPr>
          <a:xfrm>
            <a:off x="17238776" y="1037242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dirty="0">
                <a:solidFill>
                  <a:srgbClr val="0A4D81"/>
                </a:solidFill>
                <a:latin typeface="Montserrat"/>
                <a:ea typeface="Montserrat"/>
                <a:cs typeface="Montserrat"/>
                <a:sym typeface="Montserrat"/>
              </a:rPr>
              <a:t>STACKQL&gt;&gt;</a:t>
            </a:r>
            <a:endParaRPr sz="1800" dirty="0">
              <a:solidFill>
                <a:srgbClr val="0A4D8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0">
          <a:extLst>
            <a:ext uri="{FF2B5EF4-FFF2-40B4-BE49-F238E27FC236}">
              <a16:creationId xmlns:a16="http://schemas.microsoft.com/office/drawing/2014/main" id="{4C31989A-6097-E13B-2CC1-02D6FE49AA97}"/>
            </a:ext>
          </a:extLst>
        </p:cNvPr>
        <p:cNvGrpSpPr/>
        <p:nvPr/>
      </p:nvGrpSpPr>
      <p:grpSpPr>
        <a:xfrm>
          <a:off x="0" y="0"/>
          <a:ext cx="0" cy="0"/>
          <a:chOff x="0" y="0"/>
          <a:chExt cx="0" cy="0"/>
        </a:xfrm>
      </p:grpSpPr>
      <p:sp>
        <p:nvSpPr>
          <p:cNvPr id="22" name="Google Shape;22;p3">
            <a:extLst>
              <a:ext uri="{FF2B5EF4-FFF2-40B4-BE49-F238E27FC236}">
                <a16:creationId xmlns:a16="http://schemas.microsoft.com/office/drawing/2014/main" id="{FF43F095-9416-491D-F0C3-6221F8567776}"/>
              </a:ext>
            </a:extLst>
          </p:cNvPr>
          <p:cNvSpPr/>
          <p:nvPr/>
        </p:nvSpPr>
        <p:spPr>
          <a:xfrm>
            <a:off x="16407775" y="10448700"/>
            <a:ext cx="3444000" cy="450600"/>
          </a:xfrm>
          <a:prstGeom prst="rect">
            <a:avLst/>
          </a:prstGeom>
          <a:noFill/>
          <a:ln>
            <a:noFill/>
          </a:ln>
        </p:spPr>
        <p:txBody>
          <a:bodyPr spcFirstLastPara="1" wrap="square" lIns="0" tIns="0" rIns="0" bIns="0" anchor="ctr" anchorCtr="0">
            <a:noAutofit/>
          </a:bodyPr>
          <a:lstStyle/>
          <a:p>
            <a:pPr marL="0" lvl="0" indent="0" algn="ctr" rtl="0">
              <a:lnSpc>
                <a:spcPct val="110700"/>
              </a:lnSpc>
              <a:spcBef>
                <a:spcPts val="0"/>
              </a:spcBef>
              <a:spcAft>
                <a:spcPts val="0"/>
              </a:spcAft>
              <a:buNone/>
            </a:pPr>
            <a:r>
              <a:rPr lang="en-US" sz="3800" b="1">
                <a:solidFill>
                  <a:schemeClr val="lt1"/>
                </a:solidFill>
                <a:latin typeface="Montserrat"/>
                <a:ea typeface="Montserrat"/>
                <a:cs typeface="Montserrat"/>
                <a:sym typeface="Montserrat"/>
              </a:rPr>
              <a:t>STACKQL&gt;&gt;</a:t>
            </a:r>
            <a:endParaRPr sz="3800">
              <a:solidFill>
                <a:schemeClr val="lt1"/>
              </a:solidFill>
            </a:endParaRPr>
          </a:p>
        </p:txBody>
      </p:sp>
      <p:sp>
        <p:nvSpPr>
          <p:cNvPr id="2" name="Google Shape;211;p18">
            <a:extLst>
              <a:ext uri="{FF2B5EF4-FFF2-40B4-BE49-F238E27FC236}">
                <a16:creationId xmlns:a16="http://schemas.microsoft.com/office/drawing/2014/main" id="{91A170D9-6752-C0DC-CCAC-2C91B6D885F3}"/>
              </a:ext>
            </a:extLst>
          </p:cNvPr>
          <p:cNvSpPr txBox="1"/>
          <p:nvPr/>
        </p:nvSpPr>
        <p:spPr>
          <a:xfrm>
            <a:off x="2074047" y="4922313"/>
            <a:ext cx="15280500" cy="5925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3850" b="1">
                <a:solidFill>
                  <a:srgbClr val="3FAC92"/>
                </a:solidFill>
                <a:latin typeface="Montserrat"/>
                <a:ea typeface="Montserrat"/>
                <a:cs typeface="Montserrat"/>
                <a:sym typeface="Montserrat"/>
              </a:rPr>
              <a:t>PATTERNS THAT HOLD UP IN THE AGENTIC ERA</a:t>
            </a:r>
            <a:endParaRPr sz="100"/>
          </a:p>
        </p:txBody>
      </p:sp>
      <p:sp>
        <p:nvSpPr>
          <p:cNvPr id="3" name="Google Shape;212;p18">
            <a:extLst>
              <a:ext uri="{FF2B5EF4-FFF2-40B4-BE49-F238E27FC236}">
                <a16:creationId xmlns:a16="http://schemas.microsoft.com/office/drawing/2014/main" id="{4E1ACB0F-781D-42C3-5ADF-96018B6D110A}"/>
              </a:ext>
            </a:extLst>
          </p:cNvPr>
          <p:cNvSpPr/>
          <p:nvPr/>
        </p:nvSpPr>
        <p:spPr>
          <a:xfrm>
            <a:off x="2074050" y="2422272"/>
            <a:ext cx="14801700" cy="2465400"/>
          </a:xfrm>
          <a:prstGeom prst="rect">
            <a:avLst/>
          </a:prstGeom>
          <a:noFill/>
          <a:ln>
            <a:noFill/>
          </a:ln>
        </p:spPr>
        <p:txBody>
          <a:bodyPr spcFirstLastPara="1" wrap="square" lIns="0" tIns="0" rIns="0" bIns="0" anchor="ctr" anchorCtr="0">
            <a:noAutofit/>
          </a:bodyPr>
          <a:lstStyle/>
          <a:p>
            <a:pPr marL="0" lvl="0" indent="0" algn="l" rtl="0">
              <a:lnSpc>
                <a:spcPct val="110700"/>
              </a:lnSpc>
              <a:spcBef>
                <a:spcPts val="0"/>
              </a:spcBef>
              <a:spcAft>
                <a:spcPts val="0"/>
              </a:spcAft>
              <a:buNone/>
            </a:pPr>
            <a:r>
              <a:rPr lang="en-US" sz="7650" b="1" dirty="0">
                <a:solidFill>
                  <a:schemeClr val="lt1"/>
                </a:solidFill>
                <a:latin typeface="Montserrat"/>
                <a:ea typeface="Montserrat"/>
                <a:cs typeface="Montserrat"/>
                <a:sym typeface="Montserrat"/>
              </a:rPr>
              <a:t>WHATS WORKING NOW</a:t>
            </a:r>
            <a:endParaRPr sz="7650" b="1" dirty="0">
              <a:solidFill>
                <a:schemeClr val="lt1"/>
              </a:solidFill>
              <a:latin typeface="Montserrat"/>
              <a:ea typeface="Montserrat"/>
              <a:cs typeface="Montserrat"/>
              <a:sym typeface="Montserrat"/>
            </a:endParaRPr>
          </a:p>
        </p:txBody>
      </p:sp>
      <p:cxnSp>
        <p:nvCxnSpPr>
          <p:cNvPr id="4" name="Google Shape;213;p18">
            <a:extLst>
              <a:ext uri="{FF2B5EF4-FFF2-40B4-BE49-F238E27FC236}">
                <a16:creationId xmlns:a16="http://schemas.microsoft.com/office/drawing/2014/main" id="{DBF55A76-4F85-7D47-1CB0-9610C56AD058}"/>
              </a:ext>
            </a:extLst>
          </p:cNvPr>
          <p:cNvCxnSpPr>
            <a:cxnSpLocks/>
          </p:cNvCxnSpPr>
          <p:nvPr/>
        </p:nvCxnSpPr>
        <p:spPr>
          <a:xfrm>
            <a:off x="2074050" y="4466475"/>
            <a:ext cx="12345335" cy="0"/>
          </a:xfrm>
          <a:prstGeom prst="straightConnector1">
            <a:avLst/>
          </a:prstGeom>
          <a:noFill/>
          <a:ln w="76200" cap="flat" cmpd="sng">
            <a:solidFill>
              <a:srgbClr val="3FAC92"/>
            </a:solidFill>
            <a:prstDash val="solid"/>
            <a:round/>
            <a:headEnd type="none" w="med" len="med"/>
            <a:tailEnd type="none" w="med" len="med"/>
          </a:ln>
        </p:spPr>
      </p:cxnSp>
      <p:sp>
        <p:nvSpPr>
          <p:cNvPr id="5" name="Google Shape;216;p18">
            <a:extLst>
              <a:ext uri="{FF2B5EF4-FFF2-40B4-BE49-F238E27FC236}">
                <a16:creationId xmlns:a16="http://schemas.microsoft.com/office/drawing/2014/main" id="{CBBE0F93-C6F7-F69F-C962-5D5A81156B7D}"/>
              </a:ext>
            </a:extLst>
          </p:cNvPr>
          <p:cNvSpPr/>
          <p:nvPr/>
        </p:nvSpPr>
        <p:spPr>
          <a:xfrm>
            <a:off x="2074050" y="596917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01 - QUERY BEFORE MUTATION</a:t>
            </a:r>
            <a:endParaRPr>
              <a:latin typeface="Calibri"/>
              <a:ea typeface="Calibri"/>
              <a:cs typeface="Calibri"/>
              <a:sym typeface="Calibri"/>
            </a:endParaRPr>
          </a:p>
        </p:txBody>
      </p:sp>
      <p:sp>
        <p:nvSpPr>
          <p:cNvPr id="6" name="Google Shape;217;p18">
            <a:extLst>
              <a:ext uri="{FF2B5EF4-FFF2-40B4-BE49-F238E27FC236}">
                <a16:creationId xmlns:a16="http://schemas.microsoft.com/office/drawing/2014/main" id="{4B39C032-90D5-241E-AD15-F3BDE1C389A0}"/>
              </a:ext>
            </a:extLst>
          </p:cNvPr>
          <p:cNvSpPr/>
          <p:nvPr/>
        </p:nvSpPr>
        <p:spPr>
          <a:xfrm>
            <a:off x="8067825" y="596917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02 - IDEMPOTENT ASSERTIONS</a:t>
            </a:r>
            <a:endParaRPr>
              <a:latin typeface="Calibri"/>
              <a:ea typeface="Calibri"/>
              <a:cs typeface="Calibri"/>
              <a:sym typeface="Calibri"/>
            </a:endParaRPr>
          </a:p>
        </p:txBody>
      </p:sp>
      <p:sp>
        <p:nvSpPr>
          <p:cNvPr id="7" name="Google Shape;218;p18">
            <a:extLst>
              <a:ext uri="{FF2B5EF4-FFF2-40B4-BE49-F238E27FC236}">
                <a16:creationId xmlns:a16="http://schemas.microsoft.com/office/drawing/2014/main" id="{D87D1F2B-1CB5-58D0-ECBB-CE59B4F5ACB6}"/>
              </a:ext>
            </a:extLst>
          </p:cNvPr>
          <p:cNvSpPr/>
          <p:nvPr/>
        </p:nvSpPr>
        <p:spPr>
          <a:xfrm>
            <a:off x="2074050" y="695392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03 - BI-TEMPORAL VIEW</a:t>
            </a:r>
            <a:endParaRPr>
              <a:latin typeface="Calibri"/>
              <a:ea typeface="Calibri"/>
              <a:cs typeface="Calibri"/>
              <a:sym typeface="Calibri"/>
            </a:endParaRPr>
          </a:p>
        </p:txBody>
      </p:sp>
      <p:sp>
        <p:nvSpPr>
          <p:cNvPr id="8" name="Google Shape;219;p18">
            <a:extLst>
              <a:ext uri="{FF2B5EF4-FFF2-40B4-BE49-F238E27FC236}">
                <a16:creationId xmlns:a16="http://schemas.microsoft.com/office/drawing/2014/main" id="{A231FE13-B143-7DB3-2156-FA330496E5BE}"/>
              </a:ext>
            </a:extLst>
          </p:cNvPr>
          <p:cNvSpPr/>
          <p:nvPr/>
        </p:nvSpPr>
        <p:spPr>
          <a:xfrm>
            <a:off x="8067825" y="695392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04 - AGENTS AS EVENT SOURCES</a:t>
            </a:r>
            <a:endParaRPr>
              <a:latin typeface="Calibri"/>
              <a:ea typeface="Calibri"/>
              <a:cs typeface="Calibri"/>
              <a:sym typeface="Calibri"/>
            </a:endParaRPr>
          </a:p>
        </p:txBody>
      </p:sp>
      <p:sp>
        <p:nvSpPr>
          <p:cNvPr id="9" name="Google Shape;220;p18">
            <a:extLst>
              <a:ext uri="{FF2B5EF4-FFF2-40B4-BE49-F238E27FC236}">
                <a16:creationId xmlns:a16="http://schemas.microsoft.com/office/drawing/2014/main" id="{B32034C0-A4F8-8DB2-1ACC-0745D03EB64D}"/>
              </a:ext>
            </a:extLst>
          </p:cNvPr>
          <p:cNvSpPr/>
          <p:nvPr/>
        </p:nvSpPr>
        <p:spPr>
          <a:xfrm>
            <a:off x="2074050" y="793867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05 - UNIVERSAL INTERFACES</a:t>
            </a:r>
            <a:endParaRPr>
              <a:latin typeface="Calibri"/>
              <a:ea typeface="Calibri"/>
              <a:cs typeface="Calibri"/>
              <a:sym typeface="Calibri"/>
            </a:endParaRPr>
          </a:p>
        </p:txBody>
      </p:sp>
      <p:sp>
        <p:nvSpPr>
          <p:cNvPr id="10" name="Google Shape;221;p18">
            <a:extLst>
              <a:ext uri="{FF2B5EF4-FFF2-40B4-BE49-F238E27FC236}">
                <a16:creationId xmlns:a16="http://schemas.microsoft.com/office/drawing/2014/main" id="{BFA867AC-9389-B4CD-2FEE-08C070B17C28}"/>
              </a:ext>
            </a:extLst>
          </p:cNvPr>
          <p:cNvSpPr/>
          <p:nvPr/>
        </p:nvSpPr>
        <p:spPr>
          <a:xfrm>
            <a:off x="8067825" y="793867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06 - POLICY GATES</a:t>
            </a:r>
            <a:endParaRPr>
              <a:latin typeface="Calibri"/>
              <a:ea typeface="Calibri"/>
              <a:cs typeface="Calibri"/>
              <a:sym typeface="Calibri"/>
            </a:endParaRPr>
          </a:p>
        </p:txBody>
      </p:sp>
    </p:spTree>
    <p:extLst>
      <p:ext uri="{BB962C8B-B14F-4D97-AF65-F5344CB8AC3E}">
        <p14:creationId xmlns:p14="http://schemas.microsoft.com/office/powerpoint/2010/main" val="519018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7" name="Google Shape;227;p19"/>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01</a:t>
            </a:r>
            <a:endParaRPr>
              <a:solidFill>
                <a:srgbClr val="3FAC92"/>
              </a:solidFill>
            </a:endParaRPr>
          </a:p>
        </p:txBody>
      </p:sp>
      <p:sp>
        <p:nvSpPr>
          <p:cNvPr id="228" name="Google Shape;228;p19"/>
          <p:cNvSpPr txBox="1"/>
          <p:nvPr/>
        </p:nvSpPr>
        <p:spPr>
          <a:xfrm>
            <a:off x="794600" y="1776855"/>
            <a:ext cx="12714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Inspect reality, not the state file, before acting.</a:t>
            </a:r>
            <a:endParaRPr sz="4200"/>
          </a:p>
        </p:txBody>
      </p:sp>
      <p:sp>
        <p:nvSpPr>
          <p:cNvPr id="229" name="Google Shape;229;p19"/>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30" name="Google Shape;230;p19"/>
          <p:cNvSpPr txBox="1"/>
          <p:nvPr/>
        </p:nvSpPr>
        <p:spPr>
          <a:xfrm>
            <a:off x="1693699" y="835525"/>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QUERY BEFORE MUTATION</a:t>
            </a:r>
            <a:endParaRPr/>
          </a:p>
        </p:txBody>
      </p:sp>
      <p:sp>
        <p:nvSpPr>
          <p:cNvPr id="231" name="Google Shape;231;p19"/>
          <p:cNvSpPr txBox="1"/>
          <p:nvPr/>
        </p:nvSpPr>
        <p:spPr>
          <a:xfrm>
            <a:off x="1042150" y="5327520"/>
            <a:ext cx="106791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“A state file shows what a tool wrote last run. The cloud API shows what actually exists. Autonomous agents should read live state on every decision.”</a:t>
            </a:r>
            <a:endParaRPr sz="3000" i="1" dirty="0">
              <a:solidFill>
                <a:srgbClr val="0A4D81"/>
              </a:solidFill>
              <a:latin typeface="Montserrat Medium"/>
              <a:ea typeface="Montserrat Medium"/>
              <a:cs typeface="Montserrat Medium"/>
              <a:sym typeface="Montserrat Medium"/>
            </a:endParaRPr>
          </a:p>
        </p:txBody>
      </p:sp>
      <p:sp>
        <p:nvSpPr>
          <p:cNvPr id="232" name="Google Shape;232;p19"/>
          <p:cNvSpPr/>
          <p:nvPr/>
        </p:nvSpPr>
        <p:spPr>
          <a:xfrm>
            <a:off x="794601" y="5586192"/>
            <a:ext cx="192000" cy="139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33" name="Google Shape;233;p19" title="query-before-mutate.png"/>
          <p:cNvPicPr preferRelativeResize="0"/>
          <p:nvPr/>
        </p:nvPicPr>
        <p:blipFill>
          <a:blip r:embed="rId3">
            <a:alphaModFix/>
          </a:blip>
          <a:stretch>
            <a:fillRect/>
          </a:stretch>
        </p:blipFill>
        <p:spPr>
          <a:xfrm>
            <a:off x="12610087" y="3109063"/>
            <a:ext cx="5926876" cy="59268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0"/>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02</a:t>
            </a:r>
            <a:endParaRPr>
              <a:solidFill>
                <a:srgbClr val="3FAC92"/>
              </a:solidFill>
            </a:endParaRPr>
          </a:p>
        </p:txBody>
      </p:sp>
      <p:sp>
        <p:nvSpPr>
          <p:cNvPr id="239" name="Google Shape;239;p20"/>
          <p:cNvSpPr txBox="1"/>
          <p:nvPr/>
        </p:nvSpPr>
        <p:spPr>
          <a:xfrm>
            <a:off x="759425" y="1776825"/>
            <a:ext cx="12714600" cy="646500"/>
          </a:xfrm>
          <a:prstGeom prst="rect">
            <a:avLst/>
          </a:prstGeom>
          <a:noFill/>
          <a:ln>
            <a:noFill/>
          </a:ln>
        </p:spPr>
        <p:txBody>
          <a:bodyPr spcFirstLastPara="1" wrap="square" lIns="0" tIns="0" rIns="0" bIns="0" anchor="t" anchorCtr="0">
            <a:spAutoFit/>
          </a:bodyPr>
          <a:lstStyle/>
          <a:p>
            <a:pPr marL="0" lvl="0" indent="0" algn="l" rtl="0">
              <a:lnSpc>
                <a:spcPct val="108780"/>
              </a:lnSpc>
              <a:spcBef>
                <a:spcPts val="0"/>
              </a:spcBef>
              <a:spcAft>
                <a:spcPts val="0"/>
              </a:spcAft>
              <a:buClr>
                <a:schemeClr val="dk1"/>
              </a:buClr>
              <a:buSzPts val="1100"/>
              <a:buFont typeface="Arial"/>
              <a:buNone/>
            </a:pPr>
            <a:r>
              <a:rPr lang="en-US" sz="4200">
                <a:solidFill>
                  <a:srgbClr val="0A4D81"/>
                </a:solidFill>
                <a:latin typeface="Montserrat Medium"/>
                <a:ea typeface="Montserrat Medium"/>
                <a:cs typeface="Montserrat Medium"/>
                <a:sym typeface="Montserrat Medium"/>
              </a:rPr>
              <a:t>Idempotent assertions, not imperative scripts.</a:t>
            </a:r>
            <a:endParaRPr sz="4200"/>
          </a:p>
        </p:txBody>
      </p:sp>
      <p:sp>
        <p:nvSpPr>
          <p:cNvPr id="240" name="Google Shape;240;p20"/>
          <p:cNvSpPr txBox="1"/>
          <p:nvPr/>
        </p:nvSpPr>
        <p:spPr>
          <a:xfrm>
            <a:off x="1831924" y="835525"/>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IDEMPOTENT ASSERTIONS</a:t>
            </a:r>
            <a:endParaRPr/>
          </a:p>
        </p:txBody>
      </p:sp>
      <p:sp>
        <p:nvSpPr>
          <p:cNvPr id="241" name="Google Shape;241;p20"/>
          <p:cNvSpPr txBox="1"/>
          <p:nvPr/>
        </p:nvSpPr>
        <p:spPr>
          <a:xfrm>
            <a:off x="1006975" y="5104774"/>
            <a:ext cx="109983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“Agents retry and resume by default. If every call asserts desired state, every attempt converges on the same end state and the agent does not have to remember what it did.”</a:t>
            </a:r>
            <a:endParaRPr sz="3000" i="1" dirty="0">
              <a:solidFill>
                <a:srgbClr val="0A4D81"/>
              </a:solidFill>
              <a:latin typeface="Montserrat Medium"/>
              <a:ea typeface="Montserrat Medium"/>
              <a:cs typeface="Montserrat Medium"/>
              <a:sym typeface="Montserrat Medium"/>
            </a:endParaRPr>
          </a:p>
        </p:txBody>
      </p:sp>
      <p:sp>
        <p:nvSpPr>
          <p:cNvPr id="242" name="Google Shape;242;p20"/>
          <p:cNvSpPr/>
          <p:nvPr/>
        </p:nvSpPr>
        <p:spPr>
          <a:xfrm>
            <a:off x="741744" y="5351531"/>
            <a:ext cx="192000" cy="1968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44" name="Google Shape;244;p20"/>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pic>
        <p:nvPicPr>
          <p:cNvPr id="245" name="Google Shape;245;p20" title="idempotent-assertions.png"/>
          <p:cNvPicPr preferRelativeResize="0"/>
          <p:nvPr/>
        </p:nvPicPr>
        <p:blipFill>
          <a:blip r:embed="rId3">
            <a:alphaModFix/>
          </a:blip>
          <a:stretch>
            <a:fillRect/>
          </a:stretch>
        </p:blipFill>
        <p:spPr>
          <a:xfrm>
            <a:off x="12748325" y="549287"/>
            <a:ext cx="7019273" cy="102171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1"/>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03</a:t>
            </a:r>
            <a:endParaRPr>
              <a:solidFill>
                <a:srgbClr val="3FAC92"/>
              </a:solidFill>
            </a:endParaRPr>
          </a:p>
        </p:txBody>
      </p:sp>
      <p:sp>
        <p:nvSpPr>
          <p:cNvPr id="251" name="Google Shape;251;p21"/>
          <p:cNvSpPr txBox="1"/>
          <p:nvPr/>
        </p:nvSpPr>
        <p:spPr>
          <a:xfrm>
            <a:off x="759425" y="1776825"/>
            <a:ext cx="12714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What is. What was. What should be.</a:t>
            </a:r>
            <a:endParaRPr sz="4200"/>
          </a:p>
        </p:txBody>
      </p:sp>
      <p:sp>
        <p:nvSpPr>
          <p:cNvPr id="252" name="Google Shape;252;p21"/>
          <p:cNvSpPr txBox="1"/>
          <p:nvPr/>
        </p:nvSpPr>
        <p:spPr>
          <a:xfrm>
            <a:off x="1831924" y="835525"/>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BI-TEMPORAL VIEW</a:t>
            </a:r>
            <a:endParaRPr/>
          </a:p>
        </p:txBody>
      </p:sp>
      <p:sp>
        <p:nvSpPr>
          <p:cNvPr id="254" name="Google Shape;254;p21"/>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55" name="Google Shape;255;p21"/>
          <p:cNvSpPr txBox="1"/>
          <p:nvPr/>
        </p:nvSpPr>
        <p:spPr>
          <a:xfrm>
            <a:off x="1006975" y="5081328"/>
            <a:ext cx="96546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"Keep reality, history, and intent as separate </a:t>
            </a:r>
            <a:r>
              <a:rPr lang="en-US" sz="3000" i="1" dirty="0" err="1">
                <a:solidFill>
                  <a:srgbClr val="0A4D81"/>
                </a:solidFill>
                <a:latin typeface="Montserrat Medium"/>
                <a:ea typeface="Montserrat Medium"/>
                <a:cs typeface="Montserrat Medium"/>
                <a:sym typeface="Montserrat Medium"/>
              </a:rPr>
              <a:t>queryable</a:t>
            </a:r>
            <a:r>
              <a:rPr lang="en-US" sz="3000" i="1" dirty="0">
                <a:solidFill>
                  <a:srgbClr val="0A4D81"/>
                </a:solidFill>
                <a:latin typeface="Montserrat Medium"/>
                <a:ea typeface="Montserrat Medium"/>
                <a:cs typeface="Montserrat Medium"/>
                <a:sym typeface="Montserrat Medium"/>
              </a:rPr>
              <a:t> views, and drift becomes diagnosable instead of alarming."</a:t>
            </a:r>
            <a:endParaRPr sz="3000" i="1" dirty="0">
              <a:solidFill>
                <a:srgbClr val="0A4D81"/>
              </a:solidFill>
              <a:latin typeface="Montserrat Medium"/>
              <a:ea typeface="Montserrat Medium"/>
              <a:cs typeface="Montserrat Medium"/>
              <a:sym typeface="Montserrat Medium"/>
            </a:endParaRPr>
          </a:p>
        </p:txBody>
      </p:sp>
      <p:sp>
        <p:nvSpPr>
          <p:cNvPr id="256" name="Google Shape;256;p21"/>
          <p:cNvSpPr/>
          <p:nvPr/>
        </p:nvSpPr>
        <p:spPr>
          <a:xfrm>
            <a:off x="741744" y="5351531"/>
            <a:ext cx="192000" cy="1508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57" name="Google Shape;257;p21" title="temporality.png"/>
          <p:cNvPicPr preferRelativeResize="0"/>
          <p:nvPr/>
        </p:nvPicPr>
        <p:blipFill>
          <a:blip r:embed="rId3">
            <a:alphaModFix/>
          </a:blip>
          <a:stretch>
            <a:fillRect/>
          </a:stretch>
        </p:blipFill>
        <p:spPr>
          <a:xfrm>
            <a:off x="11450425" y="2494925"/>
            <a:ext cx="7806725" cy="68651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2"/>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04</a:t>
            </a:r>
            <a:endParaRPr>
              <a:solidFill>
                <a:srgbClr val="3FAC92"/>
              </a:solidFill>
            </a:endParaRPr>
          </a:p>
        </p:txBody>
      </p:sp>
      <p:sp>
        <p:nvSpPr>
          <p:cNvPr id="263" name="Google Shape;263;p22"/>
          <p:cNvSpPr txBox="1"/>
          <p:nvPr/>
        </p:nvSpPr>
        <p:spPr>
          <a:xfrm>
            <a:off x="759425" y="1705225"/>
            <a:ext cx="15331500" cy="646500"/>
          </a:xfrm>
          <a:prstGeom prst="rect">
            <a:avLst/>
          </a:prstGeom>
          <a:noFill/>
          <a:ln>
            <a:noFill/>
          </a:ln>
        </p:spPr>
        <p:txBody>
          <a:bodyPr spcFirstLastPara="1" wrap="square" lIns="0" tIns="0" rIns="0" bIns="0" anchor="t" anchorCtr="0">
            <a:spAutoFit/>
          </a:bodyPr>
          <a:lstStyle/>
          <a:p>
            <a:pPr marL="0" lvl="0" indent="0" algn="l" rtl="0">
              <a:lnSpc>
                <a:spcPct val="108780"/>
              </a:lnSpc>
              <a:spcBef>
                <a:spcPts val="0"/>
              </a:spcBef>
              <a:spcAft>
                <a:spcPts val="0"/>
              </a:spcAft>
              <a:buClr>
                <a:schemeClr val="dk1"/>
              </a:buClr>
              <a:buSzPts val="1100"/>
              <a:buFont typeface="Arial"/>
              <a:buNone/>
            </a:pPr>
            <a:r>
              <a:rPr lang="en-US" sz="4200">
                <a:solidFill>
                  <a:srgbClr val="0A4D81"/>
                </a:solidFill>
                <a:latin typeface="Montserrat Medium"/>
                <a:ea typeface="Montserrat Medium"/>
                <a:cs typeface="Montserrat Medium"/>
                <a:sym typeface="Montserrat Medium"/>
              </a:rPr>
              <a:t>Agents as event sources, feeding audit and replay</a:t>
            </a:r>
            <a:endParaRPr sz="4200"/>
          </a:p>
        </p:txBody>
      </p:sp>
      <p:sp>
        <p:nvSpPr>
          <p:cNvPr id="264" name="Google Shape;264;p22"/>
          <p:cNvSpPr txBox="1"/>
          <p:nvPr/>
        </p:nvSpPr>
        <p:spPr>
          <a:xfrm>
            <a:off x="1944024" y="835525"/>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AGENTS AS EVENT SOURCES</a:t>
            </a:r>
            <a:endParaRPr/>
          </a:p>
        </p:txBody>
      </p:sp>
      <p:sp>
        <p:nvSpPr>
          <p:cNvPr id="266" name="Google Shape;266;p22"/>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67" name="Google Shape;267;p22"/>
          <p:cNvSpPr txBox="1"/>
          <p:nvPr/>
        </p:nvSpPr>
        <p:spPr>
          <a:xfrm>
            <a:off x="937550" y="3974637"/>
            <a:ext cx="102735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"If every mutation is published as an event, the audit log stops being a separate artefact. It becomes the substrate that audit, replay, metrics, and reconciliation all read from. Each event carries its origin: the intent, the trigger, the agent identity. </a:t>
            </a:r>
            <a:r>
              <a:rPr lang="en-US" sz="3000" i="1" dirty="0">
                <a:solidFill>
                  <a:srgbClr val="FF0000"/>
                </a:solidFill>
                <a:latin typeface="Montserrat Medium"/>
                <a:ea typeface="Montserrat Medium"/>
                <a:cs typeface="Montserrat Medium"/>
                <a:sym typeface="Montserrat Medium"/>
              </a:rPr>
              <a:t>What happened and why are the same record</a:t>
            </a:r>
            <a:r>
              <a:rPr lang="en-US" sz="3000" i="1" dirty="0">
                <a:solidFill>
                  <a:srgbClr val="0A4D81"/>
                </a:solidFill>
                <a:latin typeface="Montserrat Medium"/>
                <a:ea typeface="Montserrat Medium"/>
                <a:cs typeface="Montserrat Medium"/>
                <a:sym typeface="Montserrat Medium"/>
              </a:rPr>
              <a:t>."</a:t>
            </a:r>
            <a:endParaRPr sz="3000" i="1" dirty="0">
              <a:solidFill>
                <a:srgbClr val="0A4D81"/>
              </a:solidFill>
              <a:latin typeface="Montserrat Medium"/>
              <a:ea typeface="Montserrat Medium"/>
              <a:cs typeface="Montserrat Medium"/>
              <a:sym typeface="Montserrat Medium"/>
            </a:endParaRPr>
          </a:p>
        </p:txBody>
      </p:sp>
      <p:pic>
        <p:nvPicPr>
          <p:cNvPr id="268" name="Google Shape;268;p22" title="event-log.png"/>
          <p:cNvPicPr preferRelativeResize="0"/>
          <p:nvPr/>
        </p:nvPicPr>
        <p:blipFill>
          <a:blip r:embed="rId3">
            <a:alphaModFix/>
          </a:blip>
          <a:stretch>
            <a:fillRect/>
          </a:stretch>
        </p:blipFill>
        <p:spPr>
          <a:xfrm>
            <a:off x="11079275" y="3653375"/>
            <a:ext cx="8531523" cy="5453009"/>
          </a:xfrm>
          <a:prstGeom prst="rect">
            <a:avLst/>
          </a:prstGeom>
          <a:noFill/>
          <a:ln>
            <a:noFill/>
          </a:ln>
        </p:spPr>
      </p:pic>
      <p:sp>
        <p:nvSpPr>
          <p:cNvPr id="269" name="Google Shape;269;p22"/>
          <p:cNvSpPr/>
          <p:nvPr/>
        </p:nvSpPr>
        <p:spPr>
          <a:xfrm>
            <a:off x="759427" y="4217635"/>
            <a:ext cx="174300" cy="3048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3"/>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05</a:t>
            </a:r>
            <a:endParaRPr>
              <a:solidFill>
                <a:srgbClr val="3FAC92"/>
              </a:solidFill>
            </a:endParaRPr>
          </a:p>
        </p:txBody>
      </p:sp>
      <p:sp>
        <p:nvSpPr>
          <p:cNvPr id="275" name="Google Shape;275;p23"/>
          <p:cNvSpPr txBox="1"/>
          <p:nvPr/>
        </p:nvSpPr>
        <p:spPr>
          <a:xfrm>
            <a:off x="759425" y="1812200"/>
            <a:ext cx="12714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One query shape, every provider.</a:t>
            </a:r>
            <a:endParaRPr sz="4200"/>
          </a:p>
        </p:txBody>
      </p:sp>
      <p:sp>
        <p:nvSpPr>
          <p:cNvPr id="276" name="Google Shape;276;p23"/>
          <p:cNvSpPr txBox="1"/>
          <p:nvPr/>
        </p:nvSpPr>
        <p:spPr>
          <a:xfrm>
            <a:off x="1831924" y="835525"/>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UNIVERSAL INTERFACES</a:t>
            </a:r>
            <a:endParaRPr/>
          </a:p>
        </p:txBody>
      </p:sp>
      <p:sp>
        <p:nvSpPr>
          <p:cNvPr id="278" name="Google Shape;278;p23"/>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79" name="Google Shape;279;p23"/>
          <p:cNvSpPr txBox="1"/>
          <p:nvPr/>
        </p:nvSpPr>
        <p:spPr>
          <a:xfrm>
            <a:off x="1006975" y="5052946"/>
            <a:ext cx="96546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"A single query shape across providers means one thing to learn and one thing to plan against, instead of a different SDK per cloud."</a:t>
            </a:r>
            <a:endParaRPr sz="3000" i="1" dirty="0">
              <a:solidFill>
                <a:srgbClr val="0A4D81"/>
              </a:solidFill>
              <a:latin typeface="Montserrat Medium"/>
              <a:ea typeface="Montserrat Medium"/>
              <a:cs typeface="Montserrat Medium"/>
              <a:sym typeface="Montserrat Medium"/>
            </a:endParaRPr>
          </a:p>
        </p:txBody>
      </p:sp>
      <p:sp>
        <p:nvSpPr>
          <p:cNvPr id="280" name="Google Shape;280;p23"/>
          <p:cNvSpPr/>
          <p:nvPr/>
        </p:nvSpPr>
        <p:spPr>
          <a:xfrm>
            <a:off x="741744" y="5351531"/>
            <a:ext cx="192000" cy="1508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81" name="Google Shape;281;p23" title="universal-interface.png"/>
          <p:cNvPicPr preferRelativeResize="0"/>
          <p:nvPr/>
        </p:nvPicPr>
        <p:blipFill>
          <a:blip r:embed="rId3">
            <a:alphaModFix/>
          </a:blip>
          <a:stretch>
            <a:fillRect/>
          </a:stretch>
        </p:blipFill>
        <p:spPr>
          <a:xfrm>
            <a:off x="11840675" y="162438"/>
            <a:ext cx="6337975" cy="109908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4"/>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06</a:t>
            </a:r>
            <a:endParaRPr>
              <a:solidFill>
                <a:srgbClr val="3FAC92"/>
              </a:solidFill>
            </a:endParaRPr>
          </a:p>
        </p:txBody>
      </p:sp>
      <p:sp>
        <p:nvSpPr>
          <p:cNvPr id="287" name="Google Shape;287;p24"/>
          <p:cNvSpPr txBox="1"/>
          <p:nvPr/>
        </p:nvSpPr>
        <p:spPr>
          <a:xfrm>
            <a:off x="759425" y="1812200"/>
            <a:ext cx="12714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Bounded Execution</a:t>
            </a:r>
            <a:endParaRPr sz="4200"/>
          </a:p>
        </p:txBody>
      </p:sp>
      <p:sp>
        <p:nvSpPr>
          <p:cNvPr id="288" name="Google Shape;288;p24"/>
          <p:cNvSpPr txBox="1"/>
          <p:nvPr/>
        </p:nvSpPr>
        <p:spPr>
          <a:xfrm>
            <a:off x="1831926" y="835525"/>
            <a:ext cx="174672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POLICY GATES REPLACE REVIEW CYCLES</a:t>
            </a:r>
            <a:endParaRPr/>
          </a:p>
        </p:txBody>
      </p:sp>
      <p:sp>
        <p:nvSpPr>
          <p:cNvPr id="290" name="Google Shape;290;p24"/>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91" name="Google Shape;291;p24"/>
          <p:cNvSpPr txBox="1"/>
          <p:nvPr/>
        </p:nvSpPr>
        <p:spPr>
          <a:xfrm>
            <a:off x="1096200" y="3863958"/>
            <a:ext cx="81600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"The review cycle bounded what humans could do by accident. In the agent era, execution bounds do the same job by design: budget ceilings, region locks, change rate limits, resource count caps. Policy is not a compliance artefact. It is the new safety loop."</a:t>
            </a:r>
            <a:endParaRPr sz="3000" i="1" dirty="0">
              <a:solidFill>
                <a:srgbClr val="0A4D81"/>
              </a:solidFill>
              <a:latin typeface="Montserrat Medium"/>
              <a:ea typeface="Montserrat Medium"/>
              <a:cs typeface="Montserrat Medium"/>
              <a:sym typeface="Montserrat Medium"/>
            </a:endParaRPr>
          </a:p>
        </p:txBody>
      </p:sp>
      <p:sp>
        <p:nvSpPr>
          <p:cNvPr id="292" name="Google Shape;292;p24"/>
          <p:cNvSpPr/>
          <p:nvPr/>
        </p:nvSpPr>
        <p:spPr>
          <a:xfrm>
            <a:off x="848650" y="4186574"/>
            <a:ext cx="146400" cy="3496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93" name="Google Shape;293;p24"/>
          <p:cNvPicPr preferRelativeResize="0"/>
          <p:nvPr/>
        </p:nvPicPr>
        <p:blipFill>
          <a:blip r:embed="rId3">
            <a:alphaModFix/>
          </a:blip>
          <a:stretch>
            <a:fillRect/>
          </a:stretch>
        </p:blipFill>
        <p:spPr>
          <a:xfrm>
            <a:off x="9357350" y="2333400"/>
            <a:ext cx="10555799" cy="743180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19"/>
        <p:cNvGrpSpPr/>
        <p:nvPr/>
      </p:nvGrpSpPr>
      <p:grpSpPr>
        <a:xfrm>
          <a:off x="0" y="0"/>
          <a:ext cx="0" cy="0"/>
          <a:chOff x="0" y="0"/>
          <a:chExt cx="0" cy="0"/>
        </a:xfrm>
      </p:grpSpPr>
      <p:sp>
        <p:nvSpPr>
          <p:cNvPr id="220" name="Google Shape;220;p18"/>
          <p:cNvSpPr/>
          <p:nvPr/>
        </p:nvSpPr>
        <p:spPr>
          <a:xfrm>
            <a:off x="2074050" y="2422272"/>
            <a:ext cx="14801700" cy="2465400"/>
          </a:xfrm>
          <a:prstGeom prst="rect">
            <a:avLst/>
          </a:prstGeom>
          <a:noFill/>
          <a:ln>
            <a:noFill/>
          </a:ln>
        </p:spPr>
        <p:txBody>
          <a:bodyPr spcFirstLastPara="1" wrap="square" lIns="0" tIns="0" rIns="0" bIns="0" anchor="ctr" anchorCtr="0">
            <a:noAutofit/>
          </a:bodyPr>
          <a:lstStyle/>
          <a:p>
            <a:pPr marL="0" lvl="0" indent="0" algn="l" rtl="0">
              <a:lnSpc>
                <a:spcPct val="110700"/>
              </a:lnSpc>
              <a:spcBef>
                <a:spcPts val="0"/>
              </a:spcBef>
              <a:spcAft>
                <a:spcPts val="0"/>
              </a:spcAft>
              <a:buNone/>
            </a:pPr>
            <a:r>
              <a:rPr lang="en-US" sz="7650" b="1">
                <a:solidFill>
                  <a:schemeClr val="lt1"/>
                </a:solidFill>
                <a:latin typeface="Montserrat"/>
                <a:ea typeface="Montserrat"/>
                <a:cs typeface="Montserrat"/>
                <a:sym typeface="Montserrat"/>
              </a:rPr>
              <a:t>DEMO</a:t>
            </a:r>
            <a:endParaRPr sz="7650" b="1">
              <a:solidFill>
                <a:schemeClr val="lt1"/>
              </a:solidFill>
              <a:latin typeface="Montserrat"/>
              <a:ea typeface="Montserrat"/>
              <a:cs typeface="Montserrat"/>
              <a:sym typeface="Montserrat"/>
            </a:endParaRPr>
          </a:p>
        </p:txBody>
      </p:sp>
      <p:cxnSp>
        <p:nvCxnSpPr>
          <p:cNvPr id="221" name="Google Shape;221;p18"/>
          <p:cNvCxnSpPr/>
          <p:nvPr/>
        </p:nvCxnSpPr>
        <p:spPr>
          <a:xfrm>
            <a:off x="2074050" y="4466475"/>
            <a:ext cx="3238500" cy="7200"/>
          </a:xfrm>
          <a:prstGeom prst="straightConnector1">
            <a:avLst/>
          </a:prstGeom>
          <a:noFill/>
          <a:ln w="76200" cap="flat" cmpd="sng">
            <a:solidFill>
              <a:srgbClr val="3FAC92"/>
            </a:solidFill>
            <a:prstDash val="solid"/>
            <a:round/>
            <a:headEnd type="none" w="med" len="med"/>
            <a:tailEnd type="none" w="med" len="med"/>
          </a:ln>
        </p:spPr>
      </p:cxnSp>
      <p:sp>
        <p:nvSpPr>
          <p:cNvPr id="222" name="Google Shape;222;p18"/>
          <p:cNvSpPr txBox="1"/>
          <p:nvPr/>
        </p:nvSpPr>
        <p:spPr>
          <a:xfrm>
            <a:off x="17830800" y="10515600"/>
            <a:ext cx="1707900" cy="4617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26"/>
        <p:cNvGrpSpPr/>
        <p:nvPr/>
      </p:nvGrpSpPr>
      <p:grpSpPr>
        <a:xfrm>
          <a:off x="0" y="0"/>
          <a:ext cx="0" cy="0"/>
          <a:chOff x="0" y="0"/>
          <a:chExt cx="0" cy="0"/>
        </a:xfrm>
      </p:grpSpPr>
      <p:sp>
        <p:nvSpPr>
          <p:cNvPr id="227" name="Google Shape;227;p19"/>
          <p:cNvSpPr/>
          <p:nvPr/>
        </p:nvSpPr>
        <p:spPr>
          <a:xfrm>
            <a:off x="3482275" y="6839566"/>
            <a:ext cx="30132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28" name="Google Shape;228;p19"/>
          <p:cNvSpPr txBox="1"/>
          <p:nvPr/>
        </p:nvSpPr>
        <p:spPr>
          <a:xfrm>
            <a:off x="3482275" y="6941566"/>
            <a:ext cx="30132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COMPLIANCE</a:t>
            </a:r>
            <a:endParaRPr sz="2400"/>
          </a:p>
        </p:txBody>
      </p:sp>
      <p:sp>
        <p:nvSpPr>
          <p:cNvPr id="229" name="Google Shape;229;p19"/>
          <p:cNvSpPr/>
          <p:nvPr/>
        </p:nvSpPr>
        <p:spPr>
          <a:xfrm>
            <a:off x="1210700" y="6839566"/>
            <a:ext cx="20895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0" name="Google Shape;230;p19"/>
          <p:cNvSpPr txBox="1"/>
          <p:nvPr/>
        </p:nvSpPr>
        <p:spPr>
          <a:xfrm>
            <a:off x="1210750" y="6941566"/>
            <a:ext cx="20895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CLOUD</a:t>
            </a:r>
            <a:endParaRPr sz="2400"/>
          </a:p>
        </p:txBody>
      </p:sp>
      <p:sp>
        <p:nvSpPr>
          <p:cNvPr id="231" name="Google Shape;231;p19"/>
          <p:cNvSpPr/>
          <p:nvPr/>
        </p:nvSpPr>
        <p:spPr>
          <a:xfrm>
            <a:off x="4736300" y="7738266"/>
            <a:ext cx="31071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2" name="Google Shape;232;p19"/>
          <p:cNvSpPr txBox="1"/>
          <p:nvPr/>
        </p:nvSpPr>
        <p:spPr>
          <a:xfrm>
            <a:off x="4736300" y="7840266"/>
            <a:ext cx="31071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ASSURANCE</a:t>
            </a:r>
            <a:endParaRPr sz="2400"/>
          </a:p>
        </p:txBody>
      </p:sp>
      <p:sp>
        <p:nvSpPr>
          <p:cNvPr id="233" name="Google Shape;233;p19"/>
          <p:cNvSpPr/>
          <p:nvPr/>
        </p:nvSpPr>
        <p:spPr>
          <a:xfrm>
            <a:off x="1210700" y="7738266"/>
            <a:ext cx="32724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4" name="Google Shape;234;p19"/>
          <p:cNvSpPr txBox="1"/>
          <p:nvPr/>
        </p:nvSpPr>
        <p:spPr>
          <a:xfrm>
            <a:off x="1210700" y="7840266"/>
            <a:ext cx="32724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AUTOMATION</a:t>
            </a:r>
            <a:endParaRPr sz="2400"/>
          </a:p>
        </p:txBody>
      </p:sp>
      <p:pic>
        <p:nvPicPr>
          <p:cNvPr id="235" name="Google Shape;235;p19" title="STACKQL_LOGO_white.jpg"/>
          <p:cNvPicPr preferRelativeResize="0"/>
          <p:nvPr/>
        </p:nvPicPr>
        <p:blipFill rotWithShape="1">
          <a:blip r:embed="rId3">
            <a:alphaModFix/>
          </a:blip>
          <a:srcRect l="11908" t="29925" r="11270" b="27897"/>
          <a:stretch/>
        </p:blipFill>
        <p:spPr>
          <a:xfrm>
            <a:off x="1215000" y="4271450"/>
            <a:ext cx="11403925" cy="1878326"/>
          </a:xfrm>
          <a:prstGeom prst="rect">
            <a:avLst/>
          </a:prstGeom>
          <a:noFill/>
          <a:ln>
            <a:noFill/>
          </a:ln>
        </p:spPr>
      </p:pic>
      <p:sp>
        <p:nvSpPr>
          <p:cNvPr id="236" name="Google Shape;236;p19"/>
          <p:cNvSpPr/>
          <p:nvPr/>
        </p:nvSpPr>
        <p:spPr>
          <a:xfrm>
            <a:off x="6677500" y="6839566"/>
            <a:ext cx="22389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7" name="Google Shape;237;p19"/>
          <p:cNvSpPr txBox="1"/>
          <p:nvPr/>
        </p:nvSpPr>
        <p:spPr>
          <a:xfrm>
            <a:off x="6677500" y="6941566"/>
            <a:ext cx="22389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SECURITY</a:t>
            </a:r>
            <a:endParaRPr sz="2400"/>
          </a:p>
        </p:txBody>
      </p:sp>
      <p:sp>
        <p:nvSpPr>
          <p:cNvPr id="238" name="Google Shape;238;p19"/>
          <p:cNvSpPr/>
          <p:nvPr/>
        </p:nvSpPr>
        <p:spPr>
          <a:xfrm>
            <a:off x="8096601" y="7738270"/>
            <a:ext cx="2780400" cy="665700"/>
          </a:xfrm>
          <a:prstGeom prst="rect">
            <a:avLst/>
          </a:prstGeom>
          <a:solidFill>
            <a:srgbClr val="3FAC9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9" name="Google Shape;239;p19"/>
          <p:cNvSpPr txBox="1"/>
          <p:nvPr/>
        </p:nvSpPr>
        <p:spPr>
          <a:xfrm>
            <a:off x="8096601" y="7840270"/>
            <a:ext cx="27804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THANK YOU</a:t>
            </a:r>
            <a:endParaRPr sz="2400"/>
          </a:p>
        </p:txBody>
      </p:sp>
      <p:sp>
        <p:nvSpPr>
          <p:cNvPr id="240" name="Google Shape;240;p19"/>
          <p:cNvSpPr txBox="1"/>
          <p:nvPr/>
        </p:nvSpPr>
        <p:spPr>
          <a:xfrm>
            <a:off x="17145000" y="10357475"/>
            <a:ext cx="2085000" cy="492600"/>
          </a:xfrm>
          <a:prstGeom prst="rect">
            <a:avLst/>
          </a:prstGeom>
          <a:noFill/>
          <a:ln>
            <a:noFill/>
          </a:ln>
        </p:spPr>
        <p:txBody>
          <a:bodyPr spcFirstLastPara="1" wrap="square" lIns="0" tIns="0" rIns="0" bIns="0" anchor="t" anchorCtr="0">
            <a:spAutoFit/>
          </a:bodyPr>
          <a:lstStyle/>
          <a:p>
            <a:pPr marL="0" marR="0" lvl="0" indent="0" algn="l" rtl="0">
              <a:lnSpc>
                <a:spcPct val="110687"/>
              </a:lnSpc>
              <a:spcBef>
                <a:spcPts val="0"/>
              </a:spcBef>
              <a:spcAft>
                <a:spcPts val="0"/>
              </a:spcAft>
              <a:buNone/>
            </a:pPr>
            <a:r>
              <a:rPr lang="en-US" sz="3200" b="1">
                <a:solidFill>
                  <a:srgbClr val="3FAC92"/>
                </a:solidFill>
                <a:latin typeface="Montserrat"/>
                <a:ea typeface="Montserrat"/>
                <a:cs typeface="Montserrat"/>
                <a:sym typeface="Montserrat"/>
              </a:rPr>
              <a:t>stackql.io</a:t>
            </a:r>
            <a:endParaRPr/>
          </a:p>
        </p:txBody>
      </p:sp>
      <p:sp>
        <p:nvSpPr>
          <p:cNvPr id="241" name="Google Shape;241;p19"/>
          <p:cNvSpPr/>
          <p:nvPr/>
        </p:nvSpPr>
        <p:spPr>
          <a:xfrm>
            <a:off x="9098425" y="6839566"/>
            <a:ext cx="20895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42" name="Google Shape;242;p19"/>
          <p:cNvSpPr txBox="1"/>
          <p:nvPr/>
        </p:nvSpPr>
        <p:spPr>
          <a:xfrm>
            <a:off x="9098475" y="6941566"/>
            <a:ext cx="20895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MCP</a:t>
            </a:r>
            <a:endParaRPr sz="2400"/>
          </a:p>
        </p:txBody>
      </p:sp>
      <p:pic>
        <p:nvPicPr>
          <p:cNvPr id="243" name="Google Shape;243;p19"/>
          <p:cNvPicPr preferRelativeResize="0"/>
          <p:nvPr/>
        </p:nvPicPr>
        <p:blipFill>
          <a:blip r:embed="rId4">
            <a:alphaModFix/>
          </a:blip>
          <a:stretch>
            <a:fillRect/>
          </a:stretch>
        </p:blipFill>
        <p:spPr>
          <a:xfrm>
            <a:off x="15394525" y="4183050"/>
            <a:ext cx="3966650" cy="3966650"/>
          </a:xfrm>
          <a:prstGeom prst="rect">
            <a:avLst/>
          </a:prstGeom>
          <a:noFill/>
          <a:ln>
            <a:noFill/>
          </a:ln>
        </p:spPr>
      </p:pic>
      <p:sp>
        <p:nvSpPr>
          <p:cNvPr id="244" name="Google Shape;244;p19"/>
          <p:cNvSpPr txBox="1"/>
          <p:nvPr/>
        </p:nvSpPr>
        <p:spPr>
          <a:xfrm>
            <a:off x="1214993" y="10372925"/>
            <a:ext cx="1707900" cy="4617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pic>
        <p:nvPicPr>
          <p:cNvPr id="245" name="Google Shape;245;p19" title="aaif_memberbadge_silver.png"/>
          <p:cNvPicPr preferRelativeResize="0"/>
          <p:nvPr/>
        </p:nvPicPr>
        <p:blipFill>
          <a:blip r:embed="rId5">
            <a:alphaModFix/>
          </a:blip>
          <a:stretch>
            <a:fillRect/>
          </a:stretch>
        </p:blipFill>
        <p:spPr>
          <a:xfrm>
            <a:off x="11590125" y="6715825"/>
            <a:ext cx="1878323" cy="1878323"/>
          </a:xfrm>
          <a:prstGeom prst="rect">
            <a:avLst/>
          </a:prstGeom>
          <a:noFill/>
          <a:ln>
            <a:noFill/>
          </a:ln>
        </p:spPr>
      </p:pic>
    </p:spTree>
  </p:cSld>
  <p:clrMapOvr>
    <a:masterClrMapping/>
  </p:clrMapOvr>
</p:sld>
</file>

<file path=ppt/theme/theme1.xml><?xml version="1.0" encoding="utf-8"?>
<a:theme xmlns:a="http://schemas.openxmlformats.org/drawingml/2006/main" name="Theme Office">
  <a:themeElements>
    <a:clrScheme name="Standard">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1610</Words>
  <Application>Microsoft Office PowerPoint</Application>
  <PresentationFormat>Custom</PresentationFormat>
  <Paragraphs>247</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Arial</vt:lpstr>
      <vt:lpstr>Montserrat</vt:lpstr>
      <vt:lpstr>Montserrat Medium</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Jeffrey Aven</cp:lastModifiedBy>
  <cp:revision>4</cp:revision>
  <dcterms:modified xsi:type="dcterms:W3CDTF">2026-10-27T21:15:10Z</dcterms:modified>
</cp:coreProperties>
</file>
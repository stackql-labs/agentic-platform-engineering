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19"/>
  </p:notesMasterIdLst>
  <p:sldIdLst>
    <p:sldId id="256" r:id="rId2"/>
    <p:sldId id="257" r:id="rId3"/>
    <p:sldId id="273" r:id="rId4"/>
    <p:sldId id="261" r:id="rId5"/>
    <p:sldId id="258" r:id="rId6"/>
    <p:sldId id="259" r:id="rId7"/>
    <p:sldId id="262" r:id="rId8"/>
    <p:sldId id="263" r:id="rId9"/>
    <p:sldId id="265" r:id="rId10"/>
    <p:sldId id="266" r:id="rId11"/>
    <p:sldId id="274" r:id="rId12"/>
    <p:sldId id="271" r:id="rId13"/>
    <p:sldId id="275" r:id="rId14"/>
    <p:sldId id="276" r:id="rId15"/>
    <p:sldId id="277" r:id="rId16"/>
    <p:sldId id="278" r:id="rId17"/>
    <p:sldId id="272" r:id="rId18"/>
  </p:sldIdLst>
  <p:sldSz cx="20116800" cy="11315700"/>
  <p:notesSz cx="20116800" cy="113157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Medium" panose="00000600000000000000" pitchFamily="2" charset="0"/>
      <p:regular r:id="rId24"/>
      <p: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BE8CD05-E170-458A-A727-CE0F960871F3}">
  <a:tblStyle styleId="{1BE8CD05-E170-458A-A727-CE0F960871F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9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353450" y="848675"/>
            <a:ext cx="13411850" cy="4243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2011675" y="5374950"/>
            <a:ext cx="16093425" cy="509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da14ecaa6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6500" y="849313"/>
            <a:ext cx="7545388" cy="4243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" name="Google Shape;19;g3da14ecaa6d_0_0:notes"/>
          <p:cNvSpPr txBox="1">
            <a:spLocks noGrp="1"/>
          </p:cNvSpPr>
          <p:nvPr>
            <p:ph type="body" idx="1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things today: 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StackQL in five minutes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what changes when agents write to your estate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and how to embed the MCP server in a Golang binary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f151dc251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3450" y="848675"/>
            <a:ext cx="13411800" cy="424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" name="Google Shape;26;g3f151dc251d_0_0:notes"/>
          <p:cNvSpPr txBox="1">
            <a:spLocks noGrp="1"/>
          </p:cNvSpPr>
          <p:nvPr>
            <p:ph type="body" idx="1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Cloud and SaaS providers as data sources accessed via SQL. 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/>
              <a:t>Query and change live state.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No server, no database, no state file: the engine calls the provider APIs at query time.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156dd5659_0_23:notes"/>
          <p:cNvSpPr txBox="1">
            <a:spLocks noGrp="1"/>
          </p:cNvSpPr>
          <p:nvPr>
            <p:ph type="body" idx="1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IaC was based upon four assumptions, all of which were reasonable ten years ago, now all inverted.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Humans authored the changes. 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Changes happened at human timescales, which is to say minutes to days. 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One writer per environment, enforced by review and state locking. 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And drift was an exception, something you fixed and then went back to the steady state.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A state file is a snapshot of one writer's belief.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With multiple writers it is wrong by construction.</a:t>
            </a:r>
            <a:endParaRPr/>
          </a:p>
        </p:txBody>
      </p:sp>
      <p:sp>
        <p:nvSpPr>
          <p:cNvPr id="84" name="Google Shape;84;g3f156dd5659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6500" y="849313"/>
            <a:ext cx="7545388" cy="4243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f1548bd4bb_0_0:notes"/>
          <p:cNvSpPr txBox="1">
            <a:spLocks noGrp="1"/>
          </p:cNvSpPr>
          <p:nvPr>
            <p:ph type="body" idx="1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Providers are OpenAPI-derived interface documents pulled from a registry; 40+ providers, community extensible.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SELECT for reads, INSERT/UPDATE/REPLACE/DELETE for writes, EXEC for lifecycle methods.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The planner builds a DAG: remote calls where it must, local relational work (joins, aggregates, SQLite functions) where it can.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g3f1548bd4b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3450" y="848675"/>
            <a:ext cx="13411800" cy="424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8033a31ea_0_13:notes"/>
          <p:cNvSpPr txBox="1">
            <a:spLocks noGrp="1"/>
          </p:cNvSpPr>
          <p:nvPr>
            <p:ph type="body" idx="1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g3e8033a31ea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3450" y="848675"/>
            <a:ext cx="13411800" cy="424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8033a31ea_0_246:notes"/>
          <p:cNvSpPr txBox="1">
            <a:spLocks noGrp="1"/>
          </p:cNvSpPr>
          <p:nvPr>
            <p:ph type="body" idx="1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 agent's context has to be the running estate, not a plan file.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g3e8033a31ea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3450" y="848675"/>
            <a:ext cx="13411800" cy="424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8033a31ea_0_214:notes"/>
          <p:cNvSpPr txBox="1">
            <a:spLocks noGrp="1"/>
          </p:cNvSpPr>
          <p:nvPr>
            <p:ph type="body" idx="1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with Infrastructure-as-Code: the intent lived in the code.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with Infrastructure-as-Context: </a:t>
            </a:r>
            <a:r>
              <a:rPr lang="en-US">
                <a:solidFill>
                  <a:schemeClr val="dk1"/>
                </a:solidFill>
              </a:rPr>
              <a:t>agents need to query, reason about, and act on actual state.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Code does not disappear. It - along with the state file - just stops being the contract.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3e8033a31ea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3450" y="848675"/>
            <a:ext cx="13411800" cy="424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159e4a79d_0_0:notes"/>
          <p:cNvSpPr txBox="1">
            <a:spLocks noGrp="1"/>
          </p:cNvSpPr>
          <p:nvPr>
            <p:ph type="body" idx="1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One MCP server, one SQL surface, every provider. Instead of N bespoke tool servers with N auth schemes.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Runs over stdio or HTTP; the host here is our own Rust app, but it is the same server Claude Desktop, Cursor, npx and uvx users run.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Credentials stay server-side in the process environment; the model never sees them.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g3f159e4a79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3450" y="848675"/>
            <a:ext cx="13411800" cy="424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159e4a79d_0_36:notes"/>
          <p:cNvSpPr txBox="1">
            <a:spLocks noGrp="1"/>
          </p:cNvSpPr>
          <p:nvPr>
            <p:ph type="body" idx="1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Discovery tools let the model drill provider -&gt; service -&gt; resource -&gt; methods before writing SQL, so it does not guess table names.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Modes are a server-side contract: `read_only` refuses writes however the model is prompted; `safe` and `delete_safe` send an MCP elicitation request and wait for a human; a client that cannot answer gets a refusal. `full_access` is the explicit opt-in.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Every tool call is audited as JSONL (SQL, decision, duration; never result rows).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3f159e4a79d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6500" y="849313"/>
            <a:ext cx="7545388" cy="4243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16f8d8aa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3450" y="848675"/>
            <a:ext cx="13411800" cy="424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e16f8d8aa5_0_0:notes"/>
          <p:cNvSpPr txBox="1">
            <a:spLocks noGrp="1"/>
          </p:cNvSpPr>
          <p:nvPr>
            <p:ph type="body" idx="1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da14ecaa6d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3450" y="848675"/>
            <a:ext cx="13411800" cy="424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da14ecaa6d_0_48:notes"/>
          <p:cNvSpPr txBox="1">
            <a:spLocks noGrp="1"/>
          </p:cNvSpPr>
          <p:nvPr>
            <p:ph type="body" idx="1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A9007CB-926A-3BFC-E380-2F102789AA1D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38AFF8-63BD-BE59-BAC0-67AF50F3675B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DCFBD-B55D-7D5F-0B67-729A763D4E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235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ftr" idx="11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/>
        </p:nvSpPr>
        <p:spPr>
          <a:xfrm>
            <a:off x="1923047" y="7765968"/>
            <a:ext cx="8553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3FAC92"/>
                </a:solidFill>
                <a:latin typeface="Montserrat"/>
                <a:ea typeface="Montserrat"/>
                <a:cs typeface="Montserrat"/>
                <a:sym typeface="Montserrat"/>
              </a:rPr>
              <a:t>Presenter: Jeffrey Aven</a:t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6407775" y="10448700"/>
            <a:ext cx="3444000" cy="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3800">
              <a:solidFill>
                <a:schemeClr val="lt1"/>
              </a:solidFill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920240" y="5486400"/>
            <a:ext cx="164592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FFFFFF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AI NATIVE PLATFORM ENGINEERING
AGENTS AS THE PRIMARY CONSUMER</a:t>
            </a:r>
            <a:endParaRPr sz="4800" b="1">
              <a:solidFill>
                <a:srgbClr val="FFFFFF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D8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12579750" y="0"/>
            <a:ext cx="7541400" cy="11315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9" name="Google Shape;29;p4"/>
          <p:cNvSpPr txBox="1"/>
          <p:nvPr/>
        </p:nvSpPr>
        <p:spPr>
          <a:xfrm>
            <a:off x="634202" y="526867"/>
            <a:ext cx="12198000" cy="8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STACKQL &gt;&gt;</a:t>
            </a:r>
            <a:endParaRPr sz="5650" b="1">
              <a:solidFill>
                <a:srgbClr val="3FAC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0" name="Google Shape;30;p4"/>
          <p:cNvCxnSpPr/>
          <p:nvPr/>
        </p:nvCxnSpPr>
        <p:spPr>
          <a:xfrm>
            <a:off x="634182" y="1541104"/>
            <a:ext cx="11120100" cy="90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Google Shape;31;p4"/>
          <p:cNvSpPr txBox="1"/>
          <p:nvPr/>
        </p:nvSpPr>
        <p:spPr>
          <a:xfrm>
            <a:off x="2031891" y="4253100"/>
            <a:ext cx="10005000" cy="15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Query and Interact in Real</a:t>
            </a:r>
            <a:endParaRPr sz="1200"/>
          </a:p>
          <a:p>
            <a:pPr marL="0" marR="0" lvl="0" indent="0" algn="l" rtl="0">
              <a:lnSpc>
                <a:spcPct val="99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Time using SQL</a:t>
            </a:r>
            <a:endParaRPr sz="1200"/>
          </a:p>
        </p:txBody>
      </p:sp>
      <p:sp>
        <p:nvSpPr>
          <p:cNvPr id="32" name="Google Shape;32;p4"/>
          <p:cNvSpPr txBox="1"/>
          <p:nvPr/>
        </p:nvSpPr>
        <p:spPr>
          <a:xfrm>
            <a:off x="2031892" y="6108825"/>
            <a:ext cx="10005000" cy="15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Seamless Integration with</a:t>
            </a:r>
            <a:endParaRPr sz="1200"/>
          </a:p>
          <a:p>
            <a:pPr marL="0" marR="0" lvl="0" indent="0" algn="l" rtl="0">
              <a:lnSpc>
                <a:spcPct val="99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Existing Systems</a:t>
            </a:r>
            <a:endParaRPr sz="1200"/>
          </a:p>
        </p:txBody>
      </p:sp>
      <p:pic>
        <p:nvPicPr>
          <p:cNvPr id="33" name="Google Shape;33;p4" title="check_blue.png"/>
          <p:cNvPicPr preferRelativeResize="0"/>
          <p:nvPr/>
        </p:nvPicPr>
        <p:blipFill rotWithShape="1">
          <a:blip r:embed="rId4">
            <a:alphaModFix/>
          </a:blip>
          <a:srcRect l="19920" t="7718" r="19201" b="5567"/>
          <a:stretch/>
        </p:blipFill>
        <p:spPr>
          <a:xfrm>
            <a:off x="634191" y="4661949"/>
            <a:ext cx="863655" cy="869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4" title="check_blue.png"/>
          <p:cNvPicPr preferRelativeResize="0"/>
          <p:nvPr/>
        </p:nvPicPr>
        <p:blipFill rotWithShape="1">
          <a:blip r:embed="rId4">
            <a:alphaModFix/>
          </a:blip>
          <a:srcRect l="19920" t="7718" r="19201" b="5567"/>
          <a:stretch/>
        </p:blipFill>
        <p:spPr>
          <a:xfrm>
            <a:off x="634191" y="6418490"/>
            <a:ext cx="863655" cy="869698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1998166" y="8278750"/>
            <a:ext cx="9756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Analyst Friendly, Agent Native</a:t>
            </a:r>
            <a:endParaRPr sz="1200"/>
          </a:p>
        </p:txBody>
      </p:sp>
      <p:pic>
        <p:nvPicPr>
          <p:cNvPr id="37" name="Google Shape;37;p4" title="check_blue.png"/>
          <p:cNvPicPr preferRelativeResize="0"/>
          <p:nvPr/>
        </p:nvPicPr>
        <p:blipFill rotWithShape="1">
          <a:blip r:embed="rId4">
            <a:alphaModFix/>
          </a:blip>
          <a:srcRect l="19920" t="7718" r="19201" b="5567"/>
          <a:stretch/>
        </p:blipFill>
        <p:spPr>
          <a:xfrm>
            <a:off x="634191" y="8228674"/>
            <a:ext cx="863655" cy="86969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/>
          <p:nvPr/>
        </p:nvSpPr>
        <p:spPr>
          <a:xfrm>
            <a:off x="456400" y="10201225"/>
            <a:ext cx="5390400" cy="5859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4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CONFIGURATION-AS-</a:t>
            </a:r>
            <a:r>
              <a:rPr lang="en-US" sz="2500" b="1">
                <a:solidFill>
                  <a:srgbClr val="00FF00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sz="2500">
              <a:solidFill>
                <a:srgbClr val="00FF00"/>
              </a:solidFill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2044491" y="2426750"/>
            <a:ext cx="9709800" cy="14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9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Unified Cross-Plane Analytics, Automation and IaC</a:t>
            </a:r>
            <a:endParaRPr sz="1200"/>
          </a:p>
        </p:txBody>
      </p:sp>
      <p:pic>
        <p:nvPicPr>
          <p:cNvPr id="40" name="Google Shape;40;p4" title="check_blue.png"/>
          <p:cNvPicPr preferRelativeResize="0"/>
          <p:nvPr/>
        </p:nvPicPr>
        <p:blipFill rotWithShape="1">
          <a:blip r:embed="rId4">
            <a:alphaModFix/>
          </a:blip>
          <a:srcRect l="19920" t="7718" r="19201" b="5567"/>
          <a:stretch/>
        </p:blipFill>
        <p:spPr>
          <a:xfrm>
            <a:off x="646791" y="2835599"/>
            <a:ext cx="863655" cy="869698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/>
          <p:nvPr/>
        </p:nvSpPr>
        <p:spPr>
          <a:xfrm>
            <a:off x="6384225" y="10201225"/>
            <a:ext cx="5804700" cy="5859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4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INFRASTRUCTURE-AS-</a:t>
            </a:r>
            <a:r>
              <a:rPr lang="en-US" sz="2500" b="1">
                <a:solidFill>
                  <a:srgbClr val="00FF00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  <a:endParaRPr sz="25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50AFB7-A325-F927-A57D-A3FCE6F2E78F}"/>
              </a:ext>
            </a:extLst>
          </p:cNvPr>
          <p:cNvSpPr txBox="1"/>
          <p:nvPr/>
        </p:nvSpPr>
        <p:spPr>
          <a:xfrm>
            <a:off x="685800" y="438912"/>
            <a:ext cx="18470880" cy="82296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3800" b="1">
                <a:solidFill>
                  <a:srgbClr val="0A4D81"/>
                </a:solidFill>
                <a:latin typeface="Montserrat" panose="00000500000000000000" pitchFamily="2" charset="0"/>
              </a:rPr>
              <a:t>START WITH A FAMILIAR INCIDENT</a:t>
            </a:r>
            <a:endParaRPr lang="en-AU" sz="3800" b="1">
              <a:solidFill>
                <a:srgbClr val="0A4D81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79F974-0187-9717-8DCB-626791F406C2}"/>
              </a:ext>
            </a:extLst>
          </p:cNvPr>
          <p:cNvSpPr/>
          <p:nvPr/>
        </p:nvSpPr>
        <p:spPr>
          <a:xfrm>
            <a:off x="749808" y="1353312"/>
            <a:ext cx="2286000" cy="50292"/>
          </a:xfrm>
          <a:prstGeom prst="rect">
            <a:avLst/>
          </a:prstGeom>
          <a:solidFill>
            <a:srgbClr val="3FAC92"/>
          </a:solidFill>
          <a:ln w="15875">
            <a:solidFill>
              <a:srgbClr val="3FAC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2D41BB-8616-94E3-6BF0-51F98D529E39}"/>
              </a:ext>
            </a:extLst>
          </p:cNvPr>
          <p:cNvSpPr txBox="1"/>
          <p:nvPr/>
        </p:nvSpPr>
        <p:spPr>
          <a:xfrm>
            <a:off x="731520" y="1481328"/>
            <a:ext cx="18470880" cy="54864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2300" b="1">
                <a:solidFill>
                  <a:srgbClr val="3FAC92"/>
                </a:solidFill>
                <a:latin typeface="Montserrat" panose="00000500000000000000" pitchFamily="2" charset="0"/>
              </a:rPr>
              <a:t>Synthetic fixture - not customer telemetry</a:t>
            </a:r>
            <a:endParaRPr lang="en-AU" sz="2300" b="1">
              <a:solidFill>
                <a:srgbClr val="3FAC92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805C15-4669-D414-BEBA-D338DBB75C32}"/>
              </a:ext>
            </a:extLst>
          </p:cNvPr>
          <p:cNvSpPr txBox="1"/>
          <p:nvPr/>
        </p:nvSpPr>
        <p:spPr>
          <a:xfrm>
            <a:off x="17693639" y="10561320"/>
            <a:ext cx="1828800" cy="384048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pPr algn="ctr"/>
            <a:r>
              <a:rPr lang="en-AU" sz="1700" b="1">
                <a:solidFill>
                  <a:srgbClr val="0A4D81"/>
                </a:solidFill>
                <a:latin typeface="Montserrat" panose="00000500000000000000" pitchFamily="2" charset="0"/>
              </a:rPr>
              <a:t>STACKQL&gt;&gt;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4101362-6848-D374-D51B-627E8671C3FF}"/>
              </a:ext>
            </a:extLst>
          </p:cNvPr>
          <p:cNvSpPr/>
          <p:nvPr/>
        </p:nvSpPr>
        <p:spPr>
          <a:xfrm>
            <a:off x="822960" y="2331720"/>
            <a:ext cx="8321040" cy="3566160"/>
          </a:xfrm>
          <a:prstGeom prst="roundRect">
            <a:avLst/>
          </a:prstGeom>
          <a:solidFill>
            <a:srgbClr val="F1F6FA"/>
          </a:solidFill>
          <a:ln w="15875">
            <a:solidFill>
              <a:srgbClr val="0A4D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C0A69E-A978-736D-8EF4-5917B0B08B00}"/>
              </a:ext>
            </a:extLst>
          </p:cNvPr>
          <p:cNvSpPr txBox="1"/>
          <p:nvPr/>
        </p:nvSpPr>
        <p:spPr>
          <a:xfrm>
            <a:off x="1143000" y="2578608"/>
            <a:ext cx="7680960" cy="512064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AU" sz="2300" b="1">
                <a:solidFill>
                  <a:srgbClr val="0A4D81"/>
                </a:solidFill>
                <a:latin typeface="Montserrat" panose="00000500000000000000" pitchFamily="2" charset="0"/>
              </a:rPr>
              <a:t>OBSERVED 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A89D9C-DAA9-13B1-3531-5F8C5D41793A}"/>
              </a:ext>
            </a:extLst>
          </p:cNvPr>
          <p:cNvSpPr txBox="1"/>
          <p:nvPr/>
        </p:nvSpPr>
        <p:spPr>
          <a:xfrm>
            <a:off x="1143000" y="3246120"/>
            <a:ext cx="7680960" cy="228600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2700">
                <a:solidFill>
                  <a:srgbClr val="153855"/>
                </a:solidFill>
                <a:latin typeface="Montserrat" panose="00000500000000000000" pitchFamily="2" charset="0"/>
              </a:rPr>
              <a:t>shop / checkout
ImagePullBackOff
0 of 1 replicas ready
Current image: :broken</a:t>
            </a:r>
            <a:endParaRPr lang="en-AU" sz="2700">
              <a:solidFill>
                <a:srgbClr val="153855"/>
              </a:solidFill>
              <a:latin typeface="Montserrat" panose="00000500000000000000" pitchFamily="2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32909D2-691D-A10E-31B5-6CA8E1B5DC60}"/>
              </a:ext>
            </a:extLst>
          </p:cNvPr>
          <p:cNvSpPr/>
          <p:nvPr/>
        </p:nvSpPr>
        <p:spPr>
          <a:xfrm>
            <a:off x="10058400" y="2331720"/>
            <a:ext cx="8321039" cy="3566160"/>
          </a:xfrm>
          <a:prstGeom prst="roundRect">
            <a:avLst/>
          </a:prstGeom>
          <a:solidFill>
            <a:srgbClr val="EDF7F3"/>
          </a:solidFill>
          <a:ln w="15875">
            <a:solidFill>
              <a:srgbClr val="3FAC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E1A4FF-6160-6B37-28E9-D4705914C38F}"/>
              </a:ext>
            </a:extLst>
          </p:cNvPr>
          <p:cNvSpPr txBox="1"/>
          <p:nvPr/>
        </p:nvSpPr>
        <p:spPr>
          <a:xfrm>
            <a:off x="10378440" y="2578608"/>
            <a:ext cx="7680960" cy="512064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AU" sz="2300" b="1">
                <a:solidFill>
                  <a:srgbClr val="0A4D81"/>
                </a:solidFill>
                <a:latin typeface="Montserrat" panose="00000500000000000000" pitchFamily="2" charset="0"/>
              </a:rPr>
              <a:t>APPROVED DESIRED STATE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14567E-7329-EC41-1034-2657ADE56A5D}"/>
              </a:ext>
            </a:extLst>
          </p:cNvPr>
          <p:cNvSpPr txBox="1"/>
          <p:nvPr/>
        </p:nvSpPr>
        <p:spPr>
          <a:xfrm>
            <a:off x="10378440" y="3246120"/>
            <a:ext cx="7635240" cy="228600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2700">
                <a:solidFill>
                  <a:srgbClr val="153855"/>
                </a:solidFill>
                <a:latin typeface="Montserrat" panose="00000500000000000000" pitchFamily="2" charset="0"/>
              </a:rPr>
              <a:t>Trusted fixture baseline
Image: :1.2.3
Desired replicas: 1
Evidence must be fresh</a:t>
            </a:r>
            <a:endParaRPr lang="en-AU" sz="2700">
              <a:solidFill>
                <a:srgbClr val="153855"/>
              </a:solidFill>
              <a:latin typeface="Montserrat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A5F667-FF63-1F8E-C79F-06C2BDAA1FC1}"/>
              </a:ext>
            </a:extLst>
          </p:cNvPr>
          <p:cNvSpPr txBox="1"/>
          <p:nvPr/>
        </p:nvSpPr>
        <p:spPr>
          <a:xfrm>
            <a:off x="1051560" y="6583680"/>
            <a:ext cx="17830800" cy="100584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pPr algn="ctr"/>
            <a:r>
              <a:rPr lang="en-US" sz="3100" b="1">
                <a:solidFill>
                  <a:srgbClr val="0A4D81"/>
                </a:solidFill>
                <a:latin typeface="Montserrat" panose="00000500000000000000" pitchFamily="2" charset="0"/>
              </a:rPr>
              <a:t>The question is not whether the agent sounds confident.
It is what can it actually do?</a:t>
            </a:r>
            <a:endParaRPr lang="en-AU" sz="3100" b="1">
              <a:solidFill>
                <a:srgbClr val="0A4D8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195E5F-7B32-76A9-4E62-1409A4A1BB2B}"/>
              </a:ext>
            </a:extLst>
          </p:cNvPr>
          <p:cNvSpPr txBox="1"/>
          <p:nvPr/>
        </p:nvSpPr>
        <p:spPr>
          <a:xfrm>
            <a:off x="1828800" y="8321040"/>
            <a:ext cx="16459200" cy="59436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pPr algn="ctr"/>
            <a:r>
              <a:rPr lang="en-US" sz="2200">
                <a:solidFill>
                  <a:srgbClr val="4E687C"/>
                </a:solidFill>
                <a:latin typeface="Montserrat" panose="00000500000000000000" pitchFamily="2" charset="0"/>
              </a:rPr>
              <a:t>Read current state &gt; compare approved intent &gt; propose one bounded action</a:t>
            </a:r>
            <a:endParaRPr lang="en-AU" sz="2200">
              <a:solidFill>
                <a:srgbClr val="4E687C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138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"/>
          <p:cNvSpPr txBox="1"/>
          <p:nvPr/>
        </p:nvSpPr>
        <p:spPr>
          <a:xfrm>
            <a:off x="559852" y="1052150"/>
            <a:ext cx="18185700" cy="8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IaC/PLATFORM OPS IN THE AGENT ERA</a:t>
            </a:r>
            <a:endParaRPr/>
          </a:p>
        </p:txBody>
      </p:sp>
      <p:sp>
        <p:nvSpPr>
          <p:cNvPr id="87" name="Google Shape;87;p8"/>
          <p:cNvSpPr txBox="1"/>
          <p:nvPr/>
        </p:nvSpPr>
        <p:spPr>
          <a:xfrm>
            <a:off x="1134780" y="3238738"/>
            <a:ext cx="7997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Humans author the changes.</a:t>
            </a:r>
            <a:endParaRPr sz="4200"/>
          </a:p>
        </p:txBody>
      </p:sp>
      <p:sp>
        <p:nvSpPr>
          <p:cNvPr id="88" name="Google Shape;88;p8"/>
          <p:cNvSpPr txBox="1"/>
          <p:nvPr/>
        </p:nvSpPr>
        <p:spPr>
          <a:xfrm>
            <a:off x="1134781" y="4540588"/>
            <a:ext cx="8469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Changes at human timescales.</a:t>
            </a:r>
            <a:endParaRPr sz="4200"/>
          </a:p>
        </p:txBody>
      </p:sp>
      <p:sp>
        <p:nvSpPr>
          <p:cNvPr id="89" name="Google Shape;89;p8"/>
          <p:cNvSpPr txBox="1"/>
          <p:nvPr/>
        </p:nvSpPr>
        <p:spPr>
          <a:xfrm>
            <a:off x="1134780" y="5842438"/>
            <a:ext cx="7802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One writer per environment.</a:t>
            </a:r>
            <a:endParaRPr sz="4200"/>
          </a:p>
        </p:txBody>
      </p:sp>
      <p:sp>
        <p:nvSpPr>
          <p:cNvPr id="90" name="Google Shape;90;p8"/>
          <p:cNvSpPr txBox="1"/>
          <p:nvPr/>
        </p:nvSpPr>
        <p:spPr>
          <a:xfrm>
            <a:off x="1134779" y="6154937"/>
            <a:ext cx="568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0920"/>
              </a:lnSpc>
              <a:spcBef>
                <a:spcPts val="7675"/>
              </a:spcBef>
              <a:spcAft>
                <a:spcPts val="0"/>
              </a:spcAft>
              <a:buNone/>
            </a:pPr>
            <a:r>
              <a:rPr lang="en-US" sz="4200" dirty="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Drift is an exception.</a:t>
            </a:r>
            <a:endParaRPr sz="4200" dirty="0">
              <a:solidFill>
                <a:srgbClr val="0A4D8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91" name="Google Shape;91;p8"/>
          <p:cNvCxnSpPr/>
          <p:nvPr/>
        </p:nvCxnSpPr>
        <p:spPr>
          <a:xfrm rot="10800000" flipH="1">
            <a:off x="587800" y="1994250"/>
            <a:ext cx="14836800" cy="9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" name="Google Shape;92;p8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  <p:pic>
        <p:nvPicPr>
          <p:cNvPr id="93" name="Google Shape;93;p8" title="check_white.png"/>
          <p:cNvPicPr preferRelativeResize="0"/>
          <p:nvPr/>
        </p:nvPicPr>
        <p:blipFill rotWithShape="1">
          <a:blip r:embed="rId3">
            <a:alphaModFix/>
          </a:blip>
          <a:srcRect l="19873" t="6304" r="18830" b="6989"/>
          <a:stretch/>
        </p:blipFill>
        <p:spPr>
          <a:xfrm>
            <a:off x="298913" y="3253650"/>
            <a:ext cx="616675" cy="61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8" title="check_white.png"/>
          <p:cNvPicPr preferRelativeResize="0"/>
          <p:nvPr/>
        </p:nvPicPr>
        <p:blipFill rotWithShape="1">
          <a:blip r:embed="rId3">
            <a:alphaModFix/>
          </a:blip>
          <a:srcRect l="19873" t="6304" r="18830" b="6989"/>
          <a:stretch/>
        </p:blipFill>
        <p:spPr>
          <a:xfrm>
            <a:off x="298913" y="4555500"/>
            <a:ext cx="616675" cy="61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8" title="check_white.png"/>
          <p:cNvPicPr preferRelativeResize="0"/>
          <p:nvPr/>
        </p:nvPicPr>
        <p:blipFill rotWithShape="1">
          <a:blip r:embed="rId3">
            <a:alphaModFix/>
          </a:blip>
          <a:srcRect l="19873" t="6304" r="18830" b="6989"/>
          <a:stretch/>
        </p:blipFill>
        <p:spPr>
          <a:xfrm>
            <a:off x="298913" y="5857350"/>
            <a:ext cx="616675" cy="61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8" title="check_white.png"/>
          <p:cNvPicPr preferRelativeResize="0"/>
          <p:nvPr/>
        </p:nvPicPr>
        <p:blipFill rotWithShape="1">
          <a:blip r:embed="rId3">
            <a:alphaModFix/>
          </a:blip>
          <a:srcRect l="19873" t="6304" r="18830" b="6989"/>
          <a:stretch/>
        </p:blipFill>
        <p:spPr>
          <a:xfrm>
            <a:off x="298913" y="7159200"/>
            <a:ext cx="616675" cy="61667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8"/>
          <p:cNvSpPr txBox="1"/>
          <p:nvPr/>
        </p:nvSpPr>
        <p:spPr>
          <a:xfrm>
            <a:off x="7581119" y="2919738"/>
            <a:ext cx="11404200" cy="13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Agents </a:t>
            </a:r>
            <a:r>
              <a:rPr lang="en-US" sz="4200" i="1">
                <a:solidFill>
                  <a:srgbClr val="FF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AND </a:t>
            </a: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humans </a:t>
            </a:r>
            <a:endParaRPr sz="4200">
              <a:solidFill>
                <a:srgbClr val="0A4D8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r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author changes.</a:t>
            </a:r>
            <a:endParaRPr sz="4200"/>
          </a:p>
        </p:txBody>
      </p:sp>
      <p:sp>
        <p:nvSpPr>
          <p:cNvPr id="98" name="Google Shape;98;p8"/>
          <p:cNvSpPr txBox="1"/>
          <p:nvPr/>
        </p:nvSpPr>
        <p:spPr>
          <a:xfrm>
            <a:off x="11260194" y="4582963"/>
            <a:ext cx="768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Changes at machine speed.</a:t>
            </a:r>
            <a:endParaRPr sz="4200"/>
          </a:p>
        </p:txBody>
      </p:sp>
      <p:sp>
        <p:nvSpPr>
          <p:cNvPr id="99" name="Google Shape;99;p8"/>
          <p:cNvSpPr txBox="1"/>
          <p:nvPr/>
        </p:nvSpPr>
        <p:spPr>
          <a:xfrm>
            <a:off x="9591294" y="5909500"/>
            <a:ext cx="9353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Multiple writers, at the same time.</a:t>
            </a:r>
            <a:endParaRPr sz="4200"/>
          </a:p>
        </p:txBody>
      </p:sp>
      <p:sp>
        <p:nvSpPr>
          <p:cNvPr id="100" name="Google Shape;100;p8"/>
          <p:cNvSpPr txBox="1"/>
          <p:nvPr/>
        </p:nvSpPr>
        <p:spPr>
          <a:xfrm>
            <a:off x="12218694" y="6187539"/>
            <a:ext cx="6725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10920"/>
              </a:lnSpc>
              <a:spcBef>
                <a:spcPts val="7675"/>
              </a:spcBef>
              <a:spcAft>
                <a:spcPts val="0"/>
              </a:spcAft>
              <a:buNone/>
            </a:pPr>
            <a:r>
              <a:rPr lang="en-US" sz="4200" dirty="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Drift is the default state.</a:t>
            </a:r>
            <a:endParaRPr sz="4200" dirty="0">
              <a:solidFill>
                <a:srgbClr val="0A4D8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01" name="Google Shape;101;p8" title="check_white.png"/>
          <p:cNvPicPr preferRelativeResize="0"/>
          <p:nvPr/>
        </p:nvPicPr>
        <p:blipFill rotWithShape="1">
          <a:blip r:embed="rId4">
            <a:alphaModFix/>
          </a:blip>
          <a:srcRect l="19873" t="6304" r="18830" b="6989"/>
          <a:stretch/>
        </p:blipFill>
        <p:spPr>
          <a:xfrm>
            <a:off x="19115263" y="3286250"/>
            <a:ext cx="616675" cy="61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8" title="check_white.png"/>
          <p:cNvPicPr preferRelativeResize="0"/>
          <p:nvPr/>
        </p:nvPicPr>
        <p:blipFill rotWithShape="1">
          <a:blip r:embed="rId4">
            <a:alphaModFix/>
          </a:blip>
          <a:srcRect l="19873" t="6304" r="18830" b="6989"/>
          <a:stretch/>
        </p:blipFill>
        <p:spPr>
          <a:xfrm>
            <a:off x="19115263" y="4588100"/>
            <a:ext cx="616675" cy="61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8" title="check_white.png"/>
          <p:cNvPicPr preferRelativeResize="0"/>
          <p:nvPr/>
        </p:nvPicPr>
        <p:blipFill rotWithShape="1">
          <a:blip r:embed="rId4">
            <a:alphaModFix/>
          </a:blip>
          <a:srcRect l="19873" t="6304" r="18830" b="6989"/>
          <a:stretch/>
        </p:blipFill>
        <p:spPr>
          <a:xfrm>
            <a:off x="19115263" y="5889950"/>
            <a:ext cx="616675" cy="61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8" title="check_white.png"/>
          <p:cNvPicPr preferRelativeResize="0"/>
          <p:nvPr/>
        </p:nvPicPr>
        <p:blipFill rotWithShape="1">
          <a:blip r:embed="rId4">
            <a:alphaModFix/>
          </a:blip>
          <a:srcRect l="19873" t="6304" r="18830" b="6989"/>
          <a:stretch/>
        </p:blipFill>
        <p:spPr>
          <a:xfrm>
            <a:off x="19115263" y="7191800"/>
            <a:ext cx="616675" cy="616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/>
          <p:nvPr/>
        </p:nvSpPr>
        <p:spPr>
          <a:xfrm>
            <a:off x="634993" y="752700"/>
            <a:ext cx="16956900" cy="8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Cloud Providers as Data Sources</a:t>
            </a:r>
            <a:endParaRPr/>
          </a:p>
        </p:txBody>
      </p:sp>
      <p:sp>
        <p:nvSpPr>
          <p:cNvPr id="47" name="Google Shape;47;p5"/>
          <p:cNvSpPr txBox="1"/>
          <p:nvPr/>
        </p:nvSpPr>
        <p:spPr>
          <a:xfrm>
            <a:off x="1519261" y="2691750"/>
            <a:ext cx="10080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Open-Source intelligent API client</a:t>
            </a:r>
            <a:endParaRPr sz="4200"/>
          </a:p>
        </p:txBody>
      </p:sp>
      <p:sp>
        <p:nvSpPr>
          <p:cNvPr id="48" name="Google Shape;48;p5"/>
          <p:cNvSpPr txBox="1"/>
          <p:nvPr/>
        </p:nvSpPr>
        <p:spPr>
          <a:xfrm>
            <a:off x="2540069" y="3667800"/>
            <a:ext cx="8469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Protocol Agnostic</a:t>
            </a:r>
            <a:endParaRPr sz="4200"/>
          </a:p>
        </p:txBody>
      </p:sp>
      <p:sp>
        <p:nvSpPr>
          <p:cNvPr id="49" name="Google Shape;49;p5"/>
          <p:cNvSpPr txBox="1"/>
          <p:nvPr/>
        </p:nvSpPr>
        <p:spPr>
          <a:xfrm>
            <a:off x="1519262" y="6185929"/>
            <a:ext cx="9493500" cy="13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SQL semantics for Cloud/SaaS Provider APIs</a:t>
            </a:r>
            <a:endParaRPr sz="4200"/>
          </a:p>
        </p:txBody>
      </p:sp>
      <p:sp>
        <p:nvSpPr>
          <p:cNvPr id="50" name="Google Shape;50;p5"/>
          <p:cNvSpPr txBox="1"/>
          <p:nvPr/>
        </p:nvSpPr>
        <p:spPr>
          <a:xfrm>
            <a:off x="2540088" y="7727325"/>
            <a:ext cx="8367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0920"/>
              </a:lnSpc>
              <a:spcBef>
                <a:spcPts val="7675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Relational algebra, analytics</a:t>
            </a:r>
            <a:endParaRPr sz="4200">
              <a:solidFill>
                <a:srgbClr val="0A4D8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51" name="Google Shape;51;p5"/>
          <p:cNvCxnSpPr/>
          <p:nvPr/>
        </p:nvCxnSpPr>
        <p:spPr>
          <a:xfrm rot="10800000" flipH="1">
            <a:off x="711375" y="1903350"/>
            <a:ext cx="12150600" cy="9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" name="Google Shape;52;p5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  <p:pic>
        <p:nvPicPr>
          <p:cNvPr id="53" name="Google Shape;53;p5" title="check_white.png"/>
          <p:cNvPicPr preferRelativeResize="0"/>
          <p:nvPr/>
        </p:nvPicPr>
        <p:blipFill rotWithShape="1">
          <a:blip r:embed="rId3">
            <a:alphaModFix/>
          </a:blip>
          <a:srcRect l="19873" t="6304" r="18830" b="6989"/>
          <a:stretch/>
        </p:blipFill>
        <p:spPr>
          <a:xfrm>
            <a:off x="683400" y="2706650"/>
            <a:ext cx="616675" cy="61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5" title="check_white.png"/>
          <p:cNvPicPr preferRelativeResize="0"/>
          <p:nvPr/>
        </p:nvPicPr>
        <p:blipFill rotWithShape="1">
          <a:blip r:embed="rId3">
            <a:alphaModFix/>
          </a:blip>
          <a:srcRect l="19873" t="6304" r="18830" b="6989"/>
          <a:stretch/>
        </p:blipFill>
        <p:spPr>
          <a:xfrm>
            <a:off x="1704202" y="3682712"/>
            <a:ext cx="616675" cy="61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5" title="check_white.png"/>
          <p:cNvPicPr preferRelativeResize="0"/>
          <p:nvPr/>
        </p:nvPicPr>
        <p:blipFill rotWithShape="1">
          <a:blip r:embed="rId3">
            <a:alphaModFix/>
          </a:blip>
          <a:srcRect l="19873" t="6304" r="18830" b="6989"/>
          <a:stretch/>
        </p:blipFill>
        <p:spPr>
          <a:xfrm>
            <a:off x="683400" y="6200837"/>
            <a:ext cx="616675" cy="61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5" title="check_white.png"/>
          <p:cNvPicPr preferRelativeResize="0"/>
          <p:nvPr/>
        </p:nvPicPr>
        <p:blipFill rotWithShape="1">
          <a:blip r:embed="rId3">
            <a:alphaModFix/>
          </a:blip>
          <a:srcRect l="19873" t="6304" r="18830" b="6989"/>
          <a:stretch/>
        </p:blipFill>
        <p:spPr>
          <a:xfrm>
            <a:off x="1704218" y="7742246"/>
            <a:ext cx="616675" cy="61667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 txBox="1"/>
          <p:nvPr/>
        </p:nvSpPr>
        <p:spPr>
          <a:xfrm>
            <a:off x="2540069" y="4644525"/>
            <a:ext cx="8469000" cy="13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DAG planning for remote and local execution</a:t>
            </a:r>
            <a:endParaRPr sz="4200"/>
          </a:p>
        </p:txBody>
      </p:sp>
      <p:pic>
        <p:nvPicPr>
          <p:cNvPr id="58" name="Google Shape;58;p5" title="check_white.png"/>
          <p:cNvPicPr preferRelativeResize="0"/>
          <p:nvPr/>
        </p:nvPicPr>
        <p:blipFill rotWithShape="1">
          <a:blip r:embed="rId3">
            <a:alphaModFix/>
          </a:blip>
          <a:srcRect l="19873" t="6304" r="18830" b="6989"/>
          <a:stretch/>
        </p:blipFill>
        <p:spPr>
          <a:xfrm>
            <a:off x="1704202" y="4659437"/>
            <a:ext cx="616675" cy="616674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 txBox="1"/>
          <p:nvPr/>
        </p:nvSpPr>
        <p:spPr>
          <a:xfrm>
            <a:off x="2540088" y="8857075"/>
            <a:ext cx="8367300" cy="13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0920"/>
              </a:lnSpc>
              <a:spcBef>
                <a:spcPts val="7675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CRUD, Discovery and Lifecycle Methods</a:t>
            </a:r>
            <a:endParaRPr sz="4200">
              <a:solidFill>
                <a:srgbClr val="0A4D8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0" name="Google Shape;60;p5" title="check_white.png"/>
          <p:cNvPicPr preferRelativeResize="0"/>
          <p:nvPr/>
        </p:nvPicPr>
        <p:blipFill rotWithShape="1">
          <a:blip r:embed="rId3">
            <a:alphaModFix/>
          </a:blip>
          <a:srcRect l="19873" t="6304" r="18830" b="6989"/>
          <a:stretch/>
        </p:blipFill>
        <p:spPr>
          <a:xfrm>
            <a:off x="1704218" y="8871996"/>
            <a:ext cx="616675" cy="61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5" title="cloud_as_dat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85234" y="2496574"/>
            <a:ext cx="8799238" cy="6406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 txBox="1"/>
          <p:nvPr/>
        </p:nvSpPr>
        <p:spPr>
          <a:xfrm>
            <a:off x="634993" y="752700"/>
            <a:ext cx="16956900" cy="8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How to use StackQL</a:t>
            </a:r>
            <a:endParaRPr>
              <a:solidFill>
                <a:srgbClr val="0A4D81"/>
              </a:solidFill>
            </a:endParaRPr>
          </a:p>
        </p:txBody>
      </p:sp>
      <p:sp>
        <p:nvSpPr>
          <p:cNvPr id="67" name="Google Shape;67;p6"/>
          <p:cNvSpPr txBox="1"/>
          <p:nvPr/>
        </p:nvSpPr>
        <p:spPr>
          <a:xfrm>
            <a:off x="635000" y="1757825"/>
            <a:ext cx="19373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One execution engine. Multiple human/agent consumption patterns.</a:t>
            </a:r>
            <a:endParaRPr sz="4200"/>
          </a:p>
        </p:txBody>
      </p:sp>
      <p:sp>
        <p:nvSpPr>
          <p:cNvPr id="68" name="Google Shape;68;p6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  <p:graphicFrame>
        <p:nvGraphicFramePr>
          <p:cNvPr id="69" name="Google Shape;69;p6"/>
          <p:cNvGraphicFramePr/>
          <p:nvPr/>
        </p:nvGraphicFramePr>
        <p:xfrm>
          <a:off x="793425" y="32246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{1BE8CD05-E170-458A-A727-CE0F960871F3}</a:tableStyleId>
              </a:tblPr>
              <a:tblGrid>
                <a:gridCol w="189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9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9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42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3700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4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PATTERN </a:t>
                      </a:r>
                      <a:endParaRPr sz="6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34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INTERFACE</a:t>
                      </a:r>
                      <a:endParaRPr sz="6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34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USERS</a:t>
                      </a:r>
                      <a:endParaRPr sz="6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34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KEY BENEFIT</a:t>
                      </a:r>
                      <a:endParaRPr sz="6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1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0"/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Interactive Analytics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stackql shell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 b="1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stackql exec</a:t>
                      </a:r>
                      <a:endParaRPr sz="100" b="1"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Engineers, Analysts</a:t>
                      </a:r>
                      <a:endParaRPr sz="1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Ad-hoc discovery, inventory</a:t>
                      </a:r>
                      <a:endParaRPr sz="1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Application &amp; Data Integration</a:t>
                      </a:r>
                      <a:endParaRPr sz="100"/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stackql srv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docker pull</a:t>
                      </a:r>
                      <a:endParaRPr sz="2800" b="1">
                        <a:solidFill>
                          <a:srgbClr val="0000FF"/>
                        </a:solidFill>
                        <a:highlight>
                          <a:schemeClr val="lt1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 b="1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pystackql</a:t>
                      </a:r>
                      <a:endParaRPr sz="100"/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Apps, BI Tools, Python Workloads</a:t>
                      </a:r>
                      <a:endParaRPr sz="100"/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Application access to Cloud and SaaS APIs</a:t>
                      </a:r>
                      <a:endParaRPr sz="100"/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Platform Automation</a:t>
                      </a:r>
                      <a:endParaRPr sz="1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stackql-deploy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Marketplace GitHub Actions</a:t>
                      </a:r>
                      <a:endParaRPr sz="1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Platform &amp; DevOps Teams</a:t>
                      </a:r>
                      <a:endParaRPr sz="1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Declarative automation and IaC</a:t>
                      </a:r>
                      <a:endParaRPr sz="1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1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Agentic Operations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MCP (</a:t>
                      </a:r>
                      <a:r>
                        <a:rPr lang="en-US" sz="2800" b="1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uv</a:t>
                      </a: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,  </a:t>
                      </a:r>
                      <a:r>
                        <a:rPr lang="en-US" sz="2800" b="1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pip</a:t>
                      </a: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, </a:t>
                      </a:r>
                      <a:r>
                        <a:rPr lang="en-US" sz="2800" b="1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npx</a:t>
                      </a: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, </a:t>
                      </a:r>
                      <a:r>
                        <a:rPr lang="en-US" sz="2800" b="1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docker</a:t>
                      </a: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, </a:t>
                      </a:r>
                      <a:r>
                        <a:rPr lang="en-US" sz="2800" b="1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mcpb</a:t>
                      </a: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)</a:t>
                      </a:r>
                      <a:endParaRPr sz="1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AI Agents &amp; Agent Frameworks</a:t>
                      </a:r>
                      <a:endParaRPr sz="1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Context-aware cloud operations</a:t>
                      </a:r>
                      <a:endParaRPr sz="1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0" name="Google Shape;70;p6" title="terminal_100dp_0A4D81_FILL0_wght400_GRAD0_opsz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0847" y="4274464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6" title="database_100dp_0A4D81_FILL0_wght400_GRAD0_opsz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5725" y="5670824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6" title="neurology_100dp_0A4D81_FILL0_wght400_GRAD0_opsz4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25725" y="8751299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6" title="settings_100dp_0A4D81_FILL0_wght400_GRAD0_opsz4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95963" y="7246175"/>
            <a:ext cx="882275" cy="882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9" title="infra-as-contex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499" y="1183600"/>
            <a:ext cx="16740324" cy="941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9"/>
          <p:cNvSpPr txBox="1"/>
          <p:nvPr/>
        </p:nvSpPr>
        <p:spPr>
          <a:xfrm>
            <a:off x="1508750" y="1004700"/>
            <a:ext cx="8672100" cy="8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IaC IN THE AGENT ERA</a:t>
            </a:r>
            <a:endParaRPr/>
          </a:p>
        </p:txBody>
      </p:sp>
      <p:cxnSp>
        <p:nvCxnSpPr>
          <p:cNvPr id="111" name="Google Shape;111;p9"/>
          <p:cNvCxnSpPr/>
          <p:nvPr/>
        </p:nvCxnSpPr>
        <p:spPr>
          <a:xfrm rot="10800000" flipH="1">
            <a:off x="1587500" y="1957325"/>
            <a:ext cx="8461800" cy="7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" name="Google Shape;112;p9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"/>
          <p:cNvSpPr txBox="1"/>
          <p:nvPr/>
        </p:nvSpPr>
        <p:spPr>
          <a:xfrm>
            <a:off x="1508750" y="1004700"/>
            <a:ext cx="13236000" cy="8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THE NEW CONTRACT</a:t>
            </a:r>
            <a:endParaRPr/>
          </a:p>
        </p:txBody>
      </p:sp>
      <p:cxnSp>
        <p:nvCxnSpPr>
          <p:cNvPr id="118" name="Google Shape;118;p10"/>
          <p:cNvCxnSpPr/>
          <p:nvPr/>
        </p:nvCxnSpPr>
        <p:spPr>
          <a:xfrm rot="10800000" flipH="1">
            <a:off x="1587500" y="1955525"/>
            <a:ext cx="8014800" cy="9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" name="Google Shape;119;p10"/>
          <p:cNvSpPr txBox="1"/>
          <p:nvPr/>
        </p:nvSpPr>
        <p:spPr>
          <a:xfrm>
            <a:off x="1508750" y="3128766"/>
            <a:ext cx="85806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50" b="1" i="1">
                <a:solidFill>
                  <a:srgbClr val="3FAC92"/>
                </a:solidFill>
                <a:latin typeface="Montserrat"/>
                <a:ea typeface="Montserrat"/>
                <a:cs typeface="Montserrat"/>
                <a:sym typeface="Montserrat"/>
              </a:rPr>
              <a:t>Agents need to query, reason about, and act on actual state. </a:t>
            </a:r>
            <a:endParaRPr sz="600" i="1">
              <a:solidFill>
                <a:srgbClr val="3FAC92"/>
              </a:solidFill>
            </a:endParaRPr>
          </a:p>
        </p:txBody>
      </p:sp>
      <p:sp>
        <p:nvSpPr>
          <p:cNvPr id="120" name="Google Shape;120;p10"/>
          <p:cNvSpPr txBox="1"/>
          <p:nvPr/>
        </p:nvSpPr>
        <p:spPr>
          <a:xfrm>
            <a:off x="1508750" y="5801441"/>
            <a:ext cx="85806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50" b="1" i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Static state and state files are artefacts of slow infrastructure. </a:t>
            </a:r>
            <a:endParaRPr sz="600" i="1">
              <a:solidFill>
                <a:srgbClr val="FF0000"/>
              </a:solidFill>
            </a:endParaRPr>
          </a:p>
        </p:txBody>
      </p:sp>
      <p:pic>
        <p:nvPicPr>
          <p:cNvPr id="121" name="Google Shape;121;p10" title="mermaid-diagram-2026-06-18-1715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91507" y="0"/>
            <a:ext cx="7865047" cy="11163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0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"/>
          <p:cNvSpPr txBox="1"/>
          <p:nvPr/>
        </p:nvSpPr>
        <p:spPr>
          <a:xfrm>
            <a:off x="1508750" y="1004700"/>
            <a:ext cx="17522700" cy="8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WHAT THE STACKQL MCP SERVER IS</a:t>
            </a:r>
            <a:endParaRPr/>
          </a:p>
        </p:txBody>
      </p:sp>
      <p:cxnSp>
        <p:nvCxnSpPr>
          <p:cNvPr id="136" name="Google Shape;136;p12"/>
          <p:cNvCxnSpPr/>
          <p:nvPr/>
        </p:nvCxnSpPr>
        <p:spPr>
          <a:xfrm>
            <a:off x="1587500" y="1964525"/>
            <a:ext cx="13652100" cy="9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7" name="Google Shape;137;p12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  <p:sp>
        <p:nvSpPr>
          <p:cNvPr id="138" name="Google Shape;138;p12"/>
          <p:cNvSpPr txBox="1"/>
          <p:nvPr/>
        </p:nvSpPr>
        <p:spPr>
          <a:xfrm>
            <a:off x="1587494" y="2285150"/>
            <a:ext cx="1642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3FAC9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Unified SQL surface over every cloud and SaaS provider.</a:t>
            </a:r>
            <a:endParaRPr sz="4200">
              <a:solidFill>
                <a:srgbClr val="3FAC92"/>
              </a:solidFill>
            </a:endParaRPr>
          </a:p>
        </p:txBody>
      </p:sp>
      <p:pic>
        <p:nvPicPr>
          <p:cNvPr id="139" name="Google Shape;139;p12" title="mermaid-diagram-2026-06-18-1732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743" y="3637562"/>
            <a:ext cx="19507200" cy="626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"/>
          <p:cNvSpPr txBox="1"/>
          <p:nvPr/>
        </p:nvSpPr>
        <p:spPr>
          <a:xfrm>
            <a:off x="1508750" y="1004700"/>
            <a:ext cx="17522700" cy="8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 MCP TOOL SURFACE</a:t>
            </a:r>
            <a:endParaRPr/>
          </a:p>
        </p:txBody>
      </p:sp>
      <p:cxnSp>
        <p:nvCxnSpPr>
          <p:cNvPr id="145" name="Google Shape;145;p13"/>
          <p:cNvCxnSpPr/>
          <p:nvPr/>
        </p:nvCxnSpPr>
        <p:spPr>
          <a:xfrm rot="10800000" flipH="1">
            <a:off x="1587500" y="1955525"/>
            <a:ext cx="11290800" cy="9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6" name="Google Shape;146;p13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  <p:sp>
        <p:nvSpPr>
          <p:cNvPr id="147" name="Google Shape;147;p13"/>
          <p:cNvSpPr txBox="1"/>
          <p:nvPr/>
        </p:nvSpPr>
        <p:spPr>
          <a:xfrm>
            <a:off x="1496673" y="2285150"/>
            <a:ext cx="1642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3FAC9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One MCP, one set of tools, instead of 10s or 100s</a:t>
            </a:r>
            <a:endParaRPr sz="4200">
              <a:solidFill>
                <a:srgbClr val="3FAC92"/>
              </a:solidFill>
            </a:endParaRPr>
          </a:p>
        </p:txBody>
      </p:sp>
      <p:sp>
        <p:nvSpPr>
          <p:cNvPr id="148" name="Google Shape;148;p13"/>
          <p:cNvSpPr txBox="1"/>
          <p:nvPr/>
        </p:nvSpPr>
        <p:spPr>
          <a:xfrm>
            <a:off x="2332525" y="2431464"/>
            <a:ext cx="15881700" cy="20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0920"/>
              </a:lnSpc>
              <a:spcBef>
                <a:spcPts val="76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200" b="1" dirty="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Discovery:</a:t>
            </a:r>
            <a:r>
              <a:rPr lang="en-US" sz="4200" dirty="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3800" b="1" dirty="0" err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list_providers</a:t>
            </a:r>
            <a:r>
              <a:rPr lang="en-US" sz="4200" dirty="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-US" sz="3800" b="1" dirty="0" err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list_services</a:t>
            </a:r>
            <a:r>
              <a:rPr lang="en-US" sz="4200" dirty="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-US" sz="3800" b="1" dirty="0" err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list_resources</a:t>
            </a:r>
            <a:r>
              <a:rPr lang="en-US" sz="4200" dirty="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-US" sz="3800" b="1" dirty="0" err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describe_resource</a:t>
            </a:r>
            <a:r>
              <a:rPr lang="en-US" sz="4200" dirty="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-US" sz="3800" b="1" dirty="0" err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describe_method</a:t>
            </a:r>
            <a:r>
              <a:rPr lang="en-US" sz="4200" dirty="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-US" sz="3800" b="1" dirty="0" err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list_methods</a:t>
            </a:r>
            <a:r>
              <a:rPr lang="en-US" sz="4200" dirty="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-US" sz="3800" b="1" dirty="0" err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list_registry</a:t>
            </a:r>
            <a:r>
              <a:rPr lang="en-US" sz="4200" dirty="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-US" sz="3800" b="1" dirty="0" err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pull_provider</a:t>
            </a:r>
            <a:r>
              <a:rPr lang="en-US" sz="4200" dirty="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-US" sz="3800" b="1" dirty="0" err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server_info</a:t>
            </a:r>
            <a:r>
              <a:rPr lang="en-US" sz="4200" dirty="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 sz="4200" dirty="0"/>
          </a:p>
        </p:txBody>
      </p:sp>
      <p:sp>
        <p:nvSpPr>
          <p:cNvPr id="149" name="Google Shape;149;p13"/>
          <p:cNvSpPr/>
          <p:nvPr/>
        </p:nvSpPr>
        <p:spPr>
          <a:xfrm>
            <a:off x="1496613" y="3511709"/>
            <a:ext cx="616800" cy="616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76200" cap="flat" cmpd="sng">
            <a:solidFill>
              <a:srgbClr val="3FAC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3"/>
          <p:cNvSpPr txBox="1"/>
          <p:nvPr/>
        </p:nvSpPr>
        <p:spPr>
          <a:xfrm>
            <a:off x="2321945" y="4770817"/>
            <a:ext cx="15881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0920"/>
              </a:lnSpc>
              <a:spcBef>
                <a:spcPts val="7675"/>
              </a:spcBef>
              <a:spcAft>
                <a:spcPts val="0"/>
              </a:spcAft>
              <a:buSzPts val="1100"/>
              <a:buNone/>
            </a:pPr>
            <a:r>
              <a:rPr lang="en-US" sz="4200" b="1" dirty="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Query (reads):</a:t>
            </a:r>
            <a:r>
              <a:rPr lang="en-US" sz="4200" dirty="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3800" b="1" dirty="0" err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run_select_query</a:t>
            </a:r>
            <a:r>
              <a:rPr lang="en-US" sz="4200" dirty="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-US" sz="3800" b="1" dirty="0" err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validate_select_query</a:t>
            </a:r>
            <a:endParaRPr sz="4200" dirty="0"/>
          </a:p>
        </p:txBody>
      </p:sp>
      <p:sp>
        <p:nvSpPr>
          <p:cNvPr id="151" name="Google Shape;151;p13"/>
          <p:cNvSpPr/>
          <p:nvPr/>
        </p:nvSpPr>
        <p:spPr>
          <a:xfrm>
            <a:off x="1486032" y="5821079"/>
            <a:ext cx="616800" cy="616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76200" cap="flat" cmpd="sng">
            <a:solidFill>
              <a:srgbClr val="3FAC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3"/>
          <p:cNvSpPr txBox="1"/>
          <p:nvPr/>
        </p:nvSpPr>
        <p:spPr>
          <a:xfrm>
            <a:off x="2332525" y="5968600"/>
            <a:ext cx="17206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0920"/>
              </a:lnSpc>
              <a:spcBef>
                <a:spcPts val="7675"/>
              </a:spcBef>
              <a:spcAft>
                <a:spcPts val="0"/>
              </a:spcAft>
              <a:buSzPts val="1100"/>
              <a:buNone/>
            </a:pPr>
            <a:r>
              <a:rPr lang="en-US" sz="4200" b="1" dirty="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Change</a:t>
            </a:r>
            <a:r>
              <a:rPr lang="en-US" sz="4200" dirty="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4200" b="1" dirty="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(writes):</a:t>
            </a:r>
            <a:r>
              <a:rPr lang="en-US" sz="4200" dirty="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3800" b="1" dirty="0" err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run_mutation_query</a:t>
            </a:r>
            <a:r>
              <a:rPr lang="en-US" sz="4200" dirty="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-US" sz="3800" b="1" dirty="0" err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run_lifecycle_operation</a:t>
            </a:r>
            <a:endParaRPr sz="4200" dirty="0"/>
          </a:p>
        </p:txBody>
      </p:sp>
      <p:sp>
        <p:nvSpPr>
          <p:cNvPr id="153" name="Google Shape;153;p13"/>
          <p:cNvSpPr/>
          <p:nvPr/>
        </p:nvSpPr>
        <p:spPr>
          <a:xfrm>
            <a:off x="1496613" y="6928921"/>
            <a:ext cx="616800" cy="616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76200" cap="flat" cmpd="sng">
            <a:solidFill>
              <a:srgbClr val="3FAC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3"/>
          <p:cNvSpPr txBox="1"/>
          <p:nvPr/>
        </p:nvSpPr>
        <p:spPr>
          <a:xfrm>
            <a:off x="1496673" y="7917382"/>
            <a:ext cx="16420800" cy="13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FF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changes gated through </a:t>
            </a:r>
            <a:r>
              <a:rPr lang="en-US" sz="42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server modes</a:t>
            </a:r>
            <a:r>
              <a:rPr lang="en-US" sz="4200">
                <a:solidFill>
                  <a:srgbClr val="FF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</a:t>
            </a:r>
            <a:r>
              <a:rPr lang="en-US" sz="3800" b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read_only</a:t>
            </a:r>
            <a:r>
              <a:rPr lang="en-US" sz="4200">
                <a:solidFill>
                  <a:srgbClr val="FF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(default), </a:t>
            </a:r>
            <a:r>
              <a:rPr lang="en-US" sz="4200">
                <a:solidFill>
                  <a:srgbClr val="FF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3800" b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safe</a:t>
            </a:r>
            <a:r>
              <a:rPr lang="en-US" sz="4200">
                <a:solidFill>
                  <a:srgbClr val="FF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&amp;</a:t>
            </a:r>
            <a:r>
              <a:rPr lang="en-US" sz="4200">
                <a:solidFill>
                  <a:srgbClr val="FF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3800" b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delete_safe</a:t>
            </a: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(uses elicitation), </a:t>
            </a:r>
            <a:r>
              <a:rPr lang="en-US" sz="4200">
                <a:solidFill>
                  <a:srgbClr val="FF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3800" b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full_access</a:t>
            </a:r>
            <a:endParaRPr sz="4200">
              <a:solidFill>
                <a:srgbClr val="FF0000"/>
              </a:solidFill>
            </a:endParaRPr>
          </a:p>
        </p:txBody>
      </p:sp>
      <p:sp>
        <p:nvSpPr>
          <p:cNvPr id="155" name="Google Shape;155;p13"/>
          <p:cNvSpPr txBox="1"/>
          <p:nvPr/>
        </p:nvSpPr>
        <p:spPr>
          <a:xfrm>
            <a:off x="1496673" y="9654969"/>
            <a:ext cx="1642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all tool use</a:t>
            </a:r>
            <a:r>
              <a:rPr lang="en-US" sz="4200">
                <a:solidFill>
                  <a:srgbClr val="FF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is logged by the stackql mcp server</a:t>
            </a:r>
            <a:endParaRPr sz="4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76BED6-02ED-0C9F-277B-7BF57E6B4094}"/>
              </a:ext>
            </a:extLst>
          </p:cNvPr>
          <p:cNvSpPr txBox="1"/>
          <p:nvPr/>
        </p:nvSpPr>
        <p:spPr>
          <a:xfrm>
            <a:off x="685800" y="438912"/>
            <a:ext cx="18470880" cy="82296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3800" b="1">
                <a:solidFill>
                  <a:srgbClr val="0A4D81"/>
                </a:solidFill>
                <a:latin typeface="Montserrat" panose="00000500000000000000" pitchFamily="2" charset="0"/>
              </a:rPr>
              <a:t>CONTROLS BELONG IN THE PROCESS</a:t>
            </a:r>
            <a:endParaRPr lang="en-AU" sz="3800" b="1">
              <a:solidFill>
                <a:srgbClr val="0A4D81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F15811-4EEE-8D89-670C-18FF09A9B27C}"/>
              </a:ext>
            </a:extLst>
          </p:cNvPr>
          <p:cNvSpPr/>
          <p:nvPr/>
        </p:nvSpPr>
        <p:spPr>
          <a:xfrm>
            <a:off x="749808" y="1353312"/>
            <a:ext cx="2286000" cy="50292"/>
          </a:xfrm>
          <a:prstGeom prst="rect">
            <a:avLst/>
          </a:prstGeom>
          <a:solidFill>
            <a:srgbClr val="3FAC92"/>
          </a:solidFill>
          <a:ln w="15875">
            <a:solidFill>
              <a:srgbClr val="3FAC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989112-EAC6-E28D-1880-4B6B567A05C4}"/>
              </a:ext>
            </a:extLst>
          </p:cNvPr>
          <p:cNvSpPr txBox="1"/>
          <p:nvPr/>
        </p:nvSpPr>
        <p:spPr>
          <a:xfrm>
            <a:off x="731520" y="1481328"/>
            <a:ext cx="18470880" cy="54864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2300" b="1">
                <a:solidFill>
                  <a:srgbClr val="3FAC92"/>
                </a:solidFill>
                <a:latin typeface="Montserrat" panose="00000500000000000000" pitchFamily="2" charset="0"/>
              </a:rPr>
              <a:t>The prompt proposes; deterministic boundaries decide</a:t>
            </a:r>
            <a:endParaRPr lang="en-AU" sz="2300" b="1">
              <a:solidFill>
                <a:srgbClr val="3FAC92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BBBF88-4716-B553-584E-6DA50A12ADE7}"/>
              </a:ext>
            </a:extLst>
          </p:cNvPr>
          <p:cNvSpPr txBox="1"/>
          <p:nvPr/>
        </p:nvSpPr>
        <p:spPr>
          <a:xfrm>
            <a:off x="17693639" y="10561320"/>
            <a:ext cx="1828800" cy="384048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pPr algn="ctr"/>
            <a:r>
              <a:rPr lang="en-AU" sz="1700" b="1">
                <a:solidFill>
                  <a:srgbClr val="0A4D81"/>
                </a:solidFill>
                <a:latin typeface="Montserrat" panose="00000500000000000000" pitchFamily="2" charset="0"/>
              </a:rPr>
              <a:t>STACKQL&gt;&gt;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0B2C559-192B-1D14-7678-57F1DC64B838}"/>
              </a:ext>
            </a:extLst>
          </p:cNvPr>
          <p:cNvSpPr/>
          <p:nvPr/>
        </p:nvSpPr>
        <p:spPr>
          <a:xfrm>
            <a:off x="868680" y="2240280"/>
            <a:ext cx="3840480" cy="1143000"/>
          </a:xfrm>
          <a:prstGeom prst="roundRect">
            <a:avLst/>
          </a:prstGeom>
          <a:solidFill>
            <a:srgbClr val="0A4D81"/>
          </a:solidFill>
          <a:ln w="15875">
            <a:solidFill>
              <a:srgbClr val="0A4D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7DBBC7-BD5D-D6D0-A8B7-12982DF0D3B6}"/>
              </a:ext>
            </a:extLst>
          </p:cNvPr>
          <p:cNvSpPr txBox="1"/>
          <p:nvPr/>
        </p:nvSpPr>
        <p:spPr>
          <a:xfrm>
            <a:off x="1097280" y="2377440"/>
            <a:ext cx="3383280" cy="82296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AU" sz="2300" b="1">
                <a:solidFill>
                  <a:srgbClr val="FFFFFF"/>
                </a:solidFill>
                <a:latin typeface="Montserrat" panose="00000500000000000000" pitchFamily="2" charset="0"/>
              </a:rPr>
              <a:t>TOOL CONTRACT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AC291C-B830-672D-BEBC-C2A052459EFB}"/>
              </a:ext>
            </a:extLst>
          </p:cNvPr>
          <p:cNvSpPr txBox="1"/>
          <p:nvPr/>
        </p:nvSpPr>
        <p:spPr>
          <a:xfrm>
            <a:off x="5120640" y="2276856"/>
            <a:ext cx="5669280" cy="105156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AU" sz="2400" b="1">
                <a:solidFill>
                  <a:srgbClr val="0A4D81"/>
                </a:solidFill>
                <a:latin typeface="Montserrat" panose="00000500000000000000" pitchFamily="2" charset="0"/>
              </a:rPr>
              <a:t>Strict schema and allowlist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207A3F-36A6-9470-9245-3A670980A474}"/>
              </a:ext>
            </a:extLst>
          </p:cNvPr>
          <p:cNvSpPr txBox="1"/>
          <p:nvPr/>
        </p:nvSpPr>
        <p:spPr>
          <a:xfrm>
            <a:off x="11064240" y="2276856"/>
            <a:ext cx="7863840" cy="105156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2100">
                <a:solidFill>
                  <a:srgbClr val="153855"/>
                </a:solidFill>
                <a:latin typeface="Montserrat" panose="00000500000000000000" pitchFamily="2" charset="0"/>
              </a:rPr>
              <a:t>Unknown tools and extra fields are denied.</a:t>
            </a:r>
            <a:endParaRPr lang="en-AU" sz="2100">
              <a:solidFill>
                <a:srgbClr val="153855"/>
              </a:solidFill>
              <a:latin typeface="Montserrat" panose="00000500000000000000" pitchFamily="2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BE5CB52-65E0-4C2A-53AB-704C3307820F}"/>
              </a:ext>
            </a:extLst>
          </p:cNvPr>
          <p:cNvSpPr/>
          <p:nvPr/>
        </p:nvSpPr>
        <p:spPr>
          <a:xfrm>
            <a:off x="868680" y="3657600"/>
            <a:ext cx="3840480" cy="1143000"/>
          </a:xfrm>
          <a:prstGeom prst="roundRect">
            <a:avLst/>
          </a:prstGeom>
          <a:solidFill>
            <a:srgbClr val="0A4D81"/>
          </a:solidFill>
          <a:ln w="15875">
            <a:solidFill>
              <a:srgbClr val="0A4D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74BBD5-88D5-1727-9C31-54034D95773E}"/>
              </a:ext>
            </a:extLst>
          </p:cNvPr>
          <p:cNvSpPr txBox="1"/>
          <p:nvPr/>
        </p:nvSpPr>
        <p:spPr>
          <a:xfrm>
            <a:off x="1097280" y="3794760"/>
            <a:ext cx="3383280" cy="82296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AU" sz="2300" b="1">
                <a:solidFill>
                  <a:srgbClr val="FFFFFF"/>
                </a:solidFill>
                <a:latin typeface="Montserrat" panose="00000500000000000000" pitchFamily="2" charset="0"/>
              </a:rPr>
              <a:t>READ SCOPE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0FEF2D-43DD-FAC6-5655-9D05886E180B}"/>
              </a:ext>
            </a:extLst>
          </p:cNvPr>
          <p:cNvSpPr txBox="1"/>
          <p:nvPr/>
        </p:nvSpPr>
        <p:spPr>
          <a:xfrm>
            <a:off x="5120640" y="3694176"/>
            <a:ext cx="5669280" cy="105156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2400" b="1">
                <a:solidFill>
                  <a:srgbClr val="0A4D81"/>
                </a:solidFill>
                <a:latin typeface="Montserrat" panose="00000500000000000000" pitchFamily="2" charset="0"/>
              </a:rPr>
              <a:t>Read-only identity and target scope</a:t>
            </a:r>
            <a:endParaRPr lang="en-AU" sz="2400" b="1">
              <a:solidFill>
                <a:srgbClr val="0A4D8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3DAF04-B205-4421-7BD9-BF5428BBC5A6}"/>
              </a:ext>
            </a:extLst>
          </p:cNvPr>
          <p:cNvSpPr txBox="1"/>
          <p:nvPr/>
        </p:nvSpPr>
        <p:spPr>
          <a:xfrm>
            <a:off x="11064240" y="3694176"/>
            <a:ext cx="7863840" cy="105156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2100">
                <a:solidFill>
                  <a:srgbClr val="153855"/>
                </a:solidFill>
                <a:latin typeface="Montserrat" panose="00000500000000000000" pitchFamily="2" charset="0"/>
              </a:rPr>
              <a:t>Evidence comes from the named fixture.</a:t>
            </a:r>
            <a:endParaRPr lang="en-AU" sz="2100">
              <a:solidFill>
                <a:srgbClr val="153855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8227051-2D81-186B-A18E-B764B3E72533}"/>
              </a:ext>
            </a:extLst>
          </p:cNvPr>
          <p:cNvSpPr/>
          <p:nvPr/>
        </p:nvSpPr>
        <p:spPr>
          <a:xfrm>
            <a:off x="868680" y="5074920"/>
            <a:ext cx="3840480" cy="1143000"/>
          </a:xfrm>
          <a:prstGeom prst="roundRect">
            <a:avLst/>
          </a:prstGeom>
          <a:solidFill>
            <a:srgbClr val="0A4D81"/>
          </a:solidFill>
          <a:ln w="15875">
            <a:solidFill>
              <a:srgbClr val="0A4D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5201EC-1B2D-CC6F-7602-0EC752B7CC63}"/>
              </a:ext>
            </a:extLst>
          </p:cNvPr>
          <p:cNvSpPr txBox="1"/>
          <p:nvPr/>
        </p:nvSpPr>
        <p:spPr>
          <a:xfrm>
            <a:off x="1097280" y="5212080"/>
            <a:ext cx="3383280" cy="82296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AU" sz="2300" b="1">
                <a:solidFill>
                  <a:srgbClr val="FFFFFF"/>
                </a:solidFill>
                <a:latin typeface="Montserrat" panose="00000500000000000000" pitchFamily="2" charset="0"/>
              </a:rPr>
              <a:t>CHANGE SCOPE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490F1A-059A-E241-D6BB-81EE6AE51F40}"/>
              </a:ext>
            </a:extLst>
          </p:cNvPr>
          <p:cNvSpPr txBox="1"/>
          <p:nvPr/>
        </p:nvSpPr>
        <p:spPr>
          <a:xfrm>
            <a:off x="5120640" y="5111496"/>
            <a:ext cx="5669280" cy="105156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2400" b="1">
                <a:solidFill>
                  <a:srgbClr val="0A4D81"/>
                </a:solidFill>
                <a:latin typeface="Montserrat" panose="00000500000000000000" pitchFamily="2" charset="0"/>
              </a:rPr>
              <a:t>One operation, approved value only</a:t>
            </a:r>
            <a:endParaRPr lang="en-AU" sz="2400" b="1">
              <a:solidFill>
                <a:srgbClr val="0A4D81"/>
              </a:solidFill>
              <a:latin typeface="Montserrat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8E10FB-22A6-D294-6185-4AB7A8AE8F41}"/>
              </a:ext>
            </a:extLst>
          </p:cNvPr>
          <p:cNvSpPr txBox="1"/>
          <p:nvPr/>
        </p:nvSpPr>
        <p:spPr>
          <a:xfrm>
            <a:off x="11064240" y="5111496"/>
            <a:ext cx="7863840" cy="105156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2100">
                <a:solidFill>
                  <a:srgbClr val="153855"/>
                </a:solidFill>
                <a:latin typeface="Montserrat" panose="00000500000000000000" pitchFamily="2" charset="0"/>
              </a:rPr>
              <a:t>No arbitrary SQL or generic patch.</a:t>
            </a:r>
            <a:endParaRPr lang="en-AU" sz="2100">
              <a:solidFill>
                <a:srgbClr val="153855"/>
              </a:solidFill>
              <a:latin typeface="Montserrat" panose="00000500000000000000" pitchFamily="2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030A48F-EB85-B197-4C68-A3267E52C1C9}"/>
              </a:ext>
            </a:extLst>
          </p:cNvPr>
          <p:cNvSpPr/>
          <p:nvPr/>
        </p:nvSpPr>
        <p:spPr>
          <a:xfrm>
            <a:off x="868680" y="6492240"/>
            <a:ext cx="3840480" cy="1143000"/>
          </a:xfrm>
          <a:prstGeom prst="roundRect">
            <a:avLst/>
          </a:prstGeom>
          <a:solidFill>
            <a:srgbClr val="0A4D81"/>
          </a:solidFill>
          <a:ln w="15875">
            <a:solidFill>
              <a:srgbClr val="0A4D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1092AB-03D9-4FC0-95B8-01089ECFA79C}"/>
              </a:ext>
            </a:extLst>
          </p:cNvPr>
          <p:cNvSpPr txBox="1"/>
          <p:nvPr/>
        </p:nvSpPr>
        <p:spPr>
          <a:xfrm>
            <a:off x="1097280" y="6629400"/>
            <a:ext cx="3383280" cy="82296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AU" sz="2300" b="1">
                <a:solidFill>
                  <a:srgbClr val="FFFFFF"/>
                </a:solidFill>
                <a:latin typeface="Montserrat" panose="00000500000000000000" pitchFamily="2" charset="0"/>
              </a:rPr>
              <a:t>APPROVAL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2EA7FD-3C0B-E226-48D7-0C457AABE1A0}"/>
              </a:ext>
            </a:extLst>
          </p:cNvPr>
          <p:cNvSpPr txBox="1"/>
          <p:nvPr/>
        </p:nvSpPr>
        <p:spPr>
          <a:xfrm>
            <a:off x="5120640" y="6528816"/>
            <a:ext cx="5669280" cy="105156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2400" b="1">
                <a:solidFill>
                  <a:srgbClr val="0A4D81"/>
                </a:solidFill>
                <a:latin typeface="Montserrat" panose="00000500000000000000" pitchFamily="2" charset="0"/>
              </a:rPr>
              <a:t>Exact plan, operator, and expiry</a:t>
            </a:r>
            <a:endParaRPr lang="en-AU" sz="2400" b="1">
              <a:solidFill>
                <a:srgbClr val="0A4D81"/>
              </a:solidFill>
              <a:latin typeface="Montserrat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5AE7BB-9B30-CC52-1674-D3D8C057366D}"/>
              </a:ext>
            </a:extLst>
          </p:cNvPr>
          <p:cNvSpPr txBox="1"/>
          <p:nvPr/>
        </p:nvSpPr>
        <p:spPr>
          <a:xfrm>
            <a:off x="11064240" y="6528816"/>
            <a:ext cx="7863840" cy="105156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2100">
                <a:solidFill>
                  <a:srgbClr val="153855"/>
                </a:solidFill>
                <a:latin typeface="Montserrat" panose="00000500000000000000" pitchFamily="2" charset="0"/>
              </a:rPr>
              <a:t>Fixture identity is self-attested - not production auth.</a:t>
            </a:r>
            <a:endParaRPr lang="en-AU" sz="2100">
              <a:solidFill>
                <a:srgbClr val="153855"/>
              </a:solidFill>
              <a:latin typeface="Montserrat" panose="00000500000000000000" pitchFamily="2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07ACE14-1A79-7417-80A2-5B4D4D66EAFB}"/>
              </a:ext>
            </a:extLst>
          </p:cNvPr>
          <p:cNvSpPr/>
          <p:nvPr/>
        </p:nvSpPr>
        <p:spPr>
          <a:xfrm>
            <a:off x="868680" y="7909560"/>
            <a:ext cx="3840480" cy="1143000"/>
          </a:xfrm>
          <a:prstGeom prst="roundRect">
            <a:avLst/>
          </a:prstGeom>
          <a:solidFill>
            <a:srgbClr val="0A4D81"/>
          </a:solidFill>
          <a:ln w="15875">
            <a:solidFill>
              <a:srgbClr val="0A4D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B09079-974A-CEBB-13CE-827BF540E9E4}"/>
              </a:ext>
            </a:extLst>
          </p:cNvPr>
          <p:cNvSpPr txBox="1"/>
          <p:nvPr/>
        </p:nvSpPr>
        <p:spPr>
          <a:xfrm>
            <a:off x="1097280" y="8046720"/>
            <a:ext cx="3383280" cy="82296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AU" sz="2300" b="1">
                <a:solidFill>
                  <a:srgbClr val="FFFFFF"/>
                </a:solidFill>
                <a:latin typeface="Montserrat" panose="00000500000000000000" pitchFamily="2" charset="0"/>
              </a:rPr>
              <a:t>VERIFICATION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B5386C-7118-F461-54DF-4987DA12D684}"/>
              </a:ext>
            </a:extLst>
          </p:cNvPr>
          <p:cNvSpPr txBox="1"/>
          <p:nvPr/>
        </p:nvSpPr>
        <p:spPr>
          <a:xfrm>
            <a:off x="5120640" y="7946136"/>
            <a:ext cx="5669280" cy="105156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AU" sz="2400" b="1">
                <a:solidFill>
                  <a:srgbClr val="0A4D81"/>
                </a:solidFill>
                <a:latin typeface="Montserrat" panose="00000500000000000000" pitchFamily="2" charset="0"/>
              </a:rPr>
              <a:t>Fresh post-change read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414656-34F8-FAD8-8E2E-66F773169383}"/>
              </a:ext>
            </a:extLst>
          </p:cNvPr>
          <p:cNvSpPr txBox="1"/>
          <p:nvPr/>
        </p:nvSpPr>
        <p:spPr>
          <a:xfrm>
            <a:off x="11064240" y="7946136"/>
            <a:ext cx="7863840" cy="105156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2100">
                <a:solidFill>
                  <a:srgbClr val="153855"/>
                </a:solidFill>
                <a:latin typeface="Montserrat" panose="00000500000000000000" pitchFamily="2" charset="0"/>
              </a:rPr>
              <a:t>Uncertain outcomes are inspected, never blindly retried.</a:t>
            </a:r>
            <a:endParaRPr lang="en-AU" sz="2100">
              <a:solidFill>
                <a:srgbClr val="153855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37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"/>
          <p:cNvSpPr/>
          <p:nvPr/>
        </p:nvSpPr>
        <p:spPr>
          <a:xfrm>
            <a:off x="2074050" y="2422272"/>
            <a:ext cx="14801700" cy="24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5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DEMO</a:t>
            </a:r>
            <a:endParaRPr sz="765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1" name="Google Shape;221;p18"/>
          <p:cNvCxnSpPr/>
          <p:nvPr/>
        </p:nvCxnSpPr>
        <p:spPr>
          <a:xfrm>
            <a:off x="2074050" y="4466475"/>
            <a:ext cx="3238500" cy="7200"/>
          </a:xfrm>
          <a:prstGeom prst="straightConnector1">
            <a:avLst/>
          </a:prstGeom>
          <a:noFill/>
          <a:ln w="76200" cap="flat" cmpd="sng">
            <a:solidFill>
              <a:srgbClr val="3FAC9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2" name="Google Shape;222;p18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D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1E8CE4-F7FF-4A3B-4602-4AA24BF6B411}"/>
              </a:ext>
            </a:extLst>
          </p:cNvPr>
          <p:cNvSpPr txBox="1"/>
          <p:nvPr/>
        </p:nvSpPr>
        <p:spPr>
          <a:xfrm>
            <a:off x="685800" y="438912"/>
            <a:ext cx="18470880" cy="82296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AU" sz="3800" b="1">
                <a:solidFill>
                  <a:srgbClr val="FFFFFF"/>
                </a:solidFill>
                <a:latin typeface="Montserrat" panose="00000500000000000000" pitchFamily="2" charset="0"/>
              </a:rPr>
              <a:t>FOUR-MINUTE DEMO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2121AD-842B-6585-0BCD-79A7988DE179}"/>
              </a:ext>
            </a:extLst>
          </p:cNvPr>
          <p:cNvSpPr/>
          <p:nvPr/>
        </p:nvSpPr>
        <p:spPr>
          <a:xfrm>
            <a:off x="749808" y="1353312"/>
            <a:ext cx="2286000" cy="50292"/>
          </a:xfrm>
          <a:prstGeom prst="rect">
            <a:avLst/>
          </a:prstGeom>
          <a:solidFill>
            <a:srgbClr val="3FAC92"/>
          </a:solidFill>
          <a:ln w="15875">
            <a:solidFill>
              <a:srgbClr val="3FAC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2CB20B-87ED-C1A4-A83F-B21C816FD24B}"/>
              </a:ext>
            </a:extLst>
          </p:cNvPr>
          <p:cNvSpPr txBox="1"/>
          <p:nvPr/>
        </p:nvSpPr>
        <p:spPr>
          <a:xfrm>
            <a:off x="731520" y="1481328"/>
            <a:ext cx="18470880" cy="54864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2300" b="1">
                <a:solidFill>
                  <a:srgbClr val="3FAC92"/>
                </a:solidFill>
                <a:latin typeface="Montserrat" panose="00000500000000000000" pitchFamily="2" charset="0"/>
              </a:rPr>
              <a:t>FIXTURE REPLAY - no live model or cluster call</a:t>
            </a:r>
            <a:endParaRPr lang="en-AU" sz="2300" b="1">
              <a:solidFill>
                <a:srgbClr val="3FAC92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B78B0F-47F9-2221-B4FD-0E4C6FE74336}"/>
              </a:ext>
            </a:extLst>
          </p:cNvPr>
          <p:cNvSpPr txBox="1"/>
          <p:nvPr/>
        </p:nvSpPr>
        <p:spPr>
          <a:xfrm>
            <a:off x="17693639" y="10561320"/>
            <a:ext cx="1828800" cy="384048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pPr algn="ctr"/>
            <a:r>
              <a:rPr lang="en-AU" sz="1700" b="1">
                <a:solidFill>
                  <a:srgbClr val="FFFFFF"/>
                </a:solidFill>
                <a:latin typeface="Montserrat" panose="00000500000000000000" pitchFamily="2" charset="0"/>
              </a:rPr>
              <a:t>STACKQL&gt;&gt;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DD9A15F-7CB8-C701-96DF-B2F34481363F}"/>
              </a:ext>
            </a:extLst>
          </p:cNvPr>
          <p:cNvSpPr/>
          <p:nvPr/>
        </p:nvSpPr>
        <p:spPr>
          <a:xfrm>
            <a:off x="868680" y="2331720"/>
            <a:ext cx="388620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FAC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27D0C1-403E-4635-7A55-1B9C2F1817A1}"/>
              </a:ext>
            </a:extLst>
          </p:cNvPr>
          <p:cNvSpPr txBox="1"/>
          <p:nvPr/>
        </p:nvSpPr>
        <p:spPr>
          <a:xfrm>
            <a:off x="1051560" y="2441448"/>
            <a:ext cx="3520440" cy="804672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AU" sz="2200" b="1">
                <a:solidFill>
                  <a:srgbClr val="0A4D81"/>
                </a:solidFill>
                <a:latin typeface="Montserrat" panose="00000500000000000000" pitchFamily="2" charset="0"/>
              </a:rPr>
              <a:t>01  QUERY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37ED77-1F5E-4D50-8371-9C0017457FAF}"/>
              </a:ext>
            </a:extLst>
          </p:cNvPr>
          <p:cNvSpPr txBox="1"/>
          <p:nvPr/>
        </p:nvSpPr>
        <p:spPr>
          <a:xfrm>
            <a:off x="5212080" y="2404872"/>
            <a:ext cx="13258800" cy="91440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2200">
                <a:solidFill>
                  <a:srgbClr val="FFFFFF"/>
                </a:solidFill>
                <a:latin typeface="Montserrat" panose="00000500000000000000" pitchFamily="2" charset="0"/>
              </a:rPr>
              <a:t>Read inventory, desired image, resource version, and evidence ID.</a:t>
            </a:r>
            <a:endParaRPr lang="en-AU" sz="220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47AAD33-66A9-EF15-FE14-CCB0B09BC100}"/>
              </a:ext>
            </a:extLst>
          </p:cNvPr>
          <p:cNvSpPr/>
          <p:nvPr/>
        </p:nvSpPr>
        <p:spPr>
          <a:xfrm>
            <a:off x="868680" y="3685032"/>
            <a:ext cx="388620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FAC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B6DF72-C1AF-4E38-9ABB-A0EAB43CED01}"/>
              </a:ext>
            </a:extLst>
          </p:cNvPr>
          <p:cNvSpPr txBox="1"/>
          <p:nvPr/>
        </p:nvSpPr>
        <p:spPr>
          <a:xfrm>
            <a:off x="1051560" y="3794760"/>
            <a:ext cx="3520440" cy="804672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AU" sz="2200" b="1">
                <a:solidFill>
                  <a:srgbClr val="0A4D81"/>
                </a:solidFill>
                <a:latin typeface="Montserrat" panose="00000500000000000000" pitchFamily="2" charset="0"/>
              </a:rPr>
              <a:t>02  DENY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2BA4D5-566D-A0C0-34DB-B4F1BEC682E8}"/>
              </a:ext>
            </a:extLst>
          </p:cNvPr>
          <p:cNvSpPr txBox="1"/>
          <p:nvPr/>
        </p:nvSpPr>
        <p:spPr>
          <a:xfrm>
            <a:off x="5212080" y="3758184"/>
            <a:ext cx="13258800" cy="91440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2200">
                <a:solidFill>
                  <a:srgbClr val="FFFFFF"/>
                </a:solidFill>
                <a:latin typeface="Montserrat" panose="00000500000000000000" pitchFamily="2" charset="0"/>
              </a:rPr>
              <a:t>Try an arbitrary target/value; policy denies and stops that action.</a:t>
            </a:r>
            <a:endParaRPr lang="en-AU" sz="220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3A4A456-3248-2FA5-CE66-212E2EE28308}"/>
              </a:ext>
            </a:extLst>
          </p:cNvPr>
          <p:cNvSpPr/>
          <p:nvPr/>
        </p:nvSpPr>
        <p:spPr>
          <a:xfrm>
            <a:off x="868680" y="5038344"/>
            <a:ext cx="388620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FAC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C2EB99-496C-7613-2F42-B38B33B8C7C3}"/>
              </a:ext>
            </a:extLst>
          </p:cNvPr>
          <p:cNvSpPr txBox="1"/>
          <p:nvPr/>
        </p:nvSpPr>
        <p:spPr>
          <a:xfrm>
            <a:off x="1051560" y="5148072"/>
            <a:ext cx="3520440" cy="804672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AU" sz="2200" b="1">
                <a:solidFill>
                  <a:srgbClr val="0A4D81"/>
                </a:solidFill>
                <a:latin typeface="Montserrat" panose="00000500000000000000" pitchFamily="2" charset="0"/>
              </a:rPr>
              <a:t>03  PROPOSE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EBE41B-996C-AF45-B110-F46D1F3AE4C7}"/>
              </a:ext>
            </a:extLst>
          </p:cNvPr>
          <p:cNvSpPr txBox="1"/>
          <p:nvPr/>
        </p:nvSpPr>
        <p:spPr>
          <a:xfrm>
            <a:off x="5212080" y="5111496"/>
            <a:ext cx="13258800" cy="91440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2200">
                <a:solidFill>
                  <a:srgbClr val="FFFFFF"/>
                </a:solidFill>
                <a:latin typeface="Montserrat" panose="00000500000000000000" pitchFamily="2" charset="0"/>
              </a:rPr>
              <a:t>Start a separate exact-image proposal using fresh evidence.</a:t>
            </a:r>
            <a:endParaRPr lang="en-AU" sz="220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62CA152-0663-DC29-2300-D742B06A856C}"/>
              </a:ext>
            </a:extLst>
          </p:cNvPr>
          <p:cNvSpPr/>
          <p:nvPr/>
        </p:nvSpPr>
        <p:spPr>
          <a:xfrm>
            <a:off x="868680" y="6391656"/>
            <a:ext cx="388620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FAC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8A796B-22B5-2DC8-27F9-9E03F59F5339}"/>
              </a:ext>
            </a:extLst>
          </p:cNvPr>
          <p:cNvSpPr txBox="1"/>
          <p:nvPr/>
        </p:nvSpPr>
        <p:spPr>
          <a:xfrm>
            <a:off x="1051560" y="6501384"/>
            <a:ext cx="3520440" cy="804672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AU" sz="2200" b="1">
                <a:solidFill>
                  <a:srgbClr val="0A4D81"/>
                </a:solidFill>
                <a:latin typeface="Montserrat" panose="00000500000000000000" pitchFamily="2" charset="0"/>
              </a:rPr>
              <a:t>04  APPROVE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6131AD-C7EA-672D-3CF0-E0BDC2C9A3DA}"/>
              </a:ext>
            </a:extLst>
          </p:cNvPr>
          <p:cNvSpPr txBox="1"/>
          <p:nvPr/>
        </p:nvSpPr>
        <p:spPr>
          <a:xfrm>
            <a:off x="5212080" y="6464808"/>
            <a:ext cx="13258800" cy="91440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2200">
                <a:solidFill>
                  <a:srgbClr val="FFFFFF"/>
                </a:solidFill>
                <a:latin typeface="Montserrat" panose="00000500000000000000" pitchFamily="2" charset="0"/>
              </a:rPr>
              <a:t>Review the canonical plan; local approval is teaching-only.</a:t>
            </a:r>
            <a:endParaRPr lang="en-AU" sz="220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974D03E-1F4F-2CB3-607C-D410BD7954BF}"/>
              </a:ext>
            </a:extLst>
          </p:cNvPr>
          <p:cNvSpPr/>
          <p:nvPr/>
        </p:nvSpPr>
        <p:spPr>
          <a:xfrm>
            <a:off x="868680" y="7744968"/>
            <a:ext cx="388620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FAC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A55E6E-B58E-5F61-A558-6C9344EFF305}"/>
              </a:ext>
            </a:extLst>
          </p:cNvPr>
          <p:cNvSpPr txBox="1"/>
          <p:nvPr/>
        </p:nvSpPr>
        <p:spPr>
          <a:xfrm>
            <a:off x="1051560" y="7854696"/>
            <a:ext cx="3520440" cy="804672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AU" sz="2200" b="1">
                <a:solidFill>
                  <a:srgbClr val="0A4D81"/>
                </a:solidFill>
                <a:latin typeface="Montserrat" panose="00000500000000000000" pitchFamily="2" charset="0"/>
              </a:rPr>
              <a:t>05  VERIFY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E62B12-F450-9A17-A4CF-33F7EECEE1F2}"/>
              </a:ext>
            </a:extLst>
          </p:cNvPr>
          <p:cNvSpPr txBox="1"/>
          <p:nvPr/>
        </p:nvSpPr>
        <p:spPr>
          <a:xfrm>
            <a:off x="5212080" y="7818120"/>
            <a:ext cx="13258800" cy="91440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2200">
                <a:solidFill>
                  <a:srgbClr val="FFFFFF"/>
                </a:solidFill>
                <a:latin typeface="Montserrat" panose="00000500000000000000" pitchFamily="2" charset="0"/>
              </a:rPr>
              <a:t>Apply one in-memory fixture change and read back the result.</a:t>
            </a:r>
            <a:endParaRPr lang="en-AU" sz="220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048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87738A-722B-9D65-FA36-B0D0996EF698}"/>
              </a:ext>
            </a:extLst>
          </p:cNvPr>
          <p:cNvSpPr txBox="1"/>
          <p:nvPr/>
        </p:nvSpPr>
        <p:spPr>
          <a:xfrm>
            <a:off x="685800" y="438912"/>
            <a:ext cx="18470880" cy="82296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3800" b="1">
                <a:solidFill>
                  <a:srgbClr val="0A4D81"/>
                </a:solidFill>
                <a:latin typeface="Montserrat" panose="00000500000000000000" pitchFamily="2" charset="0"/>
              </a:rPr>
              <a:t>OPERATE IT LIKE A WORKLOAD</a:t>
            </a:r>
            <a:endParaRPr lang="en-AU" sz="3800" b="1">
              <a:solidFill>
                <a:srgbClr val="0A4D81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61C7CF-93AD-4477-DA67-611DD8267094}"/>
              </a:ext>
            </a:extLst>
          </p:cNvPr>
          <p:cNvSpPr/>
          <p:nvPr/>
        </p:nvSpPr>
        <p:spPr>
          <a:xfrm>
            <a:off x="749808" y="1353312"/>
            <a:ext cx="2286000" cy="50292"/>
          </a:xfrm>
          <a:prstGeom prst="rect">
            <a:avLst/>
          </a:prstGeom>
          <a:solidFill>
            <a:srgbClr val="3FAC92"/>
          </a:solidFill>
          <a:ln w="15875">
            <a:solidFill>
              <a:srgbClr val="3FAC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63D4CE-B77A-A478-6D81-3E9BE02CD441}"/>
              </a:ext>
            </a:extLst>
          </p:cNvPr>
          <p:cNvSpPr txBox="1"/>
          <p:nvPr/>
        </p:nvSpPr>
        <p:spPr>
          <a:xfrm>
            <a:off x="731520" y="1481328"/>
            <a:ext cx="18470880" cy="54864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2300" b="1">
                <a:solidFill>
                  <a:srgbClr val="3FAC92"/>
                </a:solidFill>
                <a:latin typeface="Montserrat" panose="00000500000000000000" pitchFamily="2" charset="0"/>
              </a:rPr>
              <a:t>An agent has runtime, identity, and evidence requirements</a:t>
            </a:r>
            <a:endParaRPr lang="en-AU" sz="2300" b="1">
              <a:solidFill>
                <a:srgbClr val="3FAC92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619756-7D20-851D-3A9B-CFFEEF7FA0B0}"/>
              </a:ext>
            </a:extLst>
          </p:cNvPr>
          <p:cNvSpPr txBox="1"/>
          <p:nvPr/>
        </p:nvSpPr>
        <p:spPr>
          <a:xfrm>
            <a:off x="17693639" y="10561320"/>
            <a:ext cx="1828800" cy="384048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pPr algn="ctr"/>
            <a:r>
              <a:rPr lang="en-AU" sz="1700" b="1">
                <a:solidFill>
                  <a:srgbClr val="0A4D81"/>
                </a:solidFill>
                <a:latin typeface="Montserrat" panose="00000500000000000000" pitchFamily="2" charset="0"/>
              </a:rPr>
              <a:t>STACKQL&gt;&gt;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D53E478-6F4B-B695-8821-22940CAC1D8F}"/>
              </a:ext>
            </a:extLst>
          </p:cNvPr>
          <p:cNvSpPr/>
          <p:nvPr/>
        </p:nvSpPr>
        <p:spPr>
          <a:xfrm>
            <a:off x="868680" y="2331720"/>
            <a:ext cx="8686800" cy="2148840"/>
          </a:xfrm>
          <a:prstGeom prst="roundRect">
            <a:avLst/>
          </a:prstGeom>
          <a:solidFill>
            <a:srgbClr val="F1F6FA"/>
          </a:solidFill>
          <a:ln w="15875">
            <a:solidFill>
              <a:srgbClr val="0A4D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5440C6-1990-53CB-0B49-8720ADF0E179}"/>
              </a:ext>
            </a:extLst>
          </p:cNvPr>
          <p:cNvSpPr txBox="1"/>
          <p:nvPr/>
        </p:nvSpPr>
        <p:spPr>
          <a:xfrm>
            <a:off x="1188720" y="2514600"/>
            <a:ext cx="8046720" cy="530352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AU" sz="2200" b="1">
                <a:solidFill>
                  <a:srgbClr val="0A4D81"/>
                </a:solidFill>
                <a:latin typeface="Montserrat" panose="00000500000000000000" pitchFamily="2" charset="0"/>
              </a:rPr>
              <a:t>IDENTITY AND SCOPE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37639D-5814-D6B9-6D22-079507E46C78}"/>
              </a:ext>
            </a:extLst>
          </p:cNvPr>
          <p:cNvSpPr txBox="1"/>
          <p:nvPr/>
        </p:nvSpPr>
        <p:spPr>
          <a:xfrm>
            <a:off x="1188720" y="3154680"/>
            <a:ext cx="8001000" cy="105156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2200">
                <a:solidFill>
                  <a:srgbClr val="153855"/>
                </a:solidFill>
                <a:latin typeface="Montserrat" panose="00000500000000000000" pitchFamily="2" charset="0"/>
              </a:rPr>
              <a:t>Separate read-only and approved mutation identities. Use explicitly scoped credentials; never inherit a developer default context.</a:t>
            </a:r>
            <a:endParaRPr lang="en-AU" sz="2200">
              <a:solidFill>
                <a:srgbClr val="153855"/>
              </a:solidFill>
              <a:latin typeface="Montserrat" panose="00000500000000000000" pitchFamily="2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4527386-7F8A-1203-C102-F021CFAA6CF0}"/>
              </a:ext>
            </a:extLst>
          </p:cNvPr>
          <p:cNvSpPr/>
          <p:nvPr/>
        </p:nvSpPr>
        <p:spPr>
          <a:xfrm>
            <a:off x="10241280" y="2331720"/>
            <a:ext cx="8686800" cy="2148840"/>
          </a:xfrm>
          <a:prstGeom prst="roundRect">
            <a:avLst/>
          </a:prstGeom>
          <a:solidFill>
            <a:srgbClr val="F1F6FA"/>
          </a:solidFill>
          <a:ln w="15875">
            <a:solidFill>
              <a:srgbClr val="0A4D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0B2787-1B94-F157-4AF4-4C97AE30C1BF}"/>
              </a:ext>
            </a:extLst>
          </p:cNvPr>
          <p:cNvSpPr txBox="1"/>
          <p:nvPr/>
        </p:nvSpPr>
        <p:spPr>
          <a:xfrm>
            <a:off x="10561320" y="2514600"/>
            <a:ext cx="8046720" cy="530352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AU" sz="2200" b="1">
                <a:solidFill>
                  <a:srgbClr val="0A4D81"/>
                </a:solidFill>
                <a:latin typeface="Montserrat" panose="00000500000000000000" pitchFamily="2" charset="0"/>
              </a:rPr>
              <a:t>BOUNDED EXECUTION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03162B-D5C7-24E3-C276-31D9F842B9BA}"/>
              </a:ext>
            </a:extLst>
          </p:cNvPr>
          <p:cNvSpPr txBox="1"/>
          <p:nvPr/>
        </p:nvSpPr>
        <p:spPr>
          <a:xfrm>
            <a:off x="10561320" y="3154680"/>
            <a:ext cx="8001000" cy="105156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2200">
                <a:solidFill>
                  <a:srgbClr val="153855"/>
                </a:solidFill>
                <a:latin typeface="Montserrat" panose="00000500000000000000" pitchFamily="2" charset="0"/>
              </a:rPr>
              <a:t>Bound turns, output, time, and tool calls. Provider API limits are separate spend controls.</a:t>
            </a:r>
            <a:endParaRPr lang="en-AU" sz="2200">
              <a:solidFill>
                <a:srgbClr val="153855"/>
              </a:solidFill>
              <a:latin typeface="Montserrat" panose="00000500000000000000" pitchFamily="2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05BFFB1-1608-7F4C-D430-69A67184936F}"/>
              </a:ext>
            </a:extLst>
          </p:cNvPr>
          <p:cNvSpPr/>
          <p:nvPr/>
        </p:nvSpPr>
        <p:spPr>
          <a:xfrm>
            <a:off x="868680" y="5120640"/>
            <a:ext cx="8686800" cy="2148840"/>
          </a:xfrm>
          <a:prstGeom prst="roundRect">
            <a:avLst/>
          </a:prstGeom>
          <a:solidFill>
            <a:srgbClr val="F1F6FA"/>
          </a:solidFill>
          <a:ln w="15875">
            <a:solidFill>
              <a:srgbClr val="0A4D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85B446-1886-C439-9A26-F59AF039FF28}"/>
              </a:ext>
            </a:extLst>
          </p:cNvPr>
          <p:cNvSpPr txBox="1"/>
          <p:nvPr/>
        </p:nvSpPr>
        <p:spPr>
          <a:xfrm>
            <a:off x="1188720" y="5303520"/>
            <a:ext cx="8046720" cy="530352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AU" sz="2200" b="1">
                <a:solidFill>
                  <a:srgbClr val="0A4D81"/>
                </a:solidFill>
                <a:latin typeface="Montserrat" panose="00000500000000000000" pitchFamily="2" charset="0"/>
              </a:rPr>
              <a:t>AUDIT EVIDENCE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8958BA-125A-B7C6-AB76-EB398EAB9C0B}"/>
              </a:ext>
            </a:extLst>
          </p:cNvPr>
          <p:cNvSpPr txBox="1"/>
          <p:nvPr/>
        </p:nvSpPr>
        <p:spPr>
          <a:xfrm>
            <a:off x="1188720" y="5943600"/>
            <a:ext cx="8001000" cy="105156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2200">
                <a:solidFill>
                  <a:srgbClr val="153855"/>
                </a:solidFill>
                <a:latin typeface="Montserrat" panose="00000500000000000000" pitchFamily="2" charset="0"/>
              </a:rPr>
              <a:t>Correlate structured events. Local logs are not durable evidence unless storage and retention are proven.</a:t>
            </a:r>
            <a:endParaRPr lang="en-AU" sz="2200">
              <a:solidFill>
                <a:srgbClr val="153855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F9ADD0E-2AD6-EC04-1943-656D152E4A09}"/>
              </a:ext>
            </a:extLst>
          </p:cNvPr>
          <p:cNvSpPr/>
          <p:nvPr/>
        </p:nvSpPr>
        <p:spPr>
          <a:xfrm>
            <a:off x="10241280" y="5120640"/>
            <a:ext cx="8686800" cy="2148840"/>
          </a:xfrm>
          <a:prstGeom prst="roundRect">
            <a:avLst/>
          </a:prstGeom>
          <a:solidFill>
            <a:srgbClr val="F1F6FA"/>
          </a:solidFill>
          <a:ln w="15875">
            <a:solidFill>
              <a:srgbClr val="0A4D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0A9F1B-051D-E74A-9E36-4BEE9C750DFD}"/>
              </a:ext>
            </a:extLst>
          </p:cNvPr>
          <p:cNvSpPr txBox="1"/>
          <p:nvPr/>
        </p:nvSpPr>
        <p:spPr>
          <a:xfrm>
            <a:off x="10561320" y="5303520"/>
            <a:ext cx="8046720" cy="530352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AU" sz="2200" b="1">
                <a:solidFill>
                  <a:srgbClr val="0A4D81"/>
                </a:solidFill>
                <a:latin typeface="Montserrat" panose="00000500000000000000" pitchFamily="2" charset="0"/>
              </a:rPr>
              <a:t>SAFE CLEANUP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BC1ACF-ED2F-5BE9-E9EC-4B6C88F95076}"/>
              </a:ext>
            </a:extLst>
          </p:cNvPr>
          <p:cNvSpPr txBox="1"/>
          <p:nvPr/>
        </p:nvSpPr>
        <p:spPr>
          <a:xfrm>
            <a:off x="10561320" y="5943600"/>
            <a:ext cx="8001000" cy="105156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2200">
                <a:solidFill>
                  <a:srgbClr val="153855"/>
                </a:solidFill>
                <a:latin typeface="Montserrat" panose="00000500000000000000" pitchFamily="2" charset="0"/>
              </a:rPr>
              <a:t>Reset only positively identified lab-owned resources. The checked-in CronJob is suspended and read-only.</a:t>
            </a:r>
            <a:endParaRPr lang="en-AU" sz="2200">
              <a:solidFill>
                <a:srgbClr val="153855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05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041473-270F-6831-51B2-9FD1AC5A5AE2}"/>
              </a:ext>
            </a:extLst>
          </p:cNvPr>
          <p:cNvSpPr txBox="1"/>
          <p:nvPr/>
        </p:nvSpPr>
        <p:spPr>
          <a:xfrm>
            <a:off x="685800" y="438912"/>
            <a:ext cx="18470880" cy="82296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3800" b="1">
                <a:solidFill>
                  <a:srgbClr val="0A4D81"/>
                </a:solidFill>
                <a:latin typeface="Montserrat" panose="00000500000000000000" pitchFamily="2" charset="0"/>
              </a:rPr>
              <a:t>WHAT THIS DOES NOT SOLVE</a:t>
            </a:r>
            <a:endParaRPr lang="en-AU" sz="3800" b="1">
              <a:solidFill>
                <a:srgbClr val="0A4D81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03DE73-C26E-E27A-FDCF-899C5A4F6970}"/>
              </a:ext>
            </a:extLst>
          </p:cNvPr>
          <p:cNvSpPr/>
          <p:nvPr/>
        </p:nvSpPr>
        <p:spPr>
          <a:xfrm>
            <a:off x="749808" y="1353312"/>
            <a:ext cx="2286000" cy="50292"/>
          </a:xfrm>
          <a:prstGeom prst="rect">
            <a:avLst/>
          </a:prstGeom>
          <a:solidFill>
            <a:srgbClr val="3FAC92"/>
          </a:solidFill>
          <a:ln w="15875">
            <a:solidFill>
              <a:srgbClr val="3FAC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6FF839-2D16-F858-80C9-FC22359851BE}"/>
              </a:ext>
            </a:extLst>
          </p:cNvPr>
          <p:cNvSpPr txBox="1"/>
          <p:nvPr/>
        </p:nvSpPr>
        <p:spPr>
          <a:xfrm>
            <a:off x="731520" y="1481328"/>
            <a:ext cx="18470880" cy="54864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2300" b="1">
                <a:solidFill>
                  <a:srgbClr val="3FAC92"/>
                </a:solidFill>
                <a:latin typeface="Montserrat" panose="00000500000000000000" pitchFamily="2" charset="0"/>
              </a:rPr>
              <a:t>Guardrails reduce risk; they do not make the system infallible</a:t>
            </a:r>
            <a:endParaRPr lang="en-AU" sz="2300" b="1">
              <a:solidFill>
                <a:srgbClr val="3FAC92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FAACD9-CD4A-0ED7-0D7F-D0A5AB95BCF9}"/>
              </a:ext>
            </a:extLst>
          </p:cNvPr>
          <p:cNvSpPr txBox="1"/>
          <p:nvPr/>
        </p:nvSpPr>
        <p:spPr>
          <a:xfrm>
            <a:off x="17693639" y="10561320"/>
            <a:ext cx="1828800" cy="384048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pPr algn="ctr"/>
            <a:r>
              <a:rPr lang="en-AU" sz="1700" b="1">
                <a:solidFill>
                  <a:srgbClr val="0A4D81"/>
                </a:solidFill>
                <a:latin typeface="Montserrat" panose="00000500000000000000" pitchFamily="2" charset="0"/>
              </a:rPr>
              <a:t>STACKQL&gt;&gt;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1CEE207-08CC-0756-AAF6-863C9C40EE43}"/>
              </a:ext>
            </a:extLst>
          </p:cNvPr>
          <p:cNvSpPr/>
          <p:nvPr/>
        </p:nvSpPr>
        <p:spPr>
          <a:xfrm>
            <a:off x="868680" y="2331720"/>
            <a:ext cx="8686800" cy="2148840"/>
          </a:xfrm>
          <a:prstGeom prst="roundRect">
            <a:avLst/>
          </a:prstGeom>
          <a:solidFill>
            <a:srgbClr val="FEF1EF"/>
          </a:solidFill>
          <a:ln w="15875">
            <a:solidFill>
              <a:srgbClr val="C72C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A83EC7-3C2B-2CCE-98A5-AFAF18D941EE}"/>
              </a:ext>
            </a:extLst>
          </p:cNvPr>
          <p:cNvSpPr txBox="1"/>
          <p:nvPr/>
        </p:nvSpPr>
        <p:spPr>
          <a:xfrm>
            <a:off x="1188720" y="2532888"/>
            <a:ext cx="8046720" cy="50292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AU" sz="2200" b="1">
                <a:solidFill>
                  <a:srgbClr val="C72C2C"/>
                </a:solidFill>
                <a:latin typeface="Montserrat" panose="00000500000000000000" pitchFamily="2" charset="0"/>
              </a:rPr>
              <a:t>WRONG DESIRED 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002DDE-21BE-AC84-9659-9DD6B5E0ECFA}"/>
              </a:ext>
            </a:extLst>
          </p:cNvPr>
          <p:cNvSpPr txBox="1"/>
          <p:nvPr/>
        </p:nvSpPr>
        <p:spPr>
          <a:xfrm>
            <a:off x="1188720" y="3172968"/>
            <a:ext cx="8001000" cy="100584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2300">
                <a:solidFill>
                  <a:srgbClr val="153855"/>
                </a:solidFill>
                <a:latin typeface="Montserrat" panose="00000500000000000000" pitchFamily="2" charset="0"/>
              </a:rPr>
              <a:t>An approved artifact can itself be stale or incorrect.</a:t>
            </a:r>
            <a:endParaRPr lang="en-AU" sz="2300">
              <a:solidFill>
                <a:srgbClr val="153855"/>
              </a:solidFill>
              <a:latin typeface="Montserrat" panose="00000500000000000000" pitchFamily="2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7B2491B-6E03-38AC-402B-FF2974957158}"/>
              </a:ext>
            </a:extLst>
          </p:cNvPr>
          <p:cNvSpPr/>
          <p:nvPr/>
        </p:nvSpPr>
        <p:spPr>
          <a:xfrm>
            <a:off x="10241280" y="2331720"/>
            <a:ext cx="8686800" cy="2148840"/>
          </a:xfrm>
          <a:prstGeom prst="roundRect">
            <a:avLst/>
          </a:prstGeom>
          <a:solidFill>
            <a:srgbClr val="F1F6FA"/>
          </a:solidFill>
          <a:ln w="15875">
            <a:solidFill>
              <a:srgbClr val="0A4D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E384F6-28AE-0737-A2CC-A3EA015B5F47}"/>
              </a:ext>
            </a:extLst>
          </p:cNvPr>
          <p:cNvSpPr txBox="1"/>
          <p:nvPr/>
        </p:nvSpPr>
        <p:spPr>
          <a:xfrm>
            <a:off x="10561320" y="2532888"/>
            <a:ext cx="8046720" cy="50292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AU" sz="2200" b="1">
                <a:solidFill>
                  <a:srgbClr val="0A4D81"/>
                </a:solidFill>
                <a:latin typeface="Montserrat" panose="00000500000000000000" pitchFamily="2" charset="0"/>
              </a:rPr>
              <a:t>TIME-OF-CHECK / USE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2D93AE-7D2A-B6D5-F46F-5C7AD6C2C33C}"/>
              </a:ext>
            </a:extLst>
          </p:cNvPr>
          <p:cNvSpPr txBox="1"/>
          <p:nvPr/>
        </p:nvSpPr>
        <p:spPr>
          <a:xfrm>
            <a:off x="10561320" y="3172968"/>
            <a:ext cx="8001000" cy="100584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2300">
                <a:solidFill>
                  <a:srgbClr val="153855"/>
                </a:solidFill>
                <a:latin typeface="Montserrat" panose="00000500000000000000" pitchFamily="2" charset="0"/>
              </a:rPr>
              <a:t>A preflight read is not an atomic lock; state may change.</a:t>
            </a:r>
            <a:endParaRPr lang="en-AU" sz="2300">
              <a:solidFill>
                <a:srgbClr val="153855"/>
              </a:solidFill>
              <a:latin typeface="Montserrat" panose="00000500000000000000" pitchFamily="2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2BBF673-024B-F08A-2074-7A13419D7A90}"/>
              </a:ext>
            </a:extLst>
          </p:cNvPr>
          <p:cNvSpPr/>
          <p:nvPr/>
        </p:nvSpPr>
        <p:spPr>
          <a:xfrm>
            <a:off x="868680" y="5120640"/>
            <a:ext cx="8686800" cy="2148840"/>
          </a:xfrm>
          <a:prstGeom prst="roundRect">
            <a:avLst/>
          </a:prstGeom>
          <a:solidFill>
            <a:srgbClr val="F1F6FA"/>
          </a:solidFill>
          <a:ln w="15875">
            <a:solidFill>
              <a:srgbClr val="0A4D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10F45A-6BB1-60DE-2F58-71217AFE9B2F}"/>
              </a:ext>
            </a:extLst>
          </p:cNvPr>
          <p:cNvSpPr txBox="1"/>
          <p:nvPr/>
        </p:nvSpPr>
        <p:spPr>
          <a:xfrm>
            <a:off x="1188720" y="5321808"/>
            <a:ext cx="8046720" cy="50292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AU" sz="2200" b="1">
                <a:solidFill>
                  <a:srgbClr val="0A4D81"/>
                </a:solidFill>
                <a:latin typeface="Montserrat" panose="00000500000000000000" pitchFamily="2" charset="0"/>
              </a:rPr>
              <a:t>UNTRUSTED INPUT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7B6F57-C1DE-919E-95FE-9251734A91FB}"/>
              </a:ext>
            </a:extLst>
          </p:cNvPr>
          <p:cNvSpPr txBox="1"/>
          <p:nvPr/>
        </p:nvSpPr>
        <p:spPr>
          <a:xfrm>
            <a:off x="1188720" y="5961888"/>
            <a:ext cx="8001000" cy="100584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2300">
                <a:solidFill>
                  <a:srgbClr val="153855"/>
                </a:solidFill>
                <a:latin typeface="Montserrat" panose="00000500000000000000" pitchFamily="2" charset="0"/>
              </a:rPr>
              <a:t>Prompt injection and hostile tool output remain possible.</a:t>
            </a:r>
            <a:endParaRPr lang="en-AU" sz="2300">
              <a:solidFill>
                <a:srgbClr val="153855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550D5F5-CA68-1B4F-05F1-69D503BDBAFD}"/>
              </a:ext>
            </a:extLst>
          </p:cNvPr>
          <p:cNvSpPr/>
          <p:nvPr/>
        </p:nvSpPr>
        <p:spPr>
          <a:xfrm>
            <a:off x="10241280" y="5120640"/>
            <a:ext cx="8686800" cy="2148840"/>
          </a:xfrm>
          <a:prstGeom prst="roundRect">
            <a:avLst/>
          </a:prstGeom>
          <a:solidFill>
            <a:srgbClr val="F1F6FA"/>
          </a:solidFill>
          <a:ln w="15875">
            <a:solidFill>
              <a:srgbClr val="0A4D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E02C4D-72F7-6F55-3243-5618CB17B296}"/>
              </a:ext>
            </a:extLst>
          </p:cNvPr>
          <p:cNvSpPr txBox="1"/>
          <p:nvPr/>
        </p:nvSpPr>
        <p:spPr>
          <a:xfrm>
            <a:off x="10561320" y="5321808"/>
            <a:ext cx="8046720" cy="50292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AU" sz="2200" b="1">
                <a:solidFill>
                  <a:srgbClr val="0A4D81"/>
                </a:solidFill>
                <a:latin typeface="Montserrat" panose="00000500000000000000" pitchFamily="2" charset="0"/>
              </a:rPr>
              <a:t>PRODUCTION READINESS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34304C-84DE-0129-E699-BA7FFC2FC264}"/>
              </a:ext>
            </a:extLst>
          </p:cNvPr>
          <p:cNvSpPr txBox="1"/>
          <p:nvPr/>
        </p:nvSpPr>
        <p:spPr>
          <a:xfrm>
            <a:off x="10561320" y="5961888"/>
            <a:ext cx="8001000" cy="100584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2300">
                <a:solidFill>
                  <a:srgbClr val="153855"/>
                </a:solidFill>
                <a:latin typeface="Montserrat" panose="00000500000000000000" pitchFamily="2" charset="0"/>
              </a:rPr>
              <a:t>Fixture approval, RBAC, durability, and live adapters remain unproven.</a:t>
            </a:r>
            <a:endParaRPr lang="en-AU" sz="2300">
              <a:solidFill>
                <a:srgbClr val="153855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688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0AE037-43A2-31CA-B590-63DC28EE5C6C}"/>
              </a:ext>
            </a:extLst>
          </p:cNvPr>
          <p:cNvSpPr txBox="1"/>
          <p:nvPr/>
        </p:nvSpPr>
        <p:spPr>
          <a:xfrm>
            <a:off x="685800" y="438912"/>
            <a:ext cx="18470880" cy="82296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3800" b="1">
                <a:solidFill>
                  <a:srgbClr val="0A4D81"/>
                </a:solidFill>
                <a:latin typeface="Montserrat" panose="00000500000000000000" pitchFamily="2" charset="0"/>
              </a:rPr>
              <a:t>BEFORE AN AGENT MAY WRITE</a:t>
            </a:r>
            <a:endParaRPr lang="en-AU" sz="3800" b="1">
              <a:solidFill>
                <a:srgbClr val="0A4D81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3A4DAE-0E92-C754-2FDF-185D6E8BCE28}"/>
              </a:ext>
            </a:extLst>
          </p:cNvPr>
          <p:cNvSpPr/>
          <p:nvPr/>
        </p:nvSpPr>
        <p:spPr>
          <a:xfrm>
            <a:off x="749808" y="1353312"/>
            <a:ext cx="2286000" cy="50292"/>
          </a:xfrm>
          <a:prstGeom prst="rect">
            <a:avLst/>
          </a:prstGeom>
          <a:solidFill>
            <a:srgbClr val="3FAC92"/>
          </a:solidFill>
          <a:ln w="15875">
            <a:solidFill>
              <a:srgbClr val="3FAC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94E12D-6FC0-DF41-2D51-94EFBAFE5CB0}"/>
              </a:ext>
            </a:extLst>
          </p:cNvPr>
          <p:cNvSpPr txBox="1"/>
          <p:nvPr/>
        </p:nvSpPr>
        <p:spPr>
          <a:xfrm>
            <a:off x="731520" y="1481328"/>
            <a:ext cx="18470880" cy="54864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2300" b="1">
                <a:solidFill>
                  <a:srgbClr val="3FAC92"/>
                </a:solidFill>
                <a:latin typeface="Montserrat" panose="00000500000000000000" pitchFamily="2" charset="0"/>
              </a:rPr>
              <a:t>Five questions for the platform team</a:t>
            </a:r>
            <a:endParaRPr lang="en-AU" sz="2300" b="1">
              <a:solidFill>
                <a:srgbClr val="3FAC92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795A8E-D93F-2BE4-5092-6F2644C895CB}"/>
              </a:ext>
            </a:extLst>
          </p:cNvPr>
          <p:cNvSpPr txBox="1"/>
          <p:nvPr/>
        </p:nvSpPr>
        <p:spPr>
          <a:xfrm>
            <a:off x="17693639" y="10561320"/>
            <a:ext cx="1828800" cy="384048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pPr algn="ctr"/>
            <a:r>
              <a:rPr lang="en-AU" sz="1700" b="1">
                <a:solidFill>
                  <a:srgbClr val="0A4D81"/>
                </a:solidFill>
                <a:latin typeface="Montserrat" panose="00000500000000000000" pitchFamily="2" charset="0"/>
              </a:rPr>
              <a:t>STACKQL&gt;&gt;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3F4979-290A-550F-00A9-14B6C61418F0}"/>
              </a:ext>
            </a:extLst>
          </p:cNvPr>
          <p:cNvSpPr/>
          <p:nvPr/>
        </p:nvSpPr>
        <p:spPr>
          <a:xfrm>
            <a:off x="914400" y="2414016"/>
            <a:ext cx="50292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FAC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CE2BFE-A487-EBAB-5967-2D67B0AAE381}"/>
              </a:ext>
            </a:extLst>
          </p:cNvPr>
          <p:cNvSpPr txBox="1"/>
          <p:nvPr/>
        </p:nvSpPr>
        <p:spPr>
          <a:xfrm>
            <a:off x="1737360" y="2286000"/>
            <a:ext cx="17190720" cy="82296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2600">
                <a:solidFill>
                  <a:srgbClr val="0A4D81"/>
                </a:solidFill>
                <a:latin typeface="Montserrat" panose="00000500000000000000" pitchFamily="2" charset="0"/>
              </a:rPr>
              <a:t>Can it show fresh evidence and an authoritative desired value?</a:t>
            </a:r>
            <a:endParaRPr lang="en-AU" sz="2600">
              <a:solidFill>
                <a:srgbClr val="0A4D8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33F2E42-1B87-B564-C4E0-5FD8415F9295}"/>
              </a:ext>
            </a:extLst>
          </p:cNvPr>
          <p:cNvSpPr/>
          <p:nvPr/>
        </p:nvSpPr>
        <p:spPr>
          <a:xfrm>
            <a:off x="914400" y="3831336"/>
            <a:ext cx="50292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FAC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4FC926-BA65-F7AA-03A0-DC7B9616DEBD}"/>
              </a:ext>
            </a:extLst>
          </p:cNvPr>
          <p:cNvSpPr txBox="1"/>
          <p:nvPr/>
        </p:nvSpPr>
        <p:spPr>
          <a:xfrm>
            <a:off x="1737360" y="3703320"/>
            <a:ext cx="17190720" cy="82296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2600">
                <a:solidFill>
                  <a:srgbClr val="0A4D81"/>
                </a:solidFill>
                <a:latin typeface="Montserrat" panose="00000500000000000000" pitchFamily="2" charset="0"/>
              </a:rPr>
              <a:t>Is the operation narrower than a generic patch or SQL tool?</a:t>
            </a:r>
            <a:endParaRPr lang="en-AU" sz="2600">
              <a:solidFill>
                <a:srgbClr val="0A4D81"/>
              </a:solidFill>
              <a:latin typeface="Montserrat" panose="00000500000000000000" pitchFamily="2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A9E82E8-4A67-E6D6-62D8-0B22AFFF13D5}"/>
              </a:ext>
            </a:extLst>
          </p:cNvPr>
          <p:cNvSpPr/>
          <p:nvPr/>
        </p:nvSpPr>
        <p:spPr>
          <a:xfrm>
            <a:off x="914400" y="5248656"/>
            <a:ext cx="50292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FAC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9CF653-AB46-9D9F-B905-F21D3CDF2AFE}"/>
              </a:ext>
            </a:extLst>
          </p:cNvPr>
          <p:cNvSpPr txBox="1"/>
          <p:nvPr/>
        </p:nvSpPr>
        <p:spPr>
          <a:xfrm>
            <a:off x="1737360" y="5120640"/>
            <a:ext cx="17190720" cy="82296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2600" b="1">
                <a:solidFill>
                  <a:srgbClr val="0A4D81"/>
                </a:solidFill>
                <a:latin typeface="Montserrat" panose="00000500000000000000" pitchFamily="2" charset="0"/>
              </a:rPr>
              <a:t>Can the read identity mutate? (It must not.)</a:t>
            </a:r>
            <a:endParaRPr lang="en-AU" sz="2600" b="1">
              <a:solidFill>
                <a:srgbClr val="0A4D81"/>
              </a:solidFill>
              <a:latin typeface="Montserrat" panose="00000500000000000000" pitchFamily="2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8BBE07C-2B2B-2CAC-C8D1-7202D965805E}"/>
              </a:ext>
            </a:extLst>
          </p:cNvPr>
          <p:cNvSpPr/>
          <p:nvPr/>
        </p:nvSpPr>
        <p:spPr>
          <a:xfrm>
            <a:off x="914400" y="6665976"/>
            <a:ext cx="50292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FAC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C84D03-3BCC-CB6F-361B-E35726820878}"/>
              </a:ext>
            </a:extLst>
          </p:cNvPr>
          <p:cNvSpPr txBox="1"/>
          <p:nvPr/>
        </p:nvSpPr>
        <p:spPr>
          <a:xfrm>
            <a:off x="1737360" y="6537960"/>
            <a:ext cx="17190720" cy="82296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2600">
                <a:solidFill>
                  <a:srgbClr val="0A4D81"/>
                </a:solidFill>
                <a:latin typeface="Montserrat" panose="00000500000000000000" pitchFamily="2" charset="0"/>
              </a:rPr>
              <a:t>Is approval authenticated and bound to the exact plan and expiry?</a:t>
            </a:r>
            <a:endParaRPr lang="en-AU" sz="2600">
              <a:solidFill>
                <a:srgbClr val="0A4D81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BB26848-48C4-B893-C276-0D2CD9CB2AD8}"/>
              </a:ext>
            </a:extLst>
          </p:cNvPr>
          <p:cNvSpPr/>
          <p:nvPr/>
        </p:nvSpPr>
        <p:spPr>
          <a:xfrm>
            <a:off x="914400" y="8083296"/>
            <a:ext cx="502920" cy="50291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FAC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B2AF60-CD9C-DCBD-DCD7-3B5B93D8E457}"/>
              </a:ext>
            </a:extLst>
          </p:cNvPr>
          <p:cNvSpPr txBox="1"/>
          <p:nvPr/>
        </p:nvSpPr>
        <p:spPr>
          <a:xfrm>
            <a:off x="1737360" y="7955280"/>
            <a:ext cx="17190720" cy="82296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vert="horz" wrap="square" lIns="76200" tIns="76200" rIns="76200" bIns="76200" rtlCol="0" anchor="ctr">
            <a:noAutofit/>
          </a:bodyPr>
          <a:lstStyle/>
          <a:p>
            <a:r>
              <a:rPr lang="en-US" sz="2600">
                <a:solidFill>
                  <a:srgbClr val="0A4D81"/>
                </a:solidFill>
                <a:latin typeface="Montserrat" panose="00000500000000000000" pitchFamily="2" charset="0"/>
              </a:rPr>
              <a:t>Is the result verified without a blind retry?</a:t>
            </a:r>
            <a:endParaRPr lang="en-AU" sz="2600">
              <a:solidFill>
                <a:srgbClr val="0A4D8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5280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"/>
          <p:cNvSpPr/>
          <p:nvPr/>
        </p:nvSpPr>
        <p:spPr>
          <a:xfrm>
            <a:off x="3482275" y="6839566"/>
            <a:ext cx="3013200" cy="665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 txBox="1"/>
          <p:nvPr/>
        </p:nvSpPr>
        <p:spPr>
          <a:xfrm>
            <a:off x="3482275" y="6941566"/>
            <a:ext cx="3013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COMPLIANCE</a:t>
            </a:r>
            <a:endParaRPr sz="2400"/>
          </a:p>
        </p:txBody>
      </p:sp>
      <p:sp>
        <p:nvSpPr>
          <p:cNvPr id="229" name="Google Shape;229;p19"/>
          <p:cNvSpPr/>
          <p:nvPr/>
        </p:nvSpPr>
        <p:spPr>
          <a:xfrm>
            <a:off x="1210700" y="6839566"/>
            <a:ext cx="2089500" cy="665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1210750" y="6941566"/>
            <a:ext cx="208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CLOUD</a:t>
            </a:r>
            <a:endParaRPr sz="2400"/>
          </a:p>
        </p:txBody>
      </p:sp>
      <p:sp>
        <p:nvSpPr>
          <p:cNvPr id="231" name="Google Shape;231;p19"/>
          <p:cNvSpPr/>
          <p:nvPr/>
        </p:nvSpPr>
        <p:spPr>
          <a:xfrm>
            <a:off x="4736300" y="7738266"/>
            <a:ext cx="3107100" cy="665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 txBox="1"/>
          <p:nvPr/>
        </p:nvSpPr>
        <p:spPr>
          <a:xfrm>
            <a:off x="4736300" y="7840266"/>
            <a:ext cx="3107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ASSURANCE</a:t>
            </a:r>
            <a:endParaRPr sz="2400"/>
          </a:p>
        </p:txBody>
      </p:sp>
      <p:sp>
        <p:nvSpPr>
          <p:cNvPr id="233" name="Google Shape;233;p19"/>
          <p:cNvSpPr/>
          <p:nvPr/>
        </p:nvSpPr>
        <p:spPr>
          <a:xfrm>
            <a:off x="1210700" y="7738266"/>
            <a:ext cx="3272400" cy="665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 txBox="1"/>
          <p:nvPr/>
        </p:nvSpPr>
        <p:spPr>
          <a:xfrm>
            <a:off x="1210700" y="7840266"/>
            <a:ext cx="32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AUTOMATION</a:t>
            </a:r>
            <a:endParaRPr sz="2400"/>
          </a:p>
        </p:txBody>
      </p:sp>
      <p:pic>
        <p:nvPicPr>
          <p:cNvPr id="235" name="Google Shape;235;p19" title="STACKQL_LOGO_white.jpg"/>
          <p:cNvPicPr preferRelativeResize="0"/>
          <p:nvPr/>
        </p:nvPicPr>
        <p:blipFill rotWithShape="1">
          <a:blip r:embed="rId3">
            <a:alphaModFix/>
          </a:blip>
          <a:srcRect l="11908" t="29925" r="11270" b="27897"/>
          <a:stretch/>
        </p:blipFill>
        <p:spPr>
          <a:xfrm>
            <a:off x="1215000" y="4271450"/>
            <a:ext cx="11403925" cy="187832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9"/>
          <p:cNvSpPr/>
          <p:nvPr/>
        </p:nvSpPr>
        <p:spPr>
          <a:xfrm>
            <a:off x="6677500" y="6839566"/>
            <a:ext cx="2238900" cy="665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 txBox="1"/>
          <p:nvPr/>
        </p:nvSpPr>
        <p:spPr>
          <a:xfrm>
            <a:off x="6677500" y="6941566"/>
            <a:ext cx="2238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SECURITY</a:t>
            </a:r>
            <a:endParaRPr sz="2400"/>
          </a:p>
        </p:txBody>
      </p:sp>
      <p:sp>
        <p:nvSpPr>
          <p:cNvPr id="238" name="Google Shape;238;p19"/>
          <p:cNvSpPr/>
          <p:nvPr/>
        </p:nvSpPr>
        <p:spPr>
          <a:xfrm>
            <a:off x="8096601" y="7738270"/>
            <a:ext cx="2780400" cy="665700"/>
          </a:xfrm>
          <a:prstGeom prst="rect">
            <a:avLst/>
          </a:prstGeom>
          <a:solidFill>
            <a:srgbClr val="3FAC9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 txBox="1"/>
          <p:nvPr/>
        </p:nvSpPr>
        <p:spPr>
          <a:xfrm>
            <a:off x="8096601" y="7840270"/>
            <a:ext cx="278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sz="2400"/>
          </a:p>
        </p:txBody>
      </p:sp>
      <p:sp>
        <p:nvSpPr>
          <p:cNvPr id="240" name="Google Shape;240;p19"/>
          <p:cNvSpPr txBox="1"/>
          <p:nvPr/>
        </p:nvSpPr>
        <p:spPr>
          <a:xfrm>
            <a:off x="17145000" y="10357475"/>
            <a:ext cx="2085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3FAC92"/>
                </a:solidFill>
                <a:latin typeface="Montserrat"/>
                <a:ea typeface="Montserrat"/>
                <a:cs typeface="Montserrat"/>
                <a:sym typeface="Montserrat"/>
              </a:rPr>
              <a:t>stackql.io</a:t>
            </a:r>
            <a:endParaRPr/>
          </a:p>
        </p:txBody>
      </p:sp>
      <p:sp>
        <p:nvSpPr>
          <p:cNvPr id="241" name="Google Shape;241;p19"/>
          <p:cNvSpPr/>
          <p:nvPr/>
        </p:nvSpPr>
        <p:spPr>
          <a:xfrm>
            <a:off x="9098425" y="6839566"/>
            <a:ext cx="2089500" cy="665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 txBox="1"/>
          <p:nvPr/>
        </p:nvSpPr>
        <p:spPr>
          <a:xfrm>
            <a:off x="9098475" y="6941566"/>
            <a:ext cx="208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sz="2400"/>
          </a:p>
        </p:txBody>
      </p:sp>
      <p:pic>
        <p:nvPicPr>
          <p:cNvPr id="243" name="Google Shape;24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94525" y="4183050"/>
            <a:ext cx="3966650" cy="396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9"/>
          <p:cNvSpPr txBox="1"/>
          <p:nvPr/>
        </p:nvSpPr>
        <p:spPr>
          <a:xfrm>
            <a:off x="1214993" y="10372925"/>
            <a:ext cx="1707900" cy="461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  <p:pic>
        <p:nvPicPr>
          <p:cNvPr id="245" name="Google Shape;245;p19" title="aaif_memberbadge_silve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90125" y="6715825"/>
            <a:ext cx="1878323" cy="1878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1359</Words>
  <Application>Microsoft Office PowerPoint</Application>
  <PresentationFormat>Custom</PresentationFormat>
  <Paragraphs>189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Courier New</vt:lpstr>
      <vt:lpstr>Arial</vt:lpstr>
      <vt:lpstr>Montserrat</vt:lpstr>
      <vt:lpstr>Calibri</vt:lpstr>
      <vt:lpstr>Montserrat Medium</vt:lpstr>
      <vt:lpstr>Theme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native platform engineering: building the platform when agents are the primary consumer</dc:title>
  <dc:subject>Cloud Native AI Summit Melbourne - 20-minute talk plus Q&amp;A</dc:subject>
  <cp:lastModifiedBy>Jeffrey Aven</cp:lastModifiedBy>
  <cp:revision>2</cp:revision>
  <dcterms:modified xsi:type="dcterms:W3CDTF">2026-10-25T18:52:46Z</dcterms:modified>
</cp:coreProperties>
</file>
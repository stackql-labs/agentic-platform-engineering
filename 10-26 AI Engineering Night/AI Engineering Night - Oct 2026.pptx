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23"/>
  </p:notesMasterIdLst>
  <p:sldIdLst>
    <p:sldId id="256" r:id="rId2"/>
    <p:sldId id="275" r:id="rId4"/>
    <p:sldId id="279" r:id="rId8"/>
    <p:sldId id="288" r:id="rId14"/>
    <p:sldId id="289" r:id="rId15"/>
    <p:sldId id="290" r:id="rId16"/>
    <p:sldId id="277" r:id="rId20"/>
    <p:sldId id="294" r:id="rId34"/>
    <p:sldId id="295" r:id="rId35"/>
    <p:sldId id="271" r:id="rId21"/>
    <p:sldId id="272" r:id="rId22"/>
  </p:sldIdLst>
  <p:sldSz cx="20116800" cy="11315700"/>
  <p:notesSz cx="20116800" cy="11315700"/>
  <p:embeddedFontLst>
    <p:embeddedFont>
      <p:font typeface="Montserrat" panose="00000500000000000000" pitchFamily="2" charset="0"/>
      <p:regular r:id="rId24"/>
      <p:bold r:id="rId25"/>
      <p:italic r:id="rId26"/>
      <p:boldItalic r:id="rId27"/>
    </p:embeddedFont>
    <p:embeddedFont>
      <p:font typeface="Montserrat Medium" panose="00000600000000000000" pitchFamily="2" charset="0"/>
      <p:regular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BE8CD05-E170-458A-A727-CE0F960871F3}">
  <a:tblStyle styleId="{1BE8CD05-E170-458A-A727-CE0F960871F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6022" autoAdjust="0"/>
  </p:normalViewPr>
  <p:slideViewPr>
    <p:cSldViewPr snapToGrid="0">
      <p:cViewPr varScale="1">
        <p:scale>
          <a:sx n="51" d="100"/>
          <a:sy n="51" d="100"/>
        </p:scale>
        <p:origin x="1626" y="10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26" Type="http://schemas.openxmlformats.org/officeDocument/2006/relationships/font" Target="fonts/font3.fntdata"/><Relationship Id="rId21" Type="http://schemas.openxmlformats.org/officeDocument/2006/relationships/slide" Target="slides/slide20.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24" Type="http://schemas.openxmlformats.org/officeDocument/2006/relationships/font" Target="fonts/font1.fntdata"/><Relationship Id="rId32" Type="http://schemas.openxmlformats.org/officeDocument/2006/relationships/theme" Target="theme/theme1.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1" Type="http://schemas.openxmlformats.org/officeDocument/2006/relationships/viewProps" Target="viewProps.xml"/><Relationship Id="rId4" Type="http://schemas.openxmlformats.org/officeDocument/2006/relationships/slide" Target="slides/slide3.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7.xml"/>  <Relationship Id="rId34" Type="http://schemas.openxmlformats.org/officeDocument/2006/relationships/slide" Target="slides/slide22.xml"/>
  <Relationship Id="rId35" Type="http://schemas.openxmlformats.org/officeDocument/2006/relationships/slide" Target="slides/slide2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353450" y="848675"/>
            <a:ext cx="13411850" cy="42433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2011675" y="5374950"/>
            <a:ext cx="16093425" cy="509205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g3da14ecaa6d_0_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 name="Google Shape;19;g3da14ecaa6d_0_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g3e8033a31ea_0_92: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Every one of the 2015 assumptions inverts under agents: agents and humans both author changes, at machine speed, many writers at once, and drift is the default state.</a:t>
            </a:r>
            <a:endParaRPr/>
          </a:p>
          <a:p>
            <a:pPr marL="0" lvl="0" indent="0" algn="l" rtl="0">
              <a:spcBef>
                <a:spcPts val="0"/>
              </a:spcBef>
              <a:spcAft>
                <a:spcPts val="0"/>
              </a:spcAft>
              <a:buNone/>
            </a:pPr>
            <a:r>
              <a:rPr lang="en-US"/>
              <a:t>The thing that made plan-and-apply safe was a human pause between the plan and the apply. Give an agent write permission and that pause is gone.</a:t>
            </a:r>
            <a:endParaRPr/>
          </a:p>
        </p:txBody>
      </p:sp>
      <p:sp>
        <p:nvSpPr>
          <p:cNvPr id="51" name="Google Shape;51;g3e8033a31ea_0_92: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e8033a31ea_0_173: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review cycle was doing the safety work: a human looked at the plan, saw something off, and stopped the apply.</a:t>
            </a:r>
            <a:endParaRPr/>
          </a:p>
          <a:p>
            <a:pPr marL="0" lvl="0" indent="0" algn="l" rtl="0">
              <a:spcBef>
                <a:spcPts val="0"/>
              </a:spcBef>
              <a:spcAft>
                <a:spcPts val="0"/>
              </a:spcAft>
              <a:buNone/>
            </a:pPr>
            <a:r>
              <a:rPr lang="en-US"/>
              <a:t>Agents do not stop. They proceed, and they retry.</a:t>
            </a:r>
            <a:endParaRPr/>
          </a:p>
          <a:p>
            <a:pPr marL="0" lvl="0" indent="0" algn="l" rtl="0">
              <a:spcBef>
                <a:spcPts val="0"/>
              </a:spcBef>
              <a:spcAft>
                <a:spcPts val="0"/>
              </a:spcAft>
              <a:buNone/>
            </a:pPr>
            <a:r>
              <a:rPr lang="en-US"/>
              <a:t>So the judgement has to move out of the meeting and into the system: policy and assertion, not inspection. That is the rest of this talk.</a:t>
            </a:r>
            <a:endParaRPr/>
          </a:p>
        </p:txBody>
      </p:sp>
      <p:sp>
        <p:nvSpPr>
          <p:cNvPr id="116" name="Google Shape;116;g3e8033a31ea_0_173: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a:extLst>
            <a:ext uri="{FF2B5EF4-FFF2-40B4-BE49-F238E27FC236}">
              <a16:creationId xmlns:a16="http://schemas.microsoft.com/office/drawing/2014/main" id="{AB92FE52-D85A-5DD5-0AA0-DF96313CDAA6}"/>
            </a:ext>
          </a:extLst>
        </p:cNvPr>
        <p:cNvGrpSpPr/>
        <p:nvPr/>
      </p:nvGrpSpPr>
      <p:grpSpPr>
        <a:xfrm>
          <a:off x="0" y="0"/>
          <a:ext cx="0" cy="0"/>
          <a:chOff x="0" y="0"/>
          <a:chExt cx="0" cy="0"/>
        </a:xfrm>
      </p:grpSpPr>
      <p:sp>
        <p:nvSpPr>
          <p:cNvPr id="18" name="Google Shape;18;g3da14ecaa6d_0_0:notes">
            <a:extLst>
              <a:ext uri="{FF2B5EF4-FFF2-40B4-BE49-F238E27FC236}">
                <a16:creationId xmlns:a16="http://schemas.microsoft.com/office/drawing/2014/main" id="{6B97970F-D834-2E14-B167-8B1BBC096C68}"/>
              </a:ext>
            </a:extLst>
          </p:cNvPr>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 name="Google Shape;19;g3da14ecaa6d_0_0:notes">
            <a:extLst>
              <a:ext uri="{FF2B5EF4-FFF2-40B4-BE49-F238E27FC236}">
                <a16:creationId xmlns:a16="http://schemas.microsoft.com/office/drawing/2014/main" id="{1789DC93-9D8D-2E06-8B65-4E5BEA197A5E}"/>
              </a:ext>
            </a:extLst>
          </p:cNvPr>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Five guardrails. None of them is new on its own; together they put the judgement back into the system.</a:t>
            </a:r>
          </a:p>
          <a:p>
            <a:pPr marL="0" lvl="0" indent="0" algn="l" rtl="0">
              <a:spcBef>
                <a:spcPts val="0"/>
              </a:spcBef>
              <a:spcAft>
                <a:spcPts val="0"/>
              </a:spcAft>
              <a:buNone/>
            </a:pPr>
            <a:r>
              <a:rPr lang="en-US" dirty="0"/>
              <a:t>The first is the title of the talk, and the cheapest to adopt.</a:t>
            </a:r>
          </a:p>
        </p:txBody>
      </p:sp>
    </p:spTree>
    <p:extLst>
      <p:ext uri="{BB962C8B-B14F-4D97-AF65-F5344CB8AC3E}">
        <p14:creationId xmlns:p14="http://schemas.microsoft.com/office/powerpoint/2010/main" val="3940193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e16f8d8aa5_0_47: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Read the live state on every decision, not the state file, not a cache from ten minutes ago.</a:t>
            </a:r>
            <a:endParaRPr/>
          </a:p>
          <a:p>
            <a:pPr marL="0" lvl="0" indent="0" algn="l" rtl="0">
              <a:spcBef>
                <a:spcPts val="0"/>
              </a:spcBef>
              <a:spcAft>
                <a:spcPts val="0"/>
              </a:spcAft>
              <a:buNone/>
            </a:pPr>
            <a:r>
              <a:rPr lang="en-US"/>
              <a:t>Read the declaration too, and its history: drift is a difference between what is live and what was declared, and between when each last changed.</a:t>
            </a:r>
            <a:endParaRPr/>
          </a:p>
          <a:p>
            <a:pPr marL="0" lvl="0" indent="0" algn="l" rtl="0">
              <a:spcBef>
                <a:spcPts val="0"/>
              </a:spcBef>
              <a:spcAft>
                <a:spcPts val="0"/>
              </a:spcAft>
              <a:buNone/>
            </a:pPr>
            <a:r>
              <a:rPr lang="en-US"/>
              <a:t>The cheapest pattern to adopt and the one that prevents the most damage.</a:t>
            </a:r>
            <a:endParaRPr/>
          </a:p>
        </p:txBody>
      </p:sp>
      <p:sp>
        <p:nvSpPr>
          <p:cNvPr id="224" name="Google Shape;224;g3e16f8d8aa5_0_47: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e16f8d8aa5_0_6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Declare what should be, not how to get there. Retries, re-runs and partial failures all converge on the same state.</a:t>
            </a:r>
            <a:endParaRPr/>
          </a:p>
          <a:p>
            <a:pPr marL="0" lvl="0" indent="0" algn="l" rtl="0">
              <a:spcBef>
                <a:spcPts val="0"/>
              </a:spcBef>
              <a:spcAft>
                <a:spcPts val="0"/>
              </a:spcAft>
              <a:buNone/>
            </a:pPr>
            <a:r>
              <a:rPr lang="en-US"/>
              <a:t>In the demo the agent's one permitted write is the same assertion the build runs. A retry is safe by construction.</a:t>
            </a:r>
            <a:endParaRPr/>
          </a:p>
          <a:p>
            <a:pPr marL="0" lvl="0" indent="0" algn="l" rtl="0">
              <a:spcBef>
                <a:spcPts val="0"/>
              </a:spcBef>
              <a:spcAft>
                <a:spcPts val="0"/>
              </a:spcAft>
              <a:buNone/>
            </a:pPr>
            <a:r>
              <a:rPr lang="en-US"/>
              <a:t>The limit: it converges to the declaration. If the declaration is wrong, it converges to the wrong thing faster.</a:t>
            </a:r>
            <a:endParaRPr/>
          </a:p>
        </p:txBody>
      </p:sp>
      <p:sp>
        <p:nvSpPr>
          <p:cNvPr id="236" name="Google Shape;236;g3e16f8d8aa5_0_6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eb099a68aa_0_11: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US"/>
              <a:t>Human review was the safety loop. Agents bypass it by design, so something has to replace it.</a:t>
            </a:r>
            <a:endParaRPr/>
          </a:p>
          <a:p>
            <a:pPr marL="457200" lvl="0" indent="-298450" algn="l" rtl="0">
              <a:lnSpc>
                <a:spcPct val="115000"/>
              </a:lnSpc>
              <a:spcBef>
                <a:spcPts val="1200"/>
              </a:spcBef>
              <a:spcAft>
                <a:spcPts val="0"/>
              </a:spcAft>
              <a:buSzPts val="1100"/>
              <a:buChar char="●"/>
            </a:pPr>
            <a:r>
              <a:rPr lang="en-US"/>
              <a:t>Policy gates are that replacement: rules evaluated in code against the proposed change, before it runs. Deterministic, testable, and they cannot be talked out of a decision.</a:t>
            </a:r>
            <a:endParaRPr/>
          </a:p>
          <a:p>
            <a:pPr marL="457200" lvl="0" indent="-298450" algn="l" rtl="0">
              <a:lnSpc>
                <a:spcPct val="115000"/>
              </a:lnSpc>
              <a:spcBef>
                <a:spcPts val="1200"/>
              </a:spcBef>
              <a:spcAft>
                <a:spcPts val="0"/>
              </a:spcAft>
              <a:buSzPts val="1100"/>
              <a:buChar char="●"/>
            </a:pPr>
            <a:r>
              <a:rPr lang="en-US"/>
              <a:t>In the demo there are three gates in series, and none of them is the model's: a policy function, the server mode, and a human bound to the exact statement.</a:t>
            </a:r>
            <a:endParaRPr/>
          </a:p>
          <a:p>
            <a:pPr marL="457200" lvl="0" indent="-298450" algn="l" rtl="0">
              <a:lnSpc>
                <a:spcPct val="115000"/>
              </a:lnSpc>
              <a:spcBef>
                <a:spcPts val="1200"/>
              </a:spcBef>
              <a:spcAft>
                <a:spcPts val="0"/>
              </a:spcAft>
              <a:buSzPts val="1100"/>
              <a:buChar char="●"/>
            </a:pPr>
            <a:r>
              <a:rPr lang="en-US"/>
              <a:t>The limit: a policy is only as good as its rules. A rule that permits a bad write permits it every time.</a:t>
            </a:r>
            <a:endParaRPr/>
          </a:p>
        </p:txBody>
      </p:sp>
      <p:sp>
        <p:nvSpPr>
          <p:cNvPr id="284" name="Google Shape;284;g3eb099a68aa_0_11: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e16f8d8aa5_0_0: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3e16f8d8aa5_0_0: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US"/>
              <a:t>One Cloudflare zone, one rate limit rule declared in a stackql-deploy manifest: 100 requests per 10 seconds. At 3am someone tightened it to 5 in the dashboard and left a note.</a:t>
            </a:r>
            <a:endParaRPr/>
          </a:p>
          <a:p>
            <a:pPr marL="457200" lvl="0" indent="-298450" algn="l" rtl="0">
              <a:lnSpc>
                <a:spcPct val="115000"/>
              </a:lnSpc>
              <a:spcBef>
                <a:spcPts val="1200"/>
              </a:spcBef>
              <a:spcAft>
                <a:spcPts val="0"/>
              </a:spcAft>
              <a:buSzPts val="1100"/>
              <a:buChar char="●"/>
            </a:pPr>
            <a:r>
              <a:rPr lang="en-US"/>
              <a:t>Beats: the zone in SQL (live rule, declaration history on GitHub, out_of_band in one query); the agent in read_only (reads, diagnoses, proposes one write, refused, stops); the same proposal through the gate in safe mode (policy, approval, applied); a write that is not the declaration (declined by policy, nobody asked); the audit log.</a:t>
            </a:r>
            <a:endParaRPr/>
          </a:p>
          <a:p>
            <a:pPr marL="457200" lvl="0" indent="-298450" algn="l" rtl="0">
              <a:lnSpc>
                <a:spcPct val="115000"/>
              </a:lnSpc>
              <a:spcBef>
                <a:spcPts val="1200"/>
              </a:spcBef>
              <a:spcAft>
                <a:spcPts val="0"/>
              </a:spcAft>
              <a:buSzPts val="1100"/>
              <a:buChar char="●"/>
            </a:pPr>
            <a:r>
              <a:rPr lang="en-US"/>
              <a:t>Say which mode the server is in before each run.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da14ecaa6d_0_48: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da14ecaa6d_0_48: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eb099a68aa_0_11: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US"/>
              <a:t>Two bounds on the damage a wrong decision can do, whoever made it.</a:t>
            </a:r>
            <a:endParaRPr/>
          </a:p>
          <a:p>
            <a:pPr marL="457200" lvl="0" indent="-298450" algn="l" rtl="0">
              <a:lnSpc>
                <a:spcPct val="115000"/>
              </a:lnSpc>
              <a:spcBef>
                <a:spcPts val="1200"/>
              </a:spcBef>
              <a:spcAft>
                <a:spcPts val="0"/>
              </a:spcAft>
              <a:buSzPts val="1100"/>
              <a:buChar char="●"/>
            </a:pPr>
            <a:r>
              <a:rPr lang="en-US"/>
              <a:t>The credential: scoped to one zone, WAF edit only, held by the MCP server process. The model never sees it.</a:t>
            </a:r>
            <a:endParaRPr/>
          </a:p>
          <a:p>
            <a:pPr marL="457200" lvl="0" indent="-298450" algn="l" rtl="0">
              <a:lnSpc>
                <a:spcPct val="115000"/>
              </a:lnSpc>
              <a:spcBef>
                <a:spcPts val="1200"/>
              </a:spcBef>
              <a:spcAft>
                <a:spcPts val="0"/>
              </a:spcAft>
              <a:buSzPts val="1100"/>
              <a:buChar char="●"/>
            </a:pPr>
            <a:r>
              <a:rPr lang="en-US"/>
              <a:t>The surface: one REPLACE on one resource, rendered by the platform from the declaration and given to the model verbatim. Anything else is declined before it leaves the process.</a:t>
            </a:r>
            <a:endParaRPr/>
          </a:p>
          <a:p>
            <a:pPr marL="457200" lvl="0" indent="-298450" algn="l" rtl="0">
              <a:lnSpc>
                <a:spcPct val="115000"/>
              </a:lnSpc>
              <a:spcBef>
                <a:spcPts val="1200"/>
              </a:spcBef>
              <a:spcAft>
                <a:spcPts val="0"/>
              </a:spcAft>
              <a:buSzPts val="1100"/>
              <a:buChar char="●"/>
            </a:pPr>
            <a:r>
              <a:rPr lang="en-US"/>
              <a:t>The limit: a broad token makes every other guardrail advisory.</a:t>
            </a:r>
            <a:endParaRPr/>
          </a:p>
        </p:txBody>
      </p:sp>
      <p:sp>
        <p:nvSpPr>
          <p:cNvPr id="284" name="Google Shape;284;g3eb099a68aa_0_11: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eb099a68aa_0_11:notes"/>
          <p:cNvSpPr txBox="1">
            <a:spLocks noGrp="1"/>
          </p:cNvSpPr>
          <p:nvPr>
            <p:ph type="body" idx="1"/>
          </p:nvPr>
        </p:nvSpPr>
        <p:spPr>
          <a:xfrm>
            <a:off x="2011675" y="5374950"/>
            <a:ext cx="16093500" cy="50922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1200"/>
              </a:spcBef>
              <a:spcAft>
                <a:spcPts val="0"/>
              </a:spcAft>
              <a:buSzPts val="1100"/>
              <a:buChar char="●"/>
            </a:pPr>
            <a:r>
              <a:rPr lang="en-US"/>
              <a:t>Blocked and failed changes need a defined next step, or the agent invents one.</a:t>
            </a:r>
            <a:endParaRPr/>
          </a:p>
          <a:p>
            <a:pPr marL="457200" lvl="0" indent="-298450" algn="l" rtl="0">
              <a:lnSpc>
                <a:spcPct val="115000"/>
              </a:lnSpc>
              <a:spcBef>
                <a:spcPts val="1200"/>
              </a:spcBef>
              <a:spcAft>
                <a:spcPts val="0"/>
              </a:spcAft>
              <a:buSzPts val="1100"/>
              <a:buChar char="●"/>
            </a:pPr>
            <a:r>
              <a:rPr lang="en-US"/>
              <a:t>Blocked: report the exact statement, stop. Two ways back: a human approves that statement through the gate, or the declaration is re-asserted. The demo shows both.</a:t>
            </a:r>
            <a:endParaRPr/>
          </a:p>
          <a:p>
            <a:pPr marL="457200" lvl="0" indent="-298450" algn="l" rtl="0">
              <a:lnSpc>
                <a:spcPct val="115000"/>
              </a:lnSpc>
              <a:spcBef>
                <a:spcPts val="1200"/>
              </a:spcBef>
              <a:spcAft>
                <a:spcPts val="0"/>
              </a:spcAft>
              <a:buSzPts val="1100"/>
              <a:buChar char="●"/>
            </a:pPr>
            <a:r>
              <a:rPr lang="en-US"/>
              <a:t>Failed or unknown outcome: re-read, then re-assert. Never a blind retry.</a:t>
            </a:r>
            <a:endParaRPr/>
          </a:p>
          <a:p>
            <a:pPr marL="457200" lvl="0" indent="-298450" algn="l" rtl="0">
              <a:lnSpc>
                <a:spcPct val="115000"/>
              </a:lnSpc>
              <a:spcBef>
                <a:spcPts val="1200"/>
              </a:spcBef>
              <a:spcAft>
                <a:spcPts val="0"/>
              </a:spcAft>
              <a:buSzPts val="1100"/>
              <a:buChar char="●"/>
            </a:pPr>
            <a:r>
              <a:rPr lang="en-US"/>
              <a:t>The limit: an approval at a terminal is not an authenticated, audited approval service.</a:t>
            </a:r>
            <a:endParaRPr/>
          </a:p>
        </p:txBody>
      </p:sp>
      <p:sp>
        <p:nvSpPr>
          <p:cNvPr id="284" name="Google Shape;284;g3eb099a68aa_0_11:notes"/>
          <p:cNvSpPr>
            <a:spLocks noGrp="1" noRot="1" noChangeAspect="1"/>
          </p:cNvSpPr>
          <p:nvPr>
            <p:ph type="sldImg" idx="2"/>
          </p:nvPr>
        </p:nvSpPr>
        <p:spPr>
          <a:xfrm>
            <a:off x="6286500" y="849313"/>
            <a:ext cx="7545388" cy="42433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377666" y="427735"/>
            <a:ext cx="6797992" cy="1710943"/>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377666" y="2459482"/>
            <a:ext cx="6797992"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2"/>
          <p:cNvSpPr txBox="1">
            <a:spLocks noGrp="1"/>
          </p:cNvSpPr>
          <p:nvPr>
            <p:ph type="dt" idx="10"/>
          </p:nvPr>
        </p:nvSpPr>
        <p:spPr>
          <a:xfrm>
            <a:off x="377666" y="9944862"/>
            <a:ext cx="1737264"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2568130" y="9944862"/>
            <a:ext cx="2417063"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38394" y="9944862"/>
            <a:ext cx="1737264" cy="534670"/>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77666" y="427735"/>
            <a:ext cx="6797992" cy="1710943"/>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377666" y="2459482"/>
            <a:ext cx="6797992"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1"/>
          <p:cNvSpPr txBox="1">
            <a:spLocks noGrp="1"/>
          </p:cNvSpPr>
          <p:nvPr>
            <p:ph type="ftr" idx="11"/>
          </p:nvPr>
        </p:nvSpPr>
        <p:spPr>
          <a:xfrm>
            <a:off x="2568130" y="9944862"/>
            <a:ext cx="2417063" cy="534670"/>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9" name="Google Shape;9;p1"/>
          <p:cNvSpPr txBox="1">
            <a:spLocks noGrp="1"/>
          </p:cNvSpPr>
          <p:nvPr>
            <p:ph type="dt" idx="10"/>
          </p:nvPr>
        </p:nvSpPr>
        <p:spPr>
          <a:xfrm>
            <a:off x="377666" y="9944862"/>
            <a:ext cx="1737264" cy="53467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solidFill>
                  <a:srgbClr val="888888"/>
                </a:solidFill>
              </a:defRPr>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0" name="Google Shape;10;p1"/>
          <p:cNvSpPr txBox="1">
            <a:spLocks noGrp="1"/>
          </p:cNvSpPr>
          <p:nvPr>
            <p:ph type="sldNum" idx="12"/>
          </p:nvPr>
        </p:nvSpPr>
        <p:spPr>
          <a:xfrm>
            <a:off x="5438394" y="9944862"/>
            <a:ext cx="1737264" cy="534670"/>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b="0" i="0" u="none" strike="noStrike" cap="none">
                <a:solidFill>
                  <a:srgbClr val="888888"/>
                </a:solidFill>
              </a:defRPr>
            </a:lvl1pPr>
            <a:lvl2pPr marL="0" marR="0" lvl="1" indent="0" algn="r" rtl="0">
              <a:spcBef>
                <a:spcPts val="0"/>
              </a:spcBef>
              <a:buNone/>
              <a:defRPr sz="1800" b="0" i="0" u="none" strike="noStrike" cap="none">
                <a:solidFill>
                  <a:srgbClr val="888888"/>
                </a:solidFill>
              </a:defRPr>
            </a:lvl2pPr>
            <a:lvl3pPr marL="0" marR="0" lvl="2" indent="0" algn="r" rtl="0">
              <a:spcBef>
                <a:spcPts val="0"/>
              </a:spcBef>
              <a:buNone/>
              <a:defRPr sz="1800" b="0" i="0" u="none" strike="noStrike" cap="none">
                <a:solidFill>
                  <a:srgbClr val="888888"/>
                </a:solidFill>
              </a:defRPr>
            </a:lvl3pPr>
            <a:lvl4pPr marL="0" marR="0" lvl="3" indent="0" algn="r" rtl="0">
              <a:spcBef>
                <a:spcPts val="0"/>
              </a:spcBef>
              <a:buNone/>
              <a:defRPr sz="1800" b="0" i="0" u="none" strike="noStrike" cap="none">
                <a:solidFill>
                  <a:srgbClr val="888888"/>
                </a:solidFill>
              </a:defRPr>
            </a:lvl4pPr>
            <a:lvl5pPr marL="0" marR="0" lvl="4" indent="0" algn="r" rtl="0">
              <a:spcBef>
                <a:spcPts val="0"/>
              </a:spcBef>
              <a:buNone/>
              <a:defRPr sz="1800" b="0" i="0" u="none" strike="noStrike" cap="none">
                <a:solidFill>
                  <a:srgbClr val="888888"/>
                </a:solidFill>
              </a:defRPr>
            </a:lvl5pPr>
            <a:lvl6pPr marL="0" marR="0" lvl="5" indent="0" algn="r" rtl="0">
              <a:spcBef>
                <a:spcPts val="0"/>
              </a:spcBef>
              <a:buNone/>
              <a:defRPr sz="1800" b="0" i="0" u="none" strike="noStrike" cap="none">
                <a:solidFill>
                  <a:srgbClr val="888888"/>
                </a:solidFill>
              </a:defRPr>
            </a:lvl6pPr>
            <a:lvl7pPr marL="0" marR="0" lvl="6" indent="0" algn="r" rtl="0">
              <a:spcBef>
                <a:spcPts val="0"/>
              </a:spcBef>
              <a:buNone/>
              <a:defRPr sz="1800" b="0" i="0" u="none" strike="noStrike" cap="none">
                <a:solidFill>
                  <a:srgbClr val="888888"/>
                </a:solidFill>
              </a:defRPr>
            </a:lvl7pPr>
            <a:lvl8pPr marL="0" marR="0" lvl="7" indent="0" algn="r" rtl="0">
              <a:spcBef>
                <a:spcPts val="0"/>
              </a:spcBef>
              <a:buNone/>
              <a:defRPr sz="1800" b="0" i="0" u="none" strike="noStrike" cap="none">
                <a:solidFill>
                  <a:srgbClr val="888888"/>
                </a:solidFill>
              </a:defRPr>
            </a:lvl8pPr>
            <a:lvl9pPr marL="0" marR="0" lvl="8" indent="0" algn="r" rtl="0">
              <a:spcBef>
                <a:spcPts val="0"/>
              </a:spcBef>
              <a:buNone/>
              <a:defRPr sz="1800" b="0" i="0" u="none" strike="noStrike" cap="none">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
        <p:cNvGrpSpPr/>
        <p:nvPr/>
      </p:nvGrpSpPr>
      <p:grpSpPr>
        <a:xfrm>
          <a:off x="0" y="0"/>
          <a:ext cx="0" cy="0"/>
          <a:chOff x="0" y="0"/>
          <a:chExt cx="0" cy="0"/>
        </a:xfrm>
      </p:grpSpPr>
      <p:sp>
        <p:nvSpPr>
          <p:cNvPr id="21" name="Google Shape;21;p3"/>
          <p:cNvSpPr txBox="1"/>
          <p:nvPr/>
        </p:nvSpPr>
        <p:spPr>
          <a:xfrm>
            <a:off x="821079" y="7900000"/>
            <a:ext cx="8553000" cy="614912"/>
          </a:xfrm>
          <a:prstGeom prst="rect">
            <a:avLst/>
          </a:prstGeom>
          <a:noFill/>
          <a:ln>
            <a:noFill/>
          </a:ln>
        </p:spPr>
        <p:txBody>
          <a:bodyPr spcFirstLastPara="1" wrap="square" lIns="0" tIns="0" rIns="0" bIns="0" anchor="t" anchorCtr="0">
            <a:spAutoFit/>
          </a:bodyPr>
          <a:lstStyle/>
          <a:p>
            <a:pPr marL="0" marR="0" lvl="0" indent="0" algn="l" rtl="0">
              <a:lnSpc>
                <a:spcPct val="110700"/>
              </a:lnSpc>
              <a:spcBef>
                <a:spcPts val="0"/>
              </a:spcBef>
              <a:spcAft>
                <a:spcPts val="0"/>
              </a:spcAft>
              <a:buNone/>
            </a:pPr>
            <a:r>
              <a:rPr lang="en-US" sz="3600" b="1" dirty="0">
                <a:solidFill>
                  <a:srgbClr val="3FAC92"/>
                </a:solidFill>
                <a:latin typeface="Montserrat"/>
                <a:ea typeface="Montserrat"/>
                <a:cs typeface="Montserrat"/>
                <a:sym typeface="Montserrat"/>
              </a:rPr>
              <a:t>Presenter: Jeffrey Aven</a:t>
            </a:r>
            <a:endParaRPr sz="3600" dirty="0"/>
          </a:p>
        </p:txBody>
      </p:sp>
      <p:sp>
        <p:nvSpPr>
          <p:cNvPr id="22" name="Google Shape;22;p3"/>
          <p:cNvSpPr/>
          <p:nvPr/>
        </p:nvSpPr>
        <p:spPr>
          <a:xfrm>
            <a:off x="16407775" y="10448700"/>
            <a:ext cx="3444000" cy="450600"/>
          </a:xfrm>
          <a:prstGeom prst="rect">
            <a:avLst/>
          </a:prstGeom>
          <a:noFill/>
          <a:ln>
            <a:noFill/>
          </a:ln>
        </p:spPr>
        <p:txBody>
          <a:bodyPr spcFirstLastPara="1" wrap="square" lIns="0" tIns="0" rIns="0" bIns="0" anchor="ctr" anchorCtr="0">
            <a:noAutofit/>
          </a:bodyPr>
          <a:lstStyle/>
          <a:p>
            <a:pPr marL="0" lvl="0" indent="0" algn="ctr" rtl="0">
              <a:lnSpc>
                <a:spcPct val="110700"/>
              </a:lnSpc>
              <a:spcBef>
                <a:spcPts val="0"/>
              </a:spcBef>
              <a:spcAft>
                <a:spcPts val="0"/>
              </a:spcAft>
              <a:buNone/>
            </a:pPr>
            <a:r>
              <a:rPr lang="en-US" sz="3800" b="1">
                <a:solidFill>
                  <a:schemeClr val="lt1"/>
                </a:solidFill>
                <a:latin typeface="Montserrat"/>
                <a:ea typeface="Montserrat"/>
                <a:cs typeface="Montserrat"/>
                <a:sym typeface="Montserrat"/>
              </a:rPr>
              <a:t>STACKQL&gt;&gt;</a:t>
            </a:r>
            <a:endParaRPr sz="3800">
              <a:solidFill>
                <a:schemeClr val="lt1"/>
              </a:solidFill>
            </a:endParaRPr>
          </a:p>
        </p:txBody>
      </p:sp>
      <p:sp>
        <p:nvSpPr>
          <p:cNvPr id="23" name="Google Shape;23;p3"/>
          <p:cNvSpPr/>
          <p:nvPr/>
        </p:nvSpPr>
        <p:spPr>
          <a:xfrm>
            <a:off x="777513" y="4631653"/>
            <a:ext cx="19074262" cy="450600"/>
          </a:xfrm>
          <a:prstGeom prst="rect">
            <a:avLst/>
          </a:prstGeom>
          <a:noFill/>
          <a:ln>
            <a:noFill/>
          </a:ln>
        </p:spPr>
        <p:txBody>
          <a:bodyPr spcFirstLastPara="1" wrap="square" lIns="0" tIns="0" rIns="0" bIns="0" anchor="ctr" anchorCtr="0">
            <a:noAutofit/>
          </a:bodyPr>
          <a:lstStyle/>
          <a:p>
            <a:pPr lvl="0">
              <a:lnSpc>
                <a:spcPct val="110700"/>
              </a:lnSpc>
            </a:pPr>
            <a:r>
              <a:rPr lang="en-US" sz="7200" b="1" dirty="0">
                <a:solidFill>
                  <a:srgbClr val="FFFFFF"/>
                </a:solidFill>
                <a:latin typeface="Montserrat" panose="00000500000000000000" pitchFamily="2" charset="0"/>
                <a:ea typeface="Montserrat"/>
                <a:cs typeface="Montserrat"/>
                <a:sym typeface="Montserrat"/>
              </a:rPr>
              <a:t>QUERY BEFORE MUTATION
</a:t>
            </a:r>
            <a:r>
              <a:rPr lang="en-US" sz="4400" b="1" i="1" dirty="0">
                <a:solidFill>
                  <a:srgbClr val="FFFFFF"/>
                </a:solidFill>
                <a:latin typeface="Montserrat" panose="00000500000000000000" pitchFamily="2" charset="0"/>
                <a:ea typeface="Montserrat"/>
                <a:cs typeface="Montserrat"/>
                <a:sym typeface="Montserrat"/>
              </a:rPr>
              <a:t>GUARDRAIL PATTERNS FOR AGENTS THAT TOUCH PRODUCTION INFRASTRUCTURE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4" name="Google Shape;54;p6"/>
          <p:cNvSpPr txBox="1"/>
          <p:nvPr/>
        </p:nvSpPr>
        <p:spPr>
          <a:xfrm>
            <a:off x="9347800" y="987025"/>
            <a:ext cx="100932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AI CHANGES </a:t>
            </a:r>
            <a:r>
              <a:rPr lang="en-US" sz="5650" b="1">
                <a:solidFill>
                  <a:srgbClr val="FF0000"/>
                </a:solidFill>
                <a:latin typeface="Montserrat"/>
                <a:ea typeface="Montserrat"/>
                <a:cs typeface="Montserrat"/>
                <a:sym typeface="Montserrat"/>
              </a:rPr>
              <a:t>EVERYTHING</a:t>
            </a:r>
            <a:endParaRPr>
              <a:solidFill>
                <a:srgbClr val="FF0000"/>
              </a:solidFill>
            </a:endParaRPr>
          </a:p>
        </p:txBody>
      </p:sp>
      <p:sp>
        <p:nvSpPr>
          <p:cNvPr id="55" name="Google Shape;55;p6"/>
          <p:cNvSpPr txBox="1"/>
          <p:nvPr/>
        </p:nvSpPr>
        <p:spPr>
          <a:xfrm>
            <a:off x="7125343" y="3191300"/>
            <a:ext cx="114042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Agents </a:t>
            </a:r>
            <a:r>
              <a:rPr lang="en-US" sz="4200" i="1">
                <a:solidFill>
                  <a:srgbClr val="FF0000"/>
                </a:solidFill>
                <a:latin typeface="Montserrat Medium"/>
                <a:ea typeface="Montserrat Medium"/>
                <a:cs typeface="Montserrat Medium"/>
                <a:sym typeface="Montserrat Medium"/>
              </a:rPr>
              <a:t>AND </a:t>
            </a:r>
            <a:r>
              <a:rPr lang="en-US" sz="4200">
                <a:solidFill>
                  <a:srgbClr val="0A4D81"/>
                </a:solidFill>
                <a:latin typeface="Montserrat Medium"/>
                <a:ea typeface="Montserrat Medium"/>
                <a:cs typeface="Montserrat Medium"/>
                <a:sym typeface="Montserrat Medium"/>
              </a:rPr>
              <a:t>humans can author changes.</a:t>
            </a:r>
            <a:endParaRPr sz="4200"/>
          </a:p>
        </p:txBody>
      </p:sp>
      <p:sp>
        <p:nvSpPr>
          <p:cNvPr id="56" name="Google Shape;56;p6"/>
          <p:cNvSpPr txBox="1"/>
          <p:nvPr/>
        </p:nvSpPr>
        <p:spPr>
          <a:xfrm>
            <a:off x="10845343" y="4517838"/>
            <a:ext cx="7684200" cy="646500"/>
          </a:xfrm>
          <a:prstGeom prst="rect">
            <a:avLst/>
          </a:prstGeom>
          <a:noFill/>
          <a:ln>
            <a:noFill/>
          </a:ln>
        </p:spPr>
        <p:txBody>
          <a:bodyPr spcFirstLastPara="1" wrap="square" lIns="0" tIns="0" rIns="0" bIns="0" anchor="t" anchorCtr="0">
            <a:spAutoFit/>
          </a:bodyPr>
          <a:lstStyle/>
          <a:p>
            <a:pPr marL="0" marR="0" lvl="0" indent="0" algn="r"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Changes at machine speed.</a:t>
            </a:r>
            <a:endParaRPr sz="4200"/>
          </a:p>
        </p:txBody>
      </p:sp>
      <p:sp>
        <p:nvSpPr>
          <p:cNvPr id="57" name="Google Shape;57;p6"/>
          <p:cNvSpPr txBox="1"/>
          <p:nvPr/>
        </p:nvSpPr>
        <p:spPr>
          <a:xfrm>
            <a:off x="9176443" y="5844375"/>
            <a:ext cx="9353100" cy="646500"/>
          </a:xfrm>
          <a:prstGeom prst="rect">
            <a:avLst/>
          </a:prstGeom>
          <a:noFill/>
          <a:ln>
            <a:noFill/>
          </a:ln>
        </p:spPr>
        <p:txBody>
          <a:bodyPr spcFirstLastPara="1" wrap="square" lIns="0" tIns="0" rIns="0" bIns="0" anchor="t" anchorCtr="0">
            <a:spAutoFit/>
          </a:bodyPr>
          <a:lstStyle/>
          <a:p>
            <a:pPr marL="0" marR="0" lvl="0" indent="0" algn="r"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Multiple writers, at the same time.</a:t>
            </a:r>
            <a:endParaRPr sz="4200"/>
          </a:p>
        </p:txBody>
      </p:sp>
      <p:sp>
        <p:nvSpPr>
          <p:cNvPr id="58" name="Google Shape;58;p6"/>
          <p:cNvSpPr txBox="1"/>
          <p:nvPr/>
        </p:nvSpPr>
        <p:spPr>
          <a:xfrm>
            <a:off x="11803843" y="6127022"/>
            <a:ext cx="6725700" cy="646500"/>
          </a:xfrm>
          <a:prstGeom prst="rect">
            <a:avLst/>
          </a:prstGeom>
          <a:noFill/>
          <a:ln>
            <a:noFill/>
          </a:ln>
        </p:spPr>
        <p:txBody>
          <a:bodyPr spcFirstLastPara="1" wrap="square" lIns="0" tIns="0" rIns="0" bIns="0" anchor="t" anchorCtr="0">
            <a:spAutoFit/>
          </a:bodyPr>
          <a:lstStyle/>
          <a:p>
            <a:pPr marL="0" lvl="0" indent="0" algn="r" rtl="0">
              <a:lnSpc>
                <a:spcPct val="110920"/>
              </a:lnSpc>
              <a:spcBef>
                <a:spcPts val="7675"/>
              </a:spcBef>
              <a:spcAft>
                <a:spcPts val="0"/>
              </a:spcAft>
              <a:buNone/>
            </a:pPr>
            <a:r>
              <a:rPr lang="en-US" sz="4200" dirty="0">
                <a:solidFill>
                  <a:srgbClr val="0A4D81"/>
                </a:solidFill>
                <a:latin typeface="Montserrat Medium"/>
                <a:ea typeface="Montserrat Medium"/>
                <a:cs typeface="Montserrat Medium"/>
                <a:sym typeface="Montserrat Medium"/>
              </a:rPr>
              <a:t>Drift is the default state.</a:t>
            </a:r>
            <a:endParaRPr sz="4200" dirty="0">
              <a:solidFill>
                <a:srgbClr val="0A4D81"/>
              </a:solidFill>
              <a:latin typeface="Montserrat Medium"/>
              <a:ea typeface="Montserrat Medium"/>
              <a:cs typeface="Montserrat Medium"/>
              <a:sym typeface="Montserrat Medium"/>
            </a:endParaRPr>
          </a:p>
        </p:txBody>
      </p:sp>
      <p:cxnSp>
        <p:nvCxnSpPr>
          <p:cNvPr id="59" name="Google Shape;59;p6"/>
          <p:cNvCxnSpPr/>
          <p:nvPr/>
        </p:nvCxnSpPr>
        <p:spPr>
          <a:xfrm>
            <a:off x="9015671" y="1955800"/>
            <a:ext cx="10301400" cy="1500"/>
          </a:xfrm>
          <a:prstGeom prst="straightConnector1">
            <a:avLst/>
          </a:prstGeom>
          <a:noFill/>
          <a:ln w="28575" cap="flat" cmpd="sng">
            <a:solidFill>
              <a:schemeClr val="dk2"/>
            </a:solidFill>
            <a:prstDash val="solid"/>
            <a:round/>
            <a:headEnd type="none" w="med" len="med"/>
            <a:tailEnd type="none" w="med" len="med"/>
          </a:ln>
        </p:spPr>
      </p:cxnSp>
      <p:pic>
        <p:nvPicPr>
          <p:cNvPr id="61" name="Google Shape;61;p6" title="check_white.png"/>
          <p:cNvPicPr preferRelativeResize="0"/>
          <p:nvPr/>
        </p:nvPicPr>
        <p:blipFill rotWithShape="1">
          <a:blip r:embed="rId3">
            <a:alphaModFix/>
          </a:blip>
          <a:srcRect l="19873" t="6304" r="18830" b="6989"/>
          <a:stretch/>
        </p:blipFill>
        <p:spPr>
          <a:xfrm>
            <a:off x="18700412" y="3221125"/>
            <a:ext cx="616675" cy="616674"/>
          </a:xfrm>
          <a:prstGeom prst="rect">
            <a:avLst/>
          </a:prstGeom>
          <a:noFill/>
          <a:ln>
            <a:noFill/>
          </a:ln>
        </p:spPr>
      </p:pic>
      <p:pic>
        <p:nvPicPr>
          <p:cNvPr id="62" name="Google Shape;62;p6" title="check_white.png"/>
          <p:cNvPicPr preferRelativeResize="0"/>
          <p:nvPr/>
        </p:nvPicPr>
        <p:blipFill rotWithShape="1">
          <a:blip r:embed="rId3">
            <a:alphaModFix/>
          </a:blip>
          <a:srcRect l="19873" t="6304" r="18830" b="6989"/>
          <a:stretch/>
        </p:blipFill>
        <p:spPr>
          <a:xfrm>
            <a:off x="18700412" y="4522975"/>
            <a:ext cx="616675" cy="616674"/>
          </a:xfrm>
          <a:prstGeom prst="rect">
            <a:avLst/>
          </a:prstGeom>
          <a:noFill/>
          <a:ln>
            <a:noFill/>
          </a:ln>
        </p:spPr>
      </p:pic>
      <p:pic>
        <p:nvPicPr>
          <p:cNvPr id="63" name="Google Shape;63;p6" title="check_white.png"/>
          <p:cNvPicPr preferRelativeResize="0"/>
          <p:nvPr/>
        </p:nvPicPr>
        <p:blipFill rotWithShape="1">
          <a:blip r:embed="rId3">
            <a:alphaModFix/>
          </a:blip>
          <a:srcRect l="19873" t="6304" r="18830" b="6989"/>
          <a:stretch/>
        </p:blipFill>
        <p:spPr>
          <a:xfrm>
            <a:off x="18700412" y="5824825"/>
            <a:ext cx="616675" cy="616674"/>
          </a:xfrm>
          <a:prstGeom prst="rect">
            <a:avLst/>
          </a:prstGeom>
          <a:noFill/>
          <a:ln>
            <a:noFill/>
          </a:ln>
        </p:spPr>
      </p:pic>
      <p:pic>
        <p:nvPicPr>
          <p:cNvPr id="64" name="Google Shape;64;p6" title="check_white.png"/>
          <p:cNvPicPr preferRelativeResize="0"/>
          <p:nvPr/>
        </p:nvPicPr>
        <p:blipFill rotWithShape="1">
          <a:blip r:embed="rId3">
            <a:alphaModFix/>
          </a:blip>
          <a:srcRect l="19873" t="6304" r="18830" b="6989"/>
          <a:stretch/>
        </p:blipFill>
        <p:spPr>
          <a:xfrm>
            <a:off x="18700412" y="7126675"/>
            <a:ext cx="616675" cy="616674"/>
          </a:xfrm>
          <a:prstGeom prst="rect">
            <a:avLst/>
          </a:prstGeom>
          <a:noFill/>
          <a:ln>
            <a:noFill/>
          </a:ln>
        </p:spPr>
      </p:pic>
      <p:pic>
        <p:nvPicPr>
          <p:cNvPr id="65" name="Google Shape;65;p6" title="iac-and-agents.png"/>
          <p:cNvPicPr preferRelativeResize="0"/>
          <p:nvPr/>
        </p:nvPicPr>
        <p:blipFill>
          <a:blip r:embed="rId4">
            <a:alphaModFix/>
          </a:blip>
          <a:stretch>
            <a:fillRect/>
          </a:stretch>
        </p:blipFill>
        <p:spPr>
          <a:xfrm>
            <a:off x="141446" y="969351"/>
            <a:ext cx="10093199" cy="9851717"/>
          </a:xfrm>
          <a:prstGeom prst="rect">
            <a:avLst/>
          </a:prstGeom>
          <a:noFill/>
          <a:ln>
            <a:noFill/>
          </a:ln>
        </p:spPr>
      </p:pic>
      <p:sp>
        <p:nvSpPr>
          <p:cNvPr id="3" name="Google Shape;43;p5">
            <a:extLst>
              <a:ext uri="{FF2B5EF4-FFF2-40B4-BE49-F238E27FC236}">
                <a16:creationId xmlns:a16="http://schemas.microsoft.com/office/drawing/2014/main" id="{EE13E563-FCE5-DC15-2238-2B0ABFF680E8}"/>
              </a:ext>
            </a:extLst>
          </p:cNvPr>
          <p:cNvSpPr txBox="1"/>
          <p:nvPr/>
        </p:nvSpPr>
        <p:spPr>
          <a:xfrm>
            <a:off x="17238776" y="1037242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dirty="0">
                <a:solidFill>
                  <a:srgbClr val="0A4D81"/>
                </a:solidFill>
                <a:latin typeface="Montserrat"/>
                <a:ea typeface="Montserrat"/>
                <a:cs typeface="Montserrat"/>
                <a:sym typeface="Montserrat"/>
              </a:rPr>
              <a:t>STACKQL&gt;&gt;</a:t>
            </a:r>
            <a:endParaRPr sz="1800" dirty="0">
              <a:solidFill>
                <a:srgbClr val="0A4D8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9" name="Google Shape;119;p10"/>
          <p:cNvSpPr txBox="1"/>
          <p:nvPr/>
        </p:nvSpPr>
        <p:spPr>
          <a:xfrm>
            <a:off x="705027" y="3350425"/>
            <a:ext cx="12891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The review cycle is the safety mechanism.</a:t>
            </a:r>
            <a:endParaRPr sz="4200"/>
          </a:p>
        </p:txBody>
      </p:sp>
      <p:sp>
        <p:nvSpPr>
          <p:cNvPr id="120" name="Google Shape;120;p10"/>
          <p:cNvSpPr txBox="1"/>
          <p:nvPr/>
        </p:nvSpPr>
        <p:spPr>
          <a:xfrm>
            <a:off x="705027" y="4139550"/>
            <a:ext cx="124719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Agents operate outside the loop.</a:t>
            </a:r>
            <a:endParaRPr sz="4200"/>
          </a:p>
        </p:txBody>
      </p:sp>
      <p:sp>
        <p:nvSpPr>
          <p:cNvPr id="121" name="Google Shape;121;p10"/>
          <p:cNvSpPr txBox="1"/>
          <p:nvPr/>
        </p:nvSpPr>
        <p:spPr>
          <a:xfrm>
            <a:off x="759427" y="4928675"/>
            <a:ext cx="152418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Safety can't depend on humans.</a:t>
            </a:r>
            <a:endParaRPr sz="4200"/>
          </a:p>
        </p:txBody>
      </p:sp>
      <p:sp>
        <p:nvSpPr>
          <p:cNvPr id="122" name="Google Shape;122;p10"/>
          <p:cNvSpPr txBox="1"/>
          <p:nvPr/>
        </p:nvSpPr>
        <p:spPr>
          <a:xfrm>
            <a:off x="759427" y="1705225"/>
            <a:ext cx="152418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PLAN AND APPLY EXPECTS A HUMAN</a:t>
            </a:r>
            <a:endParaRPr/>
          </a:p>
        </p:txBody>
      </p:sp>
      <p:pic>
        <p:nvPicPr>
          <p:cNvPr id="123" name="Google Shape;123;p10" title="human-iac-plan.png"/>
          <p:cNvPicPr preferRelativeResize="0"/>
          <p:nvPr/>
        </p:nvPicPr>
        <p:blipFill>
          <a:blip r:embed="rId3">
            <a:alphaModFix/>
          </a:blip>
          <a:stretch>
            <a:fillRect/>
          </a:stretch>
        </p:blipFill>
        <p:spPr>
          <a:xfrm>
            <a:off x="12599675" y="3350425"/>
            <a:ext cx="6970798" cy="5435725"/>
          </a:xfrm>
          <a:prstGeom prst="rect">
            <a:avLst/>
          </a:prstGeom>
          <a:noFill/>
          <a:ln>
            <a:noFill/>
          </a:ln>
        </p:spPr>
      </p:pic>
      <p:sp>
        <p:nvSpPr>
          <p:cNvPr id="125" name="Google Shape;125;p10"/>
          <p:cNvSpPr txBox="1"/>
          <p:nvPr/>
        </p:nvSpPr>
        <p:spPr>
          <a:xfrm>
            <a:off x="759418" y="10301700"/>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0">
          <a:extLst>
            <a:ext uri="{FF2B5EF4-FFF2-40B4-BE49-F238E27FC236}">
              <a16:creationId xmlns:a16="http://schemas.microsoft.com/office/drawing/2014/main" id="{4C31989A-6097-E13B-2CC1-02D6FE49AA97}"/>
            </a:ext>
          </a:extLst>
        </p:cNvPr>
        <p:cNvGrpSpPr/>
        <p:nvPr/>
      </p:nvGrpSpPr>
      <p:grpSpPr>
        <a:xfrm>
          <a:off x="0" y="0"/>
          <a:ext cx="0" cy="0"/>
          <a:chOff x="0" y="0"/>
          <a:chExt cx="0" cy="0"/>
        </a:xfrm>
      </p:grpSpPr>
      <p:sp>
        <p:nvSpPr>
          <p:cNvPr id="22" name="Google Shape;22;p3">
            <a:extLst>
              <a:ext uri="{FF2B5EF4-FFF2-40B4-BE49-F238E27FC236}">
                <a16:creationId xmlns:a16="http://schemas.microsoft.com/office/drawing/2014/main" id="{FF43F095-9416-491D-F0C3-6221F8567776}"/>
              </a:ext>
            </a:extLst>
          </p:cNvPr>
          <p:cNvSpPr/>
          <p:nvPr/>
        </p:nvSpPr>
        <p:spPr>
          <a:xfrm>
            <a:off x="16407775" y="10448700"/>
            <a:ext cx="3444000" cy="450600"/>
          </a:xfrm>
          <a:prstGeom prst="rect">
            <a:avLst/>
          </a:prstGeom>
          <a:noFill/>
          <a:ln>
            <a:noFill/>
          </a:ln>
        </p:spPr>
        <p:txBody>
          <a:bodyPr spcFirstLastPara="1" wrap="square" lIns="0" tIns="0" rIns="0" bIns="0" anchor="ctr" anchorCtr="0">
            <a:noAutofit/>
          </a:bodyPr>
          <a:lstStyle/>
          <a:p>
            <a:pPr marL="0" lvl="0" indent="0" algn="ctr" rtl="0">
              <a:lnSpc>
                <a:spcPct val="110700"/>
              </a:lnSpc>
              <a:spcBef>
                <a:spcPts val="0"/>
              </a:spcBef>
              <a:spcAft>
                <a:spcPts val="0"/>
              </a:spcAft>
              <a:buNone/>
            </a:pPr>
            <a:r>
              <a:rPr lang="en-US" sz="3800" b="1">
                <a:solidFill>
                  <a:schemeClr val="lt1"/>
                </a:solidFill>
                <a:latin typeface="Montserrat"/>
                <a:ea typeface="Montserrat"/>
                <a:cs typeface="Montserrat"/>
                <a:sym typeface="Montserrat"/>
              </a:rPr>
              <a:t>STACKQL&gt;&gt;</a:t>
            </a:r>
            <a:endParaRPr sz="3800">
              <a:solidFill>
                <a:schemeClr val="lt1"/>
              </a:solidFill>
            </a:endParaRPr>
          </a:p>
        </p:txBody>
      </p:sp>
      <p:sp>
        <p:nvSpPr>
          <p:cNvPr id="2" name="Google Shape;211;p18">
            <a:extLst>
              <a:ext uri="{FF2B5EF4-FFF2-40B4-BE49-F238E27FC236}">
                <a16:creationId xmlns:a16="http://schemas.microsoft.com/office/drawing/2014/main" id="{91A170D9-6752-C0DC-CCAC-2C91B6D885F3}"/>
              </a:ext>
            </a:extLst>
          </p:cNvPr>
          <p:cNvSpPr txBox="1"/>
          <p:nvPr/>
        </p:nvSpPr>
        <p:spPr>
          <a:xfrm>
            <a:off x="2074047" y="4922313"/>
            <a:ext cx="15280500" cy="5925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3850" b="1">
                <a:solidFill>
                  <a:srgbClr val="3FAC92"/>
                </a:solidFill>
                <a:latin typeface="Montserrat"/>
                <a:ea typeface="Montserrat"/>
                <a:cs typeface="Montserrat"/>
                <a:sym typeface="Montserrat"/>
              </a:rPr>
              <a:t>PUT THE JUDGEMENT BACK IN THE SYSTEM</a:t>
            </a:r>
            <a:endParaRPr sz="100"/>
          </a:p>
        </p:txBody>
      </p:sp>
      <p:sp>
        <p:nvSpPr>
          <p:cNvPr id="3" name="Google Shape;212;p18">
            <a:extLst>
              <a:ext uri="{FF2B5EF4-FFF2-40B4-BE49-F238E27FC236}">
                <a16:creationId xmlns:a16="http://schemas.microsoft.com/office/drawing/2014/main" id="{4E1ACB0F-781D-42C3-5ADF-96018B6D110A}"/>
              </a:ext>
            </a:extLst>
          </p:cNvPr>
          <p:cNvSpPr/>
          <p:nvPr/>
        </p:nvSpPr>
        <p:spPr>
          <a:xfrm>
            <a:off x="2074050" y="2422272"/>
            <a:ext cx="14801700" cy="2465400"/>
          </a:xfrm>
          <a:prstGeom prst="rect">
            <a:avLst/>
          </a:prstGeom>
          <a:noFill/>
          <a:ln>
            <a:noFill/>
          </a:ln>
        </p:spPr>
        <p:txBody>
          <a:bodyPr spcFirstLastPara="1" wrap="square" lIns="0" tIns="0" rIns="0" bIns="0" anchor="ctr" anchorCtr="0">
            <a:noAutofit/>
          </a:bodyPr>
          <a:lstStyle/>
          <a:p>
            <a:pPr marL="0" lvl="0" indent="0" algn="l" rtl="0">
              <a:lnSpc>
                <a:spcPct val="110700"/>
              </a:lnSpc>
              <a:spcBef>
                <a:spcPts val="0"/>
              </a:spcBef>
              <a:spcAft>
                <a:spcPts val="0"/>
              </a:spcAft>
              <a:buNone/>
            </a:pPr>
            <a:r>
              <a:rPr lang="en-US" sz="7650" b="1" dirty="0">
                <a:solidFill>
                  <a:schemeClr val="lt1"/>
                </a:solidFill>
                <a:latin typeface="Montserrat"/>
                <a:ea typeface="Montserrat"/>
                <a:cs typeface="Montserrat"/>
                <a:sym typeface="Montserrat"/>
              </a:rPr>
              <a:t>FIVE GUARDRAILS</a:t>
            </a:r>
            <a:endParaRPr sz="7650" b="1" dirty="0">
              <a:solidFill>
                <a:schemeClr val="lt1"/>
              </a:solidFill>
              <a:latin typeface="Montserrat"/>
              <a:ea typeface="Montserrat"/>
              <a:cs typeface="Montserrat"/>
              <a:sym typeface="Montserrat"/>
            </a:endParaRPr>
          </a:p>
        </p:txBody>
      </p:sp>
      <p:cxnSp>
        <p:nvCxnSpPr>
          <p:cNvPr id="4" name="Google Shape;213;p18">
            <a:extLst>
              <a:ext uri="{FF2B5EF4-FFF2-40B4-BE49-F238E27FC236}">
                <a16:creationId xmlns:a16="http://schemas.microsoft.com/office/drawing/2014/main" id="{DBF55A76-4F85-7D47-1CB0-9610C56AD058}"/>
              </a:ext>
            </a:extLst>
          </p:cNvPr>
          <p:cNvCxnSpPr>
            <a:cxnSpLocks/>
          </p:cNvCxnSpPr>
          <p:nvPr/>
        </p:nvCxnSpPr>
        <p:spPr>
          <a:xfrm>
            <a:off x="2074050" y="4466475"/>
            <a:ext cx="12345335" cy="0"/>
          </a:xfrm>
          <a:prstGeom prst="straightConnector1">
            <a:avLst/>
          </a:prstGeom>
          <a:noFill/>
          <a:ln w="76200" cap="flat" cmpd="sng">
            <a:solidFill>
              <a:srgbClr val="3FAC92"/>
            </a:solidFill>
            <a:prstDash val="solid"/>
            <a:round/>
            <a:headEnd type="none" w="med" len="med"/>
            <a:tailEnd type="none" w="med" len="med"/>
          </a:ln>
        </p:spPr>
      </p:cxnSp>
      <p:sp>
        <p:nvSpPr>
          <p:cNvPr id="5" name="Google Shape;216;p18">
            <a:extLst>
              <a:ext uri="{FF2B5EF4-FFF2-40B4-BE49-F238E27FC236}">
                <a16:creationId xmlns:a16="http://schemas.microsoft.com/office/drawing/2014/main" id="{CBBE0F93-C6F7-F69F-C962-5D5A81156B7D}"/>
              </a:ext>
            </a:extLst>
          </p:cNvPr>
          <p:cNvSpPr/>
          <p:nvPr/>
        </p:nvSpPr>
        <p:spPr>
          <a:xfrm>
            <a:off x="2074050" y="596917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01 - QUERY BEFORE MUTATION</a:t>
            </a:r>
            <a:endParaRPr>
              <a:latin typeface="Calibri"/>
              <a:ea typeface="Calibri"/>
              <a:cs typeface="Calibri"/>
              <a:sym typeface="Calibri"/>
            </a:endParaRPr>
          </a:p>
        </p:txBody>
      </p:sp>
      <p:sp>
        <p:nvSpPr>
          <p:cNvPr id="6" name="Google Shape;217;p18">
            <a:extLst>
              <a:ext uri="{FF2B5EF4-FFF2-40B4-BE49-F238E27FC236}">
                <a16:creationId xmlns:a16="http://schemas.microsoft.com/office/drawing/2014/main" id="{4B39C032-90D5-241E-AD15-F3BDE1C389A0}"/>
              </a:ext>
            </a:extLst>
          </p:cNvPr>
          <p:cNvSpPr/>
          <p:nvPr/>
        </p:nvSpPr>
        <p:spPr>
          <a:xfrm>
            <a:off x="8067825" y="5969175"/>
            <a:ext cx="80000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02 - IDEMPOTENT ASSERTIONS</a:t>
            </a:r>
            <a:endParaRPr>
              <a:latin typeface="Calibri"/>
              <a:ea typeface="Calibri"/>
              <a:cs typeface="Calibri"/>
              <a:sym typeface="Calibri"/>
            </a:endParaRPr>
          </a:p>
        </p:txBody>
      </p:sp>
      <p:sp>
        <p:nvSpPr>
          <p:cNvPr id="7" name="Google Shape;218;p18">
            <a:extLst>
              <a:ext uri="{FF2B5EF4-FFF2-40B4-BE49-F238E27FC236}">
                <a16:creationId xmlns:a16="http://schemas.microsoft.com/office/drawing/2014/main" id="{D87D1F2B-1CB5-58D0-ECBB-CE59B4F5ACB6}"/>
              </a:ext>
            </a:extLst>
          </p:cNvPr>
          <p:cNvSpPr/>
          <p:nvPr/>
        </p:nvSpPr>
        <p:spPr>
          <a:xfrm>
            <a:off x="2074050" y="695392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03 - POLICY GATES</a:t>
            </a:r>
            <a:endParaRPr>
              <a:latin typeface="Calibri"/>
              <a:ea typeface="Calibri"/>
              <a:cs typeface="Calibri"/>
              <a:sym typeface="Calibri"/>
            </a:endParaRPr>
          </a:p>
        </p:txBody>
      </p:sp>
      <p:sp>
        <p:nvSpPr>
          <p:cNvPr id="8" name="Google Shape;219;p18">
            <a:extLst>
              <a:ext uri="{FF2B5EF4-FFF2-40B4-BE49-F238E27FC236}">
                <a16:creationId xmlns:a16="http://schemas.microsoft.com/office/drawing/2014/main" id="{A231FE13-B143-7DB3-2156-FA330496E5BE}"/>
              </a:ext>
            </a:extLst>
          </p:cNvPr>
          <p:cNvSpPr/>
          <p:nvPr/>
        </p:nvSpPr>
        <p:spPr>
          <a:xfrm>
            <a:off x="8067825" y="6953925"/>
            <a:ext cx="80000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04 - SCOPED CREDENTIALS AND SURFACES</a:t>
            </a:r>
            <a:endParaRPr>
              <a:latin typeface="Calibri"/>
              <a:ea typeface="Calibri"/>
              <a:cs typeface="Calibri"/>
              <a:sym typeface="Calibri"/>
            </a:endParaRPr>
          </a:p>
        </p:txBody>
      </p:sp>
      <p:sp>
        <p:nvSpPr>
          <p:cNvPr id="9" name="Google Shape;220;p18">
            <a:extLst>
              <a:ext uri="{FF2B5EF4-FFF2-40B4-BE49-F238E27FC236}">
                <a16:creationId xmlns:a16="http://schemas.microsoft.com/office/drawing/2014/main" id="{B32034C0-A4F8-8DB2-1ACC-0745D03EB64D}"/>
              </a:ext>
            </a:extLst>
          </p:cNvPr>
          <p:cNvSpPr/>
          <p:nvPr/>
        </p:nvSpPr>
        <p:spPr>
          <a:xfrm>
            <a:off x="2074050" y="7938675"/>
            <a:ext cx="5617200" cy="665700"/>
          </a:xfrm>
          <a:prstGeom prst="rect">
            <a:avLst/>
          </a:prstGeom>
          <a:solidFill>
            <a:srgbClr val="3FAC92"/>
          </a:solidFill>
          <a:ln w="9525" cap="flat" cmpd="sng">
            <a:solidFill>
              <a:srgbClr val="1F497D"/>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05 - RECOVERY PATHS</a:t>
            </a:r>
            <a:endParaRPr>
              <a:latin typeface="Calibri"/>
              <a:ea typeface="Calibri"/>
              <a:cs typeface="Calibri"/>
              <a:sym typeface="Calibri"/>
            </a:endParaRPr>
          </a:p>
        </p:txBody>
      </p:sp>
    </p:spTree>
    <p:extLst>
      <p:ext uri="{BB962C8B-B14F-4D97-AF65-F5344CB8AC3E}">
        <p14:creationId xmlns:p14="http://schemas.microsoft.com/office/powerpoint/2010/main" val="5190185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7" name="Google Shape;227;p19"/>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01</a:t>
            </a:r>
            <a:endParaRPr>
              <a:solidFill>
                <a:srgbClr val="3FAC92"/>
              </a:solidFill>
            </a:endParaRPr>
          </a:p>
        </p:txBody>
      </p:sp>
      <p:sp>
        <p:nvSpPr>
          <p:cNvPr id="228" name="Google Shape;228;p19"/>
          <p:cNvSpPr txBox="1"/>
          <p:nvPr/>
        </p:nvSpPr>
        <p:spPr>
          <a:xfrm>
            <a:off x="794600" y="1776855"/>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Inspect reality, not the state file, before acting.</a:t>
            </a:r>
            <a:endParaRPr sz="4200"/>
          </a:p>
        </p:txBody>
      </p:sp>
      <p:sp>
        <p:nvSpPr>
          <p:cNvPr id="229" name="Google Shape;229;p19"/>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30" name="Google Shape;230;p19"/>
          <p:cNvSpPr txBox="1"/>
          <p:nvPr/>
        </p:nvSpPr>
        <p:spPr>
          <a:xfrm>
            <a:off x="1693699"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QUERY BEFORE MUTATION</a:t>
            </a:r>
            <a:endParaRPr/>
          </a:p>
        </p:txBody>
      </p:sp>
      <p:sp>
        <p:nvSpPr>
          <p:cNvPr id="231" name="Google Shape;231;p19"/>
          <p:cNvSpPr txBox="1"/>
          <p:nvPr/>
        </p:nvSpPr>
        <p:spPr>
          <a:xfrm>
            <a:off x="1042150" y="5327520"/>
            <a:ext cx="106791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“A state file shows what a tool wrote last run. The cloud API shows what actually exists. Autonomous agents should read live state on every decision.”</a:t>
            </a:r>
            <a:endParaRPr sz="3000" i="1" dirty="0">
              <a:solidFill>
                <a:srgbClr val="0A4D81"/>
              </a:solidFill>
              <a:latin typeface="Montserrat Medium"/>
              <a:ea typeface="Montserrat Medium"/>
              <a:cs typeface="Montserrat Medium"/>
              <a:sym typeface="Montserrat Medium"/>
            </a:endParaRPr>
          </a:p>
        </p:txBody>
      </p:sp>
      <p:sp>
        <p:nvSpPr>
          <p:cNvPr id="232" name="Google Shape;232;p19"/>
          <p:cNvSpPr/>
          <p:nvPr/>
        </p:nvSpPr>
        <p:spPr>
          <a:xfrm>
            <a:off x="794601" y="5586192"/>
            <a:ext cx="192000" cy="1397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33" name="Google Shape;233;p19" title="query-before-mutate.png"/>
          <p:cNvPicPr preferRelativeResize="0"/>
          <p:nvPr/>
        </p:nvPicPr>
        <p:blipFill>
          <a:blip r:embed="rId3">
            <a:alphaModFix/>
          </a:blip>
          <a:stretch>
            <a:fillRect/>
          </a:stretch>
        </p:blipFill>
        <p:spPr>
          <a:xfrm>
            <a:off x="12610087" y="3109063"/>
            <a:ext cx="5926876" cy="59268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20"/>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02</a:t>
            </a:r>
            <a:endParaRPr>
              <a:solidFill>
                <a:srgbClr val="3FAC92"/>
              </a:solidFill>
            </a:endParaRPr>
          </a:p>
        </p:txBody>
      </p:sp>
      <p:sp>
        <p:nvSpPr>
          <p:cNvPr id="239" name="Google Shape;239;p20"/>
          <p:cNvSpPr txBox="1"/>
          <p:nvPr/>
        </p:nvSpPr>
        <p:spPr>
          <a:xfrm>
            <a:off x="759425" y="1776825"/>
            <a:ext cx="12714600" cy="646500"/>
          </a:xfrm>
          <a:prstGeom prst="rect">
            <a:avLst/>
          </a:prstGeom>
          <a:noFill/>
          <a:ln>
            <a:noFill/>
          </a:ln>
        </p:spPr>
        <p:txBody>
          <a:bodyPr spcFirstLastPara="1" wrap="square" lIns="0" tIns="0" rIns="0" bIns="0" anchor="t" anchorCtr="0">
            <a:spAutoFit/>
          </a:bodyPr>
          <a:lstStyle/>
          <a:p>
            <a:pPr marL="0" lvl="0" indent="0" algn="l" rtl="0">
              <a:lnSpc>
                <a:spcPct val="108780"/>
              </a:lnSpc>
              <a:spcBef>
                <a:spcPts val="0"/>
              </a:spcBef>
              <a:spcAft>
                <a:spcPts val="0"/>
              </a:spcAft>
              <a:buClr>
                <a:schemeClr val="dk1"/>
              </a:buClr>
              <a:buSzPts val="1100"/>
              <a:buFont typeface="Arial"/>
              <a:buNone/>
            </a:pPr>
            <a:r>
              <a:rPr lang="en-US" sz="4200">
                <a:solidFill>
                  <a:srgbClr val="0A4D81"/>
                </a:solidFill>
                <a:latin typeface="Montserrat Medium"/>
                <a:ea typeface="Montserrat Medium"/>
                <a:cs typeface="Montserrat Medium"/>
                <a:sym typeface="Montserrat Medium"/>
              </a:rPr>
              <a:t>Idempotent assertions, not imperative scripts.</a:t>
            </a:r>
            <a:endParaRPr sz="4200"/>
          </a:p>
        </p:txBody>
      </p:sp>
      <p:sp>
        <p:nvSpPr>
          <p:cNvPr id="240" name="Google Shape;240;p20"/>
          <p:cNvSpPr txBox="1"/>
          <p:nvPr/>
        </p:nvSpPr>
        <p:spPr>
          <a:xfrm>
            <a:off x="1831924" y="835525"/>
            <a:ext cx="109164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IDEMPOTENT ASSERTIONS</a:t>
            </a:r>
            <a:endParaRPr/>
          </a:p>
        </p:txBody>
      </p:sp>
      <p:sp>
        <p:nvSpPr>
          <p:cNvPr id="241" name="Google Shape;241;p20"/>
          <p:cNvSpPr txBox="1"/>
          <p:nvPr/>
        </p:nvSpPr>
        <p:spPr>
          <a:xfrm>
            <a:off x="1006975" y="5104774"/>
            <a:ext cx="109983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“Agents retry and resume by default. If every call asserts desired state, every attempt converges on the same end state and the agent does not have to remember what it did.”</a:t>
            </a:r>
            <a:endParaRPr sz="3000" i="1" dirty="0">
              <a:solidFill>
                <a:srgbClr val="0A4D81"/>
              </a:solidFill>
              <a:latin typeface="Montserrat Medium"/>
              <a:ea typeface="Montserrat Medium"/>
              <a:cs typeface="Montserrat Medium"/>
              <a:sym typeface="Montserrat Medium"/>
            </a:endParaRPr>
          </a:p>
        </p:txBody>
      </p:sp>
      <p:sp>
        <p:nvSpPr>
          <p:cNvPr id="242" name="Google Shape;242;p20"/>
          <p:cNvSpPr/>
          <p:nvPr/>
        </p:nvSpPr>
        <p:spPr>
          <a:xfrm>
            <a:off x="741744" y="5351531"/>
            <a:ext cx="192000" cy="1968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4" name="Google Shape;244;p20"/>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pic>
        <p:nvPicPr>
          <p:cNvPr id="245" name="Google Shape;245;p20" title="idempotent-assertions.png"/>
          <p:cNvPicPr preferRelativeResize="0"/>
          <p:nvPr/>
        </p:nvPicPr>
        <p:blipFill>
          <a:blip r:embed="rId3">
            <a:alphaModFix/>
          </a:blip>
          <a:stretch>
            <a:fillRect/>
          </a:stretch>
        </p:blipFill>
        <p:spPr>
          <a:xfrm>
            <a:off x="12748325" y="549287"/>
            <a:ext cx="7019273" cy="102171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4"/>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03</a:t>
            </a:r>
            <a:endParaRPr>
              <a:solidFill>
                <a:srgbClr val="3FAC92"/>
              </a:solidFill>
            </a:endParaRPr>
          </a:p>
        </p:txBody>
      </p:sp>
      <p:sp>
        <p:nvSpPr>
          <p:cNvPr id="287" name="Google Shape;287;p24"/>
          <p:cNvSpPr txBox="1"/>
          <p:nvPr/>
        </p:nvSpPr>
        <p:spPr>
          <a:xfrm>
            <a:off x="759425" y="1812200"/>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Machine-checkable, owned by the platform</a:t>
            </a:r>
            <a:endParaRPr sz="4200"/>
          </a:p>
        </p:txBody>
      </p:sp>
      <p:sp>
        <p:nvSpPr>
          <p:cNvPr id="288" name="Google Shape;288;p24"/>
          <p:cNvSpPr txBox="1"/>
          <p:nvPr/>
        </p:nvSpPr>
        <p:spPr>
          <a:xfrm>
            <a:off x="1831926" y="835525"/>
            <a:ext cx="174672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POLICY GATES REPLACE REVIEW CYCLES</a:t>
            </a:r>
            <a:endParaRPr/>
          </a:p>
        </p:txBody>
      </p:sp>
      <p:sp>
        <p:nvSpPr>
          <p:cNvPr id="290" name="Google Shape;290;p24"/>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91" name="Google Shape;291;p24"/>
          <p:cNvSpPr txBox="1"/>
          <p:nvPr/>
        </p:nvSpPr>
        <p:spPr>
          <a:xfrm>
            <a:off x="1096200" y="3863958"/>
            <a:ext cx="81600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"The review cycle bounded what humans could do by accident. In the agent era, execution bounds do the same job by design: budget ceilings, region locks, change rate limits, resource count caps. Policy is not a compliance artefact. It is the new safety loop."</a:t>
            </a:r>
            <a:endParaRPr sz="3000" i="1" dirty="0">
              <a:solidFill>
                <a:srgbClr val="0A4D81"/>
              </a:solidFill>
              <a:latin typeface="Montserrat Medium"/>
              <a:ea typeface="Montserrat Medium"/>
              <a:cs typeface="Montserrat Medium"/>
              <a:sym typeface="Montserrat Medium"/>
            </a:endParaRPr>
          </a:p>
        </p:txBody>
      </p:sp>
      <p:sp>
        <p:nvSpPr>
          <p:cNvPr id="292" name="Google Shape;292;p24"/>
          <p:cNvSpPr/>
          <p:nvPr/>
        </p:nvSpPr>
        <p:spPr>
          <a:xfrm>
            <a:off x="848650" y="4186574"/>
            <a:ext cx="146400" cy="349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93" name="Google Shape;293;p24"/>
          <p:cNvPicPr preferRelativeResize="0"/>
          <p:nvPr/>
        </p:nvPicPr>
        <p:blipFill>
          <a:blip r:embed="rId3">
            <a:alphaModFix/>
          </a:blip>
          <a:stretch>
            <a:fillRect/>
          </a:stretch>
        </p:blipFill>
        <p:spPr>
          <a:xfrm>
            <a:off x="9357350" y="2583400"/>
            <a:ext cx="10555799" cy="74318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19"/>
        <p:cNvGrpSpPr/>
        <p:nvPr/>
      </p:nvGrpSpPr>
      <p:grpSpPr>
        <a:xfrm>
          <a:off x="0" y="0"/>
          <a:ext cx="0" cy="0"/>
          <a:chOff x="0" y="0"/>
          <a:chExt cx="0" cy="0"/>
        </a:xfrm>
      </p:grpSpPr>
      <p:sp>
        <p:nvSpPr>
          <p:cNvPr id="220" name="Google Shape;220;p18"/>
          <p:cNvSpPr/>
          <p:nvPr/>
        </p:nvSpPr>
        <p:spPr>
          <a:xfrm>
            <a:off x="2074050" y="2422272"/>
            <a:ext cx="14801700" cy="2465400"/>
          </a:xfrm>
          <a:prstGeom prst="rect">
            <a:avLst/>
          </a:prstGeom>
          <a:noFill/>
          <a:ln>
            <a:noFill/>
          </a:ln>
        </p:spPr>
        <p:txBody>
          <a:bodyPr spcFirstLastPara="1" wrap="square" lIns="0" tIns="0" rIns="0" bIns="0" anchor="ctr" anchorCtr="0">
            <a:noAutofit/>
          </a:bodyPr>
          <a:lstStyle/>
          <a:p>
            <a:pPr marL="0" lvl="0" indent="0" algn="l" rtl="0">
              <a:lnSpc>
                <a:spcPct val="110700"/>
              </a:lnSpc>
              <a:spcBef>
                <a:spcPts val="0"/>
              </a:spcBef>
              <a:spcAft>
                <a:spcPts val="0"/>
              </a:spcAft>
              <a:buNone/>
            </a:pPr>
            <a:r>
              <a:rPr lang="en-US" sz="7650" b="1">
                <a:solidFill>
                  <a:schemeClr val="lt1"/>
                </a:solidFill>
                <a:latin typeface="Montserrat"/>
                <a:ea typeface="Montserrat"/>
                <a:cs typeface="Montserrat"/>
                <a:sym typeface="Montserrat"/>
              </a:rPr>
              <a:t>DEMO</a:t>
            </a:r>
            <a:endParaRPr sz="7650" b="1">
              <a:solidFill>
                <a:schemeClr val="lt1"/>
              </a:solidFill>
              <a:latin typeface="Montserrat"/>
              <a:ea typeface="Montserrat"/>
              <a:cs typeface="Montserrat"/>
              <a:sym typeface="Montserrat"/>
            </a:endParaRPr>
          </a:p>
        </p:txBody>
      </p:sp>
      <p:cxnSp>
        <p:nvCxnSpPr>
          <p:cNvPr id="221" name="Google Shape;221;p18"/>
          <p:cNvCxnSpPr/>
          <p:nvPr/>
        </p:nvCxnSpPr>
        <p:spPr>
          <a:xfrm>
            <a:off x="2074050" y="4466475"/>
            <a:ext cx="3238500" cy="7200"/>
          </a:xfrm>
          <a:prstGeom prst="straightConnector1">
            <a:avLst/>
          </a:prstGeom>
          <a:noFill/>
          <a:ln w="76200" cap="flat" cmpd="sng">
            <a:solidFill>
              <a:srgbClr val="3FAC92"/>
            </a:solidFill>
            <a:prstDash val="solid"/>
            <a:round/>
            <a:headEnd type="none" w="med" len="med"/>
            <a:tailEnd type="none" w="med" len="med"/>
          </a:ln>
        </p:spPr>
      </p:cxnSp>
      <p:sp>
        <p:nvSpPr>
          <p:cNvPr id="222" name="Google Shape;222;p18"/>
          <p:cNvSpPr txBox="1"/>
          <p:nvPr/>
        </p:nvSpPr>
        <p:spPr>
          <a:xfrm>
            <a:off x="17830800" y="10515600"/>
            <a:ext cx="1707900" cy="4617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26"/>
        <p:cNvGrpSpPr/>
        <p:nvPr/>
      </p:nvGrpSpPr>
      <p:grpSpPr>
        <a:xfrm>
          <a:off x="0" y="0"/>
          <a:ext cx="0" cy="0"/>
          <a:chOff x="0" y="0"/>
          <a:chExt cx="0" cy="0"/>
        </a:xfrm>
      </p:grpSpPr>
      <p:sp>
        <p:nvSpPr>
          <p:cNvPr id="227" name="Google Shape;227;p19"/>
          <p:cNvSpPr/>
          <p:nvPr/>
        </p:nvSpPr>
        <p:spPr>
          <a:xfrm>
            <a:off x="3482275" y="6839566"/>
            <a:ext cx="30132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28" name="Google Shape;228;p19"/>
          <p:cNvSpPr txBox="1"/>
          <p:nvPr/>
        </p:nvSpPr>
        <p:spPr>
          <a:xfrm>
            <a:off x="3482275" y="6941566"/>
            <a:ext cx="30132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COMPLIANCE</a:t>
            </a:r>
            <a:endParaRPr sz="2400"/>
          </a:p>
        </p:txBody>
      </p:sp>
      <p:sp>
        <p:nvSpPr>
          <p:cNvPr id="229" name="Google Shape;229;p19"/>
          <p:cNvSpPr/>
          <p:nvPr/>
        </p:nvSpPr>
        <p:spPr>
          <a:xfrm>
            <a:off x="1210700" y="6839566"/>
            <a:ext cx="20895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0" name="Google Shape;230;p19"/>
          <p:cNvSpPr txBox="1"/>
          <p:nvPr/>
        </p:nvSpPr>
        <p:spPr>
          <a:xfrm>
            <a:off x="1210750" y="6941566"/>
            <a:ext cx="20895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CLOUD</a:t>
            </a:r>
            <a:endParaRPr sz="2400"/>
          </a:p>
        </p:txBody>
      </p:sp>
      <p:sp>
        <p:nvSpPr>
          <p:cNvPr id="231" name="Google Shape;231;p19"/>
          <p:cNvSpPr/>
          <p:nvPr/>
        </p:nvSpPr>
        <p:spPr>
          <a:xfrm>
            <a:off x="4736300" y="7738266"/>
            <a:ext cx="31071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2" name="Google Shape;232;p19"/>
          <p:cNvSpPr txBox="1"/>
          <p:nvPr/>
        </p:nvSpPr>
        <p:spPr>
          <a:xfrm>
            <a:off x="4736300" y="7840266"/>
            <a:ext cx="31071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ASSURANCE</a:t>
            </a:r>
            <a:endParaRPr sz="2400"/>
          </a:p>
        </p:txBody>
      </p:sp>
      <p:sp>
        <p:nvSpPr>
          <p:cNvPr id="233" name="Google Shape;233;p19"/>
          <p:cNvSpPr/>
          <p:nvPr/>
        </p:nvSpPr>
        <p:spPr>
          <a:xfrm>
            <a:off x="1210700" y="7738266"/>
            <a:ext cx="32724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4" name="Google Shape;234;p19"/>
          <p:cNvSpPr txBox="1"/>
          <p:nvPr/>
        </p:nvSpPr>
        <p:spPr>
          <a:xfrm>
            <a:off x="1210700" y="7840266"/>
            <a:ext cx="32724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AUTOMATION</a:t>
            </a:r>
            <a:endParaRPr sz="2400"/>
          </a:p>
        </p:txBody>
      </p:sp>
      <p:pic>
        <p:nvPicPr>
          <p:cNvPr id="235" name="Google Shape;235;p19" title="STACKQL_LOGO_white.jpg"/>
          <p:cNvPicPr preferRelativeResize="0"/>
          <p:nvPr/>
        </p:nvPicPr>
        <p:blipFill rotWithShape="1">
          <a:blip r:embed="rId3">
            <a:alphaModFix/>
          </a:blip>
          <a:srcRect l="11908" t="29925" r="11270" b="27897"/>
          <a:stretch/>
        </p:blipFill>
        <p:spPr>
          <a:xfrm>
            <a:off x="1215000" y="4271450"/>
            <a:ext cx="11403925" cy="1878326"/>
          </a:xfrm>
          <a:prstGeom prst="rect">
            <a:avLst/>
          </a:prstGeom>
          <a:noFill/>
          <a:ln>
            <a:noFill/>
          </a:ln>
        </p:spPr>
      </p:pic>
      <p:sp>
        <p:nvSpPr>
          <p:cNvPr id="236" name="Google Shape;236;p19"/>
          <p:cNvSpPr/>
          <p:nvPr/>
        </p:nvSpPr>
        <p:spPr>
          <a:xfrm>
            <a:off x="6677500" y="6839566"/>
            <a:ext cx="22389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7" name="Google Shape;237;p19"/>
          <p:cNvSpPr txBox="1"/>
          <p:nvPr/>
        </p:nvSpPr>
        <p:spPr>
          <a:xfrm>
            <a:off x="6677500" y="6941566"/>
            <a:ext cx="22389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SECURITY</a:t>
            </a:r>
            <a:endParaRPr sz="2400"/>
          </a:p>
        </p:txBody>
      </p:sp>
      <p:sp>
        <p:nvSpPr>
          <p:cNvPr id="238" name="Google Shape;238;p19"/>
          <p:cNvSpPr/>
          <p:nvPr/>
        </p:nvSpPr>
        <p:spPr>
          <a:xfrm>
            <a:off x="8096601" y="7738270"/>
            <a:ext cx="2780400" cy="665700"/>
          </a:xfrm>
          <a:prstGeom prst="rect">
            <a:avLst/>
          </a:prstGeom>
          <a:solidFill>
            <a:srgbClr val="3FAC9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39" name="Google Shape;239;p19"/>
          <p:cNvSpPr txBox="1"/>
          <p:nvPr/>
        </p:nvSpPr>
        <p:spPr>
          <a:xfrm>
            <a:off x="8096601" y="7840270"/>
            <a:ext cx="27804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THANK YOU</a:t>
            </a:r>
            <a:endParaRPr sz="2400"/>
          </a:p>
        </p:txBody>
      </p:sp>
      <p:sp>
        <p:nvSpPr>
          <p:cNvPr id="240" name="Google Shape;240;p19"/>
          <p:cNvSpPr txBox="1"/>
          <p:nvPr/>
        </p:nvSpPr>
        <p:spPr>
          <a:xfrm>
            <a:off x="17145000" y="10357475"/>
            <a:ext cx="2085000" cy="492600"/>
          </a:xfrm>
          <a:prstGeom prst="rect">
            <a:avLst/>
          </a:prstGeom>
          <a:noFill/>
          <a:ln>
            <a:noFill/>
          </a:ln>
        </p:spPr>
        <p:txBody>
          <a:bodyPr spcFirstLastPara="1" wrap="square" lIns="0" tIns="0" rIns="0" bIns="0" anchor="t" anchorCtr="0">
            <a:spAutoFit/>
          </a:bodyPr>
          <a:lstStyle/>
          <a:p>
            <a:pPr marL="0" marR="0" lvl="0" indent="0" algn="l" rtl="0">
              <a:lnSpc>
                <a:spcPct val="110687"/>
              </a:lnSpc>
              <a:spcBef>
                <a:spcPts val="0"/>
              </a:spcBef>
              <a:spcAft>
                <a:spcPts val="0"/>
              </a:spcAft>
              <a:buNone/>
            </a:pPr>
            <a:r>
              <a:rPr lang="en-US" sz="3200" b="1">
                <a:solidFill>
                  <a:srgbClr val="3FAC92"/>
                </a:solidFill>
                <a:latin typeface="Montserrat"/>
                <a:ea typeface="Montserrat"/>
                <a:cs typeface="Montserrat"/>
                <a:sym typeface="Montserrat"/>
              </a:rPr>
              <a:t>stackql.io</a:t>
            </a:r>
            <a:endParaRPr/>
          </a:p>
        </p:txBody>
      </p:sp>
      <p:sp>
        <p:nvSpPr>
          <p:cNvPr id="241" name="Google Shape;241;p19"/>
          <p:cNvSpPr/>
          <p:nvPr/>
        </p:nvSpPr>
        <p:spPr>
          <a:xfrm>
            <a:off x="9098425" y="6839566"/>
            <a:ext cx="2089500" cy="6657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sp>
        <p:nvSpPr>
          <p:cNvPr id="242" name="Google Shape;242;p19"/>
          <p:cNvSpPr txBox="1"/>
          <p:nvPr/>
        </p:nvSpPr>
        <p:spPr>
          <a:xfrm>
            <a:off x="9098475" y="6941566"/>
            <a:ext cx="2089500" cy="461700"/>
          </a:xfrm>
          <a:prstGeom prst="rect">
            <a:avLst/>
          </a:prstGeom>
          <a:noFill/>
          <a:ln>
            <a:noFill/>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2400" b="1">
                <a:solidFill>
                  <a:srgbClr val="0A4D81"/>
                </a:solidFill>
                <a:latin typeface="Montserrat"/>
                <a:ea typeface="Montserrat"/>
                <a:cs typeface="Montserrat"/>
                <a:sym typeface="Montserrat"/>
              </a:rPr>
              <a:t>MCP</a:t>
            </a:r>
            <a:endParaRPr sz="2400"/>
          </a:p>
        </p:txBody>
      </p:sp>
      <p:pic>
        <p:nvPicPr>
          <p:cNvPr id="243" name="Google Shape;243;p19"/>
          <p:cNvPicPr preferRelativeResize="0"/>
          <p:nvPr/>
        </p:nvPicPr>
        <p:blipFill>
          <a:blip r:embed="rId4">
            <a:alphaModFix/>
          </a:blip>
          <a:stretch>
            <a:fillRect/>
          </a:stretch>
        </p:blipFill>
        <p:spPr>
          <a:xfrm>
            <a:off x="15394525" y="4183050"/>
            <a:ext cx="3966650" cy="3966650"/>
          </a:xfrm>
          <a:prstGeom prst="rect">
            <a:avLst/>
          </a:prstGeom>
          <a:noFill/>
          <a:ln>
            <a:noFill/>
          </a:ln>
        </p:spPr>
      </p:pic>
      <p:sp>
        <p:nvSpPr>
          <p:cNvPr id="244" name="Google Shape;244;p19"/>
          <p:cNvSpPr txBox="1"/>
          <p:nvPr/>
        </p:nvSpPr>
        <p:spPr>
          <a:xfrm>
            <a:off x="1214993" y="10372925"/>
            <a:ext cx="1707900" cy="461700"/>
          </a:xfrm>
          <a:prstGeom prst="rect">
            <a:avLst/>
          </a:prstGeom>
          <a:solidFill>
            <a:schemeClr val="lt1"/>
          </a:solid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pic>
        <p:nvPicPr>
          <p:cNvPr id="245" name="Google Shape;245;p19" title="aaif_memberbadge_silver.png"/>
          <p:cNvPicPr preferRelativeResize="0"/>
          <p:nvPr/>
        </p:nvPicPr>
        <p:blipFill>
          <a:blip r:embed="rId5">
            <a:alphaModFix/>
          </a:blip>
          <a:stretch>
            <a:fillRect/>
          </a:stretch>
        </p:blipFill>
        <p:spPr>
          <a:xfrm>
            <a:off x="11590125" y="6715825"/>
            <a:ext cx="1878323" cy="18783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4"/>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04</a:t>
            </a:r>
            <a:endParaRPr>
              <a:solidFill>
                <a:srgbClr val="3FAC92"/>
              </a:solidFill>
            </a:endParaRPr>
          </a:p>
        </p:txBody>
      </p:sp>
      <p:sp>
        <p:nvSpPr>
          <p:cNvPr id="287" name="Google Shape;287;p24"/>
          <p:cNvSpPr txBox="1"/>
          <p:nvPr/>
        </p:nvSpPr>
        <p:spPr>
          <a:xfrm>
            <a:off x="759425" y="1812200"/>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The model proposes. It never holds the key.</a:t>
            </a:r>
            <a:endParaRPr sz="4200"/>
          </a:p>
        </p:txBody>
      </p:sp>
      <p:sp>
        <p:nvSpPr>
          <p:cNvPr id="288" name="Google Shape;288;p24"/>
          <p:cNvSpPr txBox="1"/>
          <p:nvPr/>
        </p:nvSpPr>
        <p:spPr>
          <a:xfrm>
            <a:off x="1831926" y="835525"/>
            <a:ext cx="174672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SCOPED CREDENTIALS AND SURFACES</a:t>
            </a:r>
            <a:endParaRPr/>
          </a:p>
        </p:txBody>
      </p:sp>
      <p:sp>
        <p:nvSpPr>
          <p:cNvPr id="290" name="Google Shape;290;p24"/>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91" name="Google Shape;291;p24"/>
          <p:cNvSpPr txBox="1"/>
          <p:nvPr/>
        </p:nvSpPr>
        <p:spPr>
          <a:xfrm>
            <a:off x="1096200" y="3863958"/>
            <a:ext cx="81600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"The agent's blast radius is whatever its credential can reach and whatever its tools will write. Scope the credential to the one zone, hold it in the server process, and give the model one statement it is allowed to make. The policy checks that statement field for field; the credential is the backstop if the policy is wrong."</a:t>
            </a:r>
            <a:endParaRPr sz="3000" i="1" dirty="0">
              <a:solidFill>
                <a:srgbClr val="0A4D81"/>
              </a:solidFill>
              <a:latin typeface="Montserrat Medium"/>
              <a:ea typeface="Montserrat Medium"/>
              <a:cs typeface="Montserrat Medium"/>
              <a:sym typeface="Montserrat Medium"/>
            </a:endParaRPr>
          </a:p>
        </p:txBody>
      </p:sp>
      <p:sp>
        <p:nvSpPr>
          <p:cNvPr id="292" name="Google Shape;292;p24"/>
          <p:cNvSpPr/>
          <p:nvPr/>
        </p:nvSpPr>
        <p:spPr>
          <a:xfrm>
            <a:off x="848650" y="4186574"/>
            <a:ext cx="146400" cy="349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93" name="Google Shape;293;p24"/>
          <p:cNvPicPr preferRelativeResize="0"/>
          <p:nvPr/>
        </p:nvPicPr>
        <p:blipFill>
          <a:blip r:embed="rId3">
            <a:alphaModFix/>
          </a:blip>
          <a:stretch>
            <a:fillRect/>
          </a:stretch>
        </p:blipFill>
        <p:spPr>
          <a:xfrm>
            <a:off x="11168178" y="2583400"/>
            <a:ext cx="6934143" cy="743180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4"/>
          <p:cNvSpPr txBox="1"/>
          <p:nvPr/>
        </p:nvSpPr>
        <p:spPr>
          <a:xfrm>
            <a:off x="759424" y="835525"/>
            <a:ext cx="10725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3FAC92"/>
                </a:solidFill>
                <a:latin typeface="Montserrat"/>
                <a:ea typeface="Montserrat"/>
                <a:cs typeface="Montserrat"/>
                <a:sym typeface="Montserrat"/>
              </a:rPr>
              <a:t>05</a:t>
            </a:r>
            <a:endParaRPr>
              <a:solidFill>
                <a:srgbClr val="3FAC92"/>
              </a:solidFill>
            </a:endParaRPr>
          </a:p>
        </p:txBody>
      </p:sp>
      <p:sp>
        <p:nvSpPr>
          <p:cNvPr id="287" name="Google Shape;287;p24"/>
          <p:cNvSpPr txBox="1"/>
          <p:nvPr/>
        </p:nvSpPr>
        <p:spPr>
          <a:xfrm>
            <a:off x="759425" y="1812200"/>
            <a:ext cx="12714600" cy="646500"/>
          </a:xfrm>
          <a:prstGeom prst="rect">
            <a:avLst/>
          </a:prstGeom>
          <a:noFill/>
          <a:ln>
            <a:noFill/>
          </a:ln>
        </p:spPr>
        <p:txBody>
          <a:bodyPr spcFirstLastPara="1" wrap="square" lIns="0" tIns="0" rIns="0" bIns="0" anchor="t" anchorCtr="0">
            <a:spAutoFit/>
          </a:bodyPr>
          <a:lstStyle/>
          <a:p>
            <a:pPr marL="0" marR="0" lvl="0" indent="0" algn="l" rtl="0">
              <a:lnSpc>
                <a:spcPct val="108780"/>
              </a:lnSpc>
              <a:spcBef>
                <a:spcPts val="0"/>
              </a:spcBef>
              <a:spcAft>
                <a:spcPts val="0"/>
              </a:spcAft>
              <a:buNone/>
            </a:pPr>
            <a:r>
              <a:rPr lang="en-US" sz="4200">
                <a:solidFill>
                  <a:srgbClr val="0A4D81"/>
                </a:solidFill>
                <a:latin typeface="Montserrat Medium"/>
                <a:ea typeface="Montserrat Medium"/>
                <a:cs typeface="Montserrat Medium"/>
                <a:sym typeface="Montserrat Medium"/>
              </a:rPr>
              <a:t>Blocked is a report, not a retry.</a:t>
            </a:r>
            <a:endParaRPr sz="4200"/>
          </a:p>
        </p:txBody>
      </p:sp>
      <p:sp>
        <p:nvSpPr>
          <p:cNvPr id="288" name="Google Shape;288;p24"/>
          <p:cNvSpPr txBox="1"/>
          <p:nvPr/>
        </p:nvSpPr>
        <p:spPr>
          <a:xfrm>
            <a:off x="1831926" y="835525"/>
            <a:ext cx="17467200" cy="869700"/>
          </a:xfrm>
          <a:prstGeom prst="rect">
            <a:avLst/>
          </a:prstGeom>
          <a:noFill/>
          <a:ln>
            <a:noFill/>
          </a:ln>
        </p:spPr>
        <p:txBody>
          <a:bodyPr spcFirstLastPara="1" wrap="square" lIns="0" tIns="0" rIns="0" bIns="0" anchor="t" anchorCtr="0">
            <a:spAutoFit/>
          </a:bodyPr>
          <a:lstStyle/>
          <a:p>
            <a:pPr marL="0" marR="0" lvl="0" indent="0" algn="l" rtl="0">
              <a:lnSpc>
                <a:spcPct val="110814"/>
              </a:lnSpc>
              <a:spcBef>
                <a:spcPts val="0"/>
              </a:spcBef>
              <a:spcAft>
                <a:spcPts val="0"/>
              </a:spcAft>
              <a:buNone/>
            </a:pPr>
            <a:r>
              <a:rPr lang="en-US" sz="5650" b="1">
                <a:solidFill>
                  <a:srgbClr val="0A4D81"/>
                </a:solidFill>
                <a:latin typeface="Montserrat"/>
                <a:ea typeface="Montserrat"/>
                <a:cs typeface="Montserrat"/>
                <a:sym typeface="Montserrat"/>
              </a:rPr>
              <a:t>RECOVERY PATHS</a:t>
            </a:r>
            <a:endParaRPr/>
          </a:p>
        </p:txBody>
      </p:sp>
      <p:sp>
        <p:nvSpPr>
          <p:cNvPr id="290" name="Google Shape;290;p24"/>
          <p:cNvSpPr txBox="1"/>
          <p:nvPr/>
        </p:nvSpPr>
        <p:spPr>
          <a:xfrm>
            <a:off x="848643" y="10360275"/>
            <a:ext cx="1707900" cy="461700"/>
          </a:xfrm>
          <a:prstGeom prst="rect">
            <a:avLst/>
          </a:prstGeom>
          <a:noFill/>
          <a:ln w="19050" cap="flat" cmpd="sng">
            <a:solidFill>
              <a:schemeClr val="dk2"/>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10700"/>
              </a:lnSpc>
              <a:spcBef>
                <a:spcPts val="0"/>
              </a:spcBef>
              <a:spcAft>
                <a:spcPts val="0"/>
              </a:spcAft>
              <a:buNone/>
            </a:pPr>
            <a:r>
              <a:rPr lang="en-US" sz="1800" b="1">
                <a:solidFill>
                  <a:srgbClr val="0A4D81"/>
                </a:solidFill>
                <a:latin typeface="Montserrat"/>
                <a:ea typeface="Montserrat"/>
                <a:cs typeface="Montserrat"/>
                <a:sym typeface="Montserrat"/>
              </a:rPr>
              <a:t>STACKQL&gt;&gt;</a:t>
            </a:r>
            <a:endParaRPr sz="1800">
              <a:solidFill>
                <a:srgbClr val="0A4D81"/>
              </a:solidFill>
            </a:endParaRPr>
          </a:p>
        </p:txBody>
      </p:sp>
      <p:sp>
        <p:nvSpPr>
          <p:cNvPr id="291" name="Google Shape;291;p24"/>
          <p:cNvSpPr txBox="1"/>
          <p:nvPr/>
        </p:nvSpPr>
        <p:spPr>
          <a:xfrm>
            <a:off x="1096200" y="3863958"/>
            <a:ext cx="8160000" cy="12555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3000" i="1" dirty="0">
                <a:solidFill>
                  <a:srgbClr val="0A4D81"/>
                </a:solidFill>
                <a:latin typeface="Montserrat Medium"/>
                <a:ea typeface="Montserrat Medium"/>
                <a:cs typeface="Montserrat Medium"/>
                <a:sym typeface="Montserrat Medium"/>
              </a:rPr>
              <a:t>"A blocked write is the system working. The agent reports the exact statement and stops; it does not rephrase it and try again. Recovery is a human replaying that statement through the gate, or the declaration re-asserted. A failed write recovers the same way, because the assertion is idempotent."</a:t>
            </a:r>
            <a:endParaRPr sz="3000" i="1" dirty="0">
              <a:solidFill>
                <a:srgbClr val="0A4D81"/>
              </a:solidFill>
              <a:latin typeface="Montserrat Medium"/>
              <a:ea typeface="Montserrat Medium"/>
              <a:cs typeface="Montserrat Medium"/>
              <a:sym typeface="Montserrat Medium"/>
            </a:endParaRPr>
          </a:p>
        </p:txBody>
      </p:sp>
      <p:sp>
        <p:nvSpPr>
          <p:cNvPr id="292" name="Google Shape;292;p24"/>
          <p:cNvSpPr/>
          <p:nvPr/>
        </p:nvSpPr>
        <p:spPr>
          <a:xfrm>
            <a:off x="848650" y="4186574"/>
            <a:ext cx="146400" cy="3496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Calibri"/>
              <a:ea typeface="Calibri"/>
              <a:cs typeface="Calibri"/>
              <a:sym typeface="Calibri"/>
            </a:endParaRPr>
          </a:p>
        </p:txBody>
      </p:sp>
      <p:pic>
        <p:nvPicPr>
          <p:cNvPr id="293" name="Google Shape;293;p24"/>
          <p:cNvPicPr preferRelativeResize="0"/>
          <p:nvPr/>
        </p:nvPicPr>
        <p:blipFill>
          <a:blip r:embed="rId3">
            <a:alphaModFix/>
          </a:blip>
          <a:stretch>
            <a:fillRect/>
          </a:stretch>
        </p:blipFill>
        <p:spPr>
          <a:xfrm>
            <a:off x="10284509" y="2583400"/>
            <a:ext cx="8701480" cy="7431808"/>
          </a:xfrm>
          <a:prstGeom prst="rect">
            <a:avLst/>
          </a:prstGeom>
          <a:noFill/>
          <a:ln>
            <a:noFill/>
          </a:ln>
        </p:spPr>
      </p:pic>
    </p:spTree>
  </p:cSld>
  <p:clrMapOvr>
    <a:masterClrMapping/>
  </p:clrMapOvr>
</p:sld>
</file>

<file path=ppt/theme/theme1.xml><?xml version="1.0" encoding="utf-8"?>
<a:theme xmlns:a="http://schemas.openxmlformats.org/drawingml/2006/main" name="Theme Office">
  <a:themeElements>
    <a:clrScheme name="Standard">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1610</Words>
  <Application>Microsoft Office PowerPoint</Application>
  <PresentationFormat>Custom</PresentationFormat>
  <Paragraphs>247</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Calibri</vt:lpstr>
      <vt:lpstr>Arial</vt:lpstr>
      <vt:lpstr>Montserrat</vt:lpstr>
      <vt:lpstr>Montserrat Medium</vt:lpstr>
      <vt:lpstr>Theme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Jeffrey Aven</cp:lastModifiedBy>
  <cp:revision>4</cp:revision>
  <dcterms:modified xsi:type="dcterms:W3CDTF">2026-10-27T21:15:10Z</dcterms:modified>
</cp:coreProperties>
</file>